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9"/>
  </p:notesMasterIdLst>
  <p:handoutMasterIdLst>
    <p:handoutMasterId r:id="rId40"/>
  </p:handoutMasterIdLst>
  <p:sldIdLst>
    <p:sldId id="602" r:id="rId2"/>
    <p:sldId id="604" r:id="rId3"/>
    <p:sldId id="257" r:id="rId4"/>
    <p:sldId id="258" r:id="rId5"/>
    <p:sldId id="605" r:id="rId6"/>
    <p:sldId id="316" r:id="rId7"/>
    <p:sldId id="317" r:id="rId8"/>
    <p:sldId id="318" r:id="rId9"/>
    <p:sldId id="315" r:id="rId10"/>
    <p:sldId id="276" r:id="rId11"/>
    <p:sldId id="277" r:id="rId12"/>
    <p:sldId id="613" r:id="rId13"/>
    <p:sldId id="614" r:id="rId14"/>
    <p:sldId id="615" r:id="rId15"/>
    <p:sldId id="616" r:id="rId16"/>
    <p:sldId id="606" r:id="rId17"/>
    <p:sldId id="607" r:id="rId18"/>
    <p:sldId id="609" r:id="rId19"/>
    <p:sldId id="610" r:id="rId20"/>
    <p:sldId id="611" r:id="rId21"/>
    <p:sldId id="612" r:id="rId22"/>
    <p:sldId id="266" r:id="rId23"/>
    <p:sldId id="289" r:id="rId24"/>
    <p:sldId id="290" r:id="rId25"/>
    <p:sldId id="291" r:id="rId26"/>
    <p:sldId id="293" r:id="rId27"/>
    <p:sldId id="292" r:id="rId28"/>
    <p:sldId id="294" r:id="rId29"/>
    <p:sldId id="267" r:id="rId30"/>
    <p:sldId id="297" r:id="rId31"/>
    <p:sldId id="298" r:id="rId32"/>
    <p:sldId id="300" r:id="rId33"/>
    <p:sldId id="301" r:id="rId34"/>
    <p:sldId id="302" r:id="rId35"/>
    <p:sldId id="304" r:id="rId36"/>
    <p:sldId id="305" r:id="rId37"/>
    <p:sldId id="268" r:id="rId38"/>
  </p:sldIdLst>
  <p:sldSz cx="9144000" cy="6858000" type="screen4x3"/>
  <p:notesSz cx="6858000" cy="9144000"/>
  <p:defaultTextStyle>
    <a:defPPr>
      <a:defRPr lang="es-ES_tradnl"/>
    </a:defPPr>
    <a:lvl1pPr algn="l" rtl="0" eaLnBrk="0" fontAlgn="base" hangingPunct="0">
      <a:lnSpc>
        <a:spcPct val="90000"/>
      </a:lnSpc>
      <a:spcBef>
        <a:spcPts val="600"/>
      </a:spcBef>
      <a:spcAft>
        <a:spcPts val="600"/>
      </a:spcAft>
      <a:buFont typeface="Symbol" pitchFamily="18" charset="2"/>
      <a:defRPr b="1" kern="1200">
        <a:solidFill>
          <a:srgbClr val="66FFCC"/>
        </a:solidFill>
        <a:latin typeface="Times New Roman" pitchFamily="18" charset="0"/>
        <a:ea typeface="+mn-ea"/>
        <a:cs typeface="+mn-cs"/>
      </a:defRPr>
    </a:lvl1pPr>
    <a:lvl2pPr marL="457200" algn="l" rtl="0" eaLnBrk="0" fontAlgn="base" hangingPunct="0">
      <a:lnSpc>
        <a:spcPct val="90000"/>
      </a:lnSpc>
      <a:spcBef>
        <a:spcPts val="600"/>
      </a:spcBef>
      <a:spcAft>
        <a:spcPts val="600"/>
      </a:spcAft>
      <a:buFont typeface="Symbol" pitchFamily="18" charset="2"/>
      <a:defRPr b="1" kern="1200">
        <a:solidFill>
          <a:srgbClr val="66FFCC"/>
        </a:solidFill>
        <a:latin typeface="Times New Roman" pitchFamily="18" charset="0"/>
        <a:ea typeface="+mn-ea"/>
        <a:cs typeface="+mn-cs"/>
      </a:defRPr>
    </a:lvl2pPr>
    <a:lvl3pPr marL="914400" algn="l" rtl="0" eaLnBrk="0" fontAlgn="base" hangingPunct="0">
      <a:lnSpc>
        <a:spcPct val="90000"/>
      </a:lnSpc>
      <a:spcBef>
        <a:spcPts val="600"/>
      </a:spcBef>
      <a:spcAft>
        <a:spcPts val="600"/>
      </a:spcAft>
      <a:buFont typeface="Symbol" pitchFamily="18" charset="2"/>
      <a:defRPr b="1" kern="1200">
        <a:solidFill>
          <a:srgbClr val="66FFCC"/>
        </a:solidFill>
        <a:latin typeface="Times New Roman" pitchFamily="18" charset="0"/>
        <a:ea typeface="+mn-ea"/>
        <a:cs typeface="+mn-cs"/>
      </a:defRPr>
    </a:lvl3pPr>
    <a:lvl4pPr marL="1371600" algn="l" rtl="0" eaLnBrk="0" fontAlgn="base" hangingPunct="0">
      <a:lnSpc>
        <a:spcPct val="90000"/>
      </a:lnSpc>
      <a:spcBef>
        <a:spcPts val="600"/>
      </a:spcBef>
      <a:spcAft>
        <a:spcPts val="600"/>
      </a:spcAft>
      <a:buFont typeface="Symbol" pitchFamily="18" charset="2"/>
      <a:defRPr b="1" kern="1200">
        <a:solidFill>
          <a:srgbClr val="66FFCC"/>
        </a:solidFill>
        <a:latin typeface="Times New Roman" pitchFamily="18" charset="0"/>
        <a:ea typeface="+mn-ea"/>
        <a:cs typeface="+mn-cs"/>
      </a:defRPr>
    </a:lvl4pPr>
    <a:lvl5pPr marL="1828800" algn="l" rtl="0" eaLnBrk="0" fontAlgn="base" hangingPunct="0">
      <a:lnSpc>
        <a:spcPct val="90000"/>
      </a:lnSpc>
      <a:spcBef>
        <a:spcPts val="600"/>
      </a:spcBef>
      <a:spcAft>
        <a:spcPts val="600"/>
      </a:spcAft>
      <a:buFont typeface="Symbol" pitchFamily="18" charset="2"/>
      <a:defRPr b="1" kern="1200">
        <a:solidFill>
          <a:srgbClr val="66FFCC"/>
        </a:solidFill>
        <a:latin typeface="Times New Roman" pitchFamily="18" charset="0"/>
        <a:ea typeface="+mn-ea"/>
        <a:cs typeface="+mn-cs"/>
      </a:defRPr>
    </a:lvl5pPr>
    <a:lvl6pPr marL="2286000" algn="l" defTabSz="914400" rtl="0" eaLnBrk="1" latinLnBrk="0" hangingPunct="1">
      <a:defRPr b="1" kern="1200">
        <a:solidFill>
          <a:srgbClr val="66FFCC"/>
        </a:solidFill>
        <a:latin typeface="Times New Roman" pitchFamily="18" charset="0"/>
        <a:ea typeface="+mn-ea"/>
        <a:cs typeface="+mn-cs"/>
      </a:defRPr>
    </a:lvl6pPr>
    <a:lvl7pPr marL="2743200" algn="l" defTabSz="914400" rtl="0" eaLnBrk="1" latinLnBrk="0" hangingPunct="1">
      <a:defRPr b="1" kern="1200">
        <a:solidFill>
          <a:srgbClr val="66FFCC"/>
        </a:solidFill>
        <a:latin typeface="Times New Roman" pitchFamily="18" charset="0"/>
        <a:ea typeface="+mn-ea"/>
        <a:cs typeface="+mn-cs"/>
      </a:defRPr>
    </a:lvl7pPr>
    <a:lvl8pPr marL="3200400" algn="l" defTabSz="914400" rtl="0" eaLnBrk="1" latinLnBrk="0" hangingPunct="1">
      <a:defRPr b="1" kern="1200">
        <a:solidFill>
          <a:srgbClr val="66FFCC"/>
        </a:solidFill>
        <a:latin typeface="Times New Roman" pitchFamily="18" charset="0"/>
        <a:ea typeface="+mn-ea"/>
        <a:cs typeface="+mn-cs"/>
      </a:defRPr>
    </a:lvl8pPr>
    <a:lvl9pPr marL="3657600" algn="l" defTabSz="914400" rtl="0" eaLnBrk="1" latinLnBrk="0" hangingPunct="1">
      <a:defRPr b="1" kern="1200">
        <a:solidFill>
          <a:srgbClr val="66FFCC"/>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FF99"/>
    <a:srgbClr val="FFCCC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799" autoAdjust="0"/>
    <p:restoredTop sz="70505" autoAdjust="0"/>
  </p:normalViewPr>
  <p:slideViewPr>
    <p:cSldViewPr snapToGrid="0" snapToObjects="1">
      <p:cViewPr varScale="1">
        <p:scale>
          <a:sx n="59" d="100"/>
          <a:sy n="59" d="100"/>
        </p:scale>
        <p:origin x="1843" y="62"/>
      </p:cViewPr>
      <p:guideLst>
        <p:guide orient="horz" pos="2160"/>
        <p:guide pos="2880"/>
      </p:guideLst>
    </p:cSldViewPr>
  </p:slideViewPr>
  <p:notesTextViewPr>
    <p:cViewPr>
      <p:scale>
        <a:sx n="100" d="100"/>
        <a:sy n="100" d="100"/>
      </p:scale>
      <p:origin x="0" y="0"/>
    </p:cViewPr>
  </p:notesTextViewPr>
  <p:notesViewPr>
    <p:cSldViewPr snapToGrid="0" snapToObjects="1">
      <p:cViewPr varScale="1">
        <p:scale>
          <a:sx n="63" d="100"/>
          <a:sy n="63" d="100"/>
        </p:scale>
        <p:origin x="4742" y="7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5B44F42A-4D01-2C99-C9C0-EE69142A7A9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20FE4482-5E60-0B66-7011-6A888F56EA3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A00AC19-E5AE-4A5B-BBBC-8430F1E5609C}" type="datetimeFigureOut">
              <a:rPr lang="es-ES" smtClean="0"/>
              <a:t>04/03/2026</a:t>
            </a:fld>
            <a:endParaRPr lang="es-ES"/>
          </a:p>
        </p:txBody>
      </p:sp>
      <p:sp>
        <p:nvSpPr>
          <p:cNvPr id="4" name="Marcador de pie de página 3">
            <a:extLst>
              <a:ext uri="{FF2B5EF4-FFF2-40B4-BE49-F238E27FC236}">
                <a16:creationId xmlns:a16="http://schemas.microsoft.com/office/drawing/2014/main" id="{CA0CB047-F5DE-99AD-07CB-E4FCA584768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4EB633BB-B96D-0825-70D8-7A7577AD0E8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FF5BDE6-B312-457C-A374-3E5F2CA012F6}" type="slidenum">
              <a:rPr lang="es-ES" smtClean="0"/>
              <a:t>‹Nº›</a:t>
            </a:fld>
            <a:endParaRPr lang="es-ES"/>
          </a:p>
        </p:txBody>
      </p:sp>
    </p:spTree>
    <p:extLst>
      <p:ext uri="{BB962C8B-B14F-4D97-AF65-F5344CB8AC3E}">
        <p14:creationId xmlns:p14="http://schemas.microsoft.com/office/powerpoint/2010/main" val="12655963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CAE453-3789-43A1-BE4F-A04F084E2DE9}" type="datetimeFigureOut">
              <a:rPr lang="es-ES" smtClean="0"/>
              <a:t>04/03/2026</a:t>
            </a:fld>
            <a:endParaRPr lang="es-ES"/>
          </a:p>
        </p:txBody>
      </p:sp>
      <p:sp>
        <p:nvSpPr>
          <p:cNvPr id="4" name="Marcador de imagen d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C9EB4C-06C7-441F-9B0A-620A2ACB834C}" type="slidenum">
              <a:rPr lang="es-ES" smtClean="0"/>
              <a:t>‹Nº›</a:t>
            </a:fld>
            <a:endParaRPr lang="es-ES"/>
          </a:p>
        </p:txBody>
      </p:sp>
    </p:spTree>
    <p:extLst>
      <p:ext uri="{BB962C8B-B14F-4D97-AF65-F5344CB8AC3E}">
        <p14:creationId xmlns:p14="http://schemas.microsoft.com/office/powerpoint/2010/main" val="3137563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19C9EB4C-06C7-441F-9B0A-620A2ACB834C}" type="slidenum">
              <a:rPr lang="es-ES" smtClean="0"/>
              <a:t>1</a:t>
            </a:fld>
            <a:endParaRPr lang="es-ES"/>
          </a:p>
        </p:txBody>
      </p:sp>
    </p:spTree>
    <p:extLst>
      <p:ext uri="{BB962C8B-B14F-4D97-AF65-F5344CB8AC3E}">
        <p14:creationId xmlns:p14="http://schemas.microsoft.com/office/powerpoint/2010/main" val="13426242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GB" dirty="0" err="1"/>
              <a:t>Pasamos</a:t>
            </a:r>
            <a:r>
              <a:rPr lang="en-GB" dirty="0"/>
              <a:t> de redes </a:t>
            </a:r>
            <a:r>
              <a:rPr lang="en-GB" dirty="0" err="1"/>
              <a:t>neuronales</a:t>
            </a:r>
            <a:r>
              <a:rPr lang="en-GB" dirty="0"/>
              <a:t> </a:t>
            </a:r>
            <a:r>
              <a:rPr lang="en-GB" dirty="0" err="1"/>
              <a:t>estáticas</a:t>
            </a:r>
            <a:r>
              <a:rPr lang="en-GB" dirty="0"/>
              <a:t> sin </a:t>
            </a:r>
            <a:r>
              <a:rPr lang="en-GB" dirty="0" err="1"/>
              <a:t>noción</a:t>
            </a:r>
            <a:r>
              <a:rPr lang="en-GB" dirty="0"/>
              <a:t> de </a:t>
            </a:r>
            <a:r>
              <a:rPr lang="en-GB" dirty="0" err="1"/>
              <a:t>secuencia</a:t>
            </a:r>
            <a:r>
              <a:rPr lang="en-GB" dirty="0"/>
              <a:t> o </a:t>
            </a:r>
            <a:r>
              <a:rPr lang="en-GB" dirty="0" err="1"/>
              <a:t>tiempo</a:t>
            </a:r>
            <a:r>
              <a:rPr lang="en-GB" dirty="0"/>
              <a:t> a redes </a:t>
            </a:r>
            <a:r>
              <a:rPr lang="en-GB" dirty="0" err="1"/>
              <a:t>neuronales</a:t>
            </a:r>
            <a:r>
              <a:rPr lang="en-GB" dirty="0"/>
              <a:t> </a:t>
            </a:r>
            <a:r>
              <a:rPr lang="en-GB" dirty="0" err="1"/>
              <a:t>dinámicas</a:t>
            </a:r>
            <a:endParaRPr lang="es-ES" dirty="0"/>
          </a:p>
        </p:txBody>
      </p:sp>
      <p:sp>
        <p:nvSpPr>
          <p:cNvPr id="4" name="Marcador de número de diapositiva 3"/>
          <p:cNvSpPr>
            <a:spLocks noGrp="1"/>
          </p:cNvSpPr>
          <p:nvPr>
            <p:ph type="sldNum" sz="quarter" idx="5"/>
          </p:nvPr>
        </p:nvSpPr>
        <p:spPr/>
        <p:txBody>
          <a:bodyPr/>
          <a:lstStyle/>
          <a:p>
            <a:fld id="{19C9EB4C-06C7-441F-9B0A-620A2ACB834C}" type="slidenum">
              <a:rPr lang="es-ES" smtClean="0"/>
              <a:t>2</a:t>
            </a:fld>
            <a:endParaRPr lang="es-ES"/>
          </a:p>
        </p:txBody>
      </p:sp>
    </p:spTree>
    <p:extLst>
      <p:ext uri="{BB962C8B-B14F-4D97-AF65-F5344CB8AC3E}">
        <p14:creationId xmlns:p14="http://schemas.microsoft.com/office/powerpoint/2010/main" val="38013760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dirty="0"/>
              <a:t>This block has a strong theoretical foundation.</a:t>
            </a:r>
            <a:br>
              <a:rPr lang="en-US" dirty="0"/>
            </a:br>
            <a:r>
              <a:rPr lang="en-US" dirty="0"/>
              <a:t>We will not just see an architecture but understand why RNNs naturally arise from probabilistic sequence modeling.</a:t>
            </a:r>
          </a:p>
          <a:p>
            <a:endParaRPr lang="en-US" dirty="0"/>
          </a:p>
          <a:p>
            <a:r>
              <a:rPr lang="es-ES" dirty="0"/>
              <a:t>Este bloque tiene una sólida base teórica.</a:t>
            </a:r>
          </a:p>
          <a:p>
            <a:r>
              <a:rPr lang="es-ES" dirty="0"/>
              <a:t>No solo veremos una arquitectura, sino que comprenderemos por qué las RNN surgen de forma natural del modelado de secuencias probabilísticas</a:t>
            </a:r>
          </a:p>
          <a:p>
            <a:endParaRPr lang="es-ES" dirty="0"/>
          </a:p>
          <a:p>
            <a:r>
              <a:rPr lang="es-ES" b="1" dirty="0"/>
              <a:t>Enfatizamos</a:t>
            </a:r>
          </a:p>
          <a:p>
            <a:r>
              <a:rPr lang="es-ES" dirty="0"/>
              <a:t>Base probabilística.</a:t>
            </a:r>
          </a:p>
          <a:p>
            <a:r>
              <a:rPr lang="es-ES" dirty="0"/>
              <a:t>BPTT como extensión natural del </a:t>
            </a:r>
            <a:r>
              <a:rPr lang="es-ES" dirty="0" err="1"/>
              <a:t>backprop</a:t>
            </a:r>
            <a:r>
              <a:rPr lang="es-ES" dirty="0"/>
              <a:t>.</a:t>
            </a:r>
          </a:p>
          <a:p>
            <a:r>
              <a:rPr lang="es-ES" dirty="0"/>
              <a:t>LSTM como solución estructural, no como truco práctico.</a:t>
            </a:r>
          </a:p>
          <a:p>
            <a:endParaRPr lang="es-ES" dirty="0"/>
          </a:p>
        </p:txBody>
      </p:sp>
      <p:sp>
        <p:nvSpPr>
          <p:cNvPr id="4" name="Marcador de número de diapositiva 3"/>
          <p:cNvSpPr>
            <a:spLocks noGrp="1"/>
          </p:cNvSpPr>
          <p:nvPr>
            <p:ph type="sldNum" sz="quarter" idx="5"/>
          </p:nvPr>
        </p:nvSpPr>
        <p:spPr/>
        <p:txBody>
          <a:bodyPr/>
          <a:lstStyle/>
          <a:p>
            <a:fld id="{19C9EB4C-06C7-441F-9B0A-620A2ACB834C}" type="slidenum">
              <a:rPr lang="es-ES" smtClean="0"/>
              <a:t>3</a:t>
            </a:fld>
            <a:endParaRPr lang="es-ES"/>
          </a:p>
        </p:txBody>
      </p:sp>
    </p:spTree>
    <p:extLst>
      <p:ext uri="{BB962C8B-B14F-4D97-AF65-F5344CB8AC3E}">
        <p14:creationId xmlns:p14="http://schemas.microsoft.com/office/powerpoint/2010/main" val="7737578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19C9EB4C-06C7-441F-9B0A-620A2ACB834C}" type="slidenum">
              <a:rPr lang="es-ES" smtClean="0"/>
              <a:t>4</a:t>
            </a:fld>
            <a:endParaRPr lang="es-ES"/>
          </a:p>
        </p:txBody>
      </p:sp>
    </p:spTree>
    <p:extLst>
      <p:ext uri="{BB962C8B-B14F-4D97-AF65-F5344CB8AC3E}">
        <p14:creationId xmlns:p14="http://schemas.microsoft.com/office/powerpoint/2010/main" val="6624946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8DBAC-0BDD-76D3-0BF8-090C04756B2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0598B48-E5E6-4A07-9E1F-31B3FDA8AF0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CE8256-1E25-6AD5-B80B-989853ACDB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280EA73D-316A-627C-8451-3E51BA7AEDF1}"/>
              </a:ext>
            </a:extLst>
          </p:cNvPr>
          <p:cNvSpPr>
            <a:spLocks noGrp="1"/>
          </p:cNvSpPr>
          <p:nvPr>
            <p:ph type="sldNum" sz="quarter" idx="5"/>
          </p:nvPr>
        </p:nvSpPr>
        <p:spPr/>
        <p:txBody>
          <a:bodyPr/>
          <a:lstStyle/>
          <a:p>
            <a:fld id="{19C9EB4C-06C7-441F-9B0A-620A2ACB834C}" type="slidenum">
              <a:rPr lang="es-ES" smtClean="0"/>
              <a:t>5</a:t>
            </a:fld>
            <a:endParaRPr lang="es-ES"/>
          </a:p>
        </p:txBody>
      </p:sp>
    </p:spTree>
    <p:extLst>
      <p:ext uri="{BB962C8B-B14F-4D97-AF65-F5344CB8AC3E}">
        <p14:creationId xmlns:p14="http://schemas.microsoft.com/office/powerpoint/2010/main" val="8807832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Las RNN son las mas adecuadas para tratar con secuencias, tendremos unos numeritos o unos estados…</a:t>
            </a:r>
          </a:p>
          <a:p>
            <a:endParaRPr lang="es-ES" dirty="0"/>
          </a:p>
          <a:p>
            <a:r>
              <a:rPr lang="es-ES" sz="1200" b="0" i="0" kern="1200" dirty="0">
                <a:solidFill>
                  <a:schemeClr val="tx1"/>
                </a:solidFill>
                <a:effectLst/>
                <a:latin typeface="+mn-lt"/>
                <a:ea typeface="+mn-ea"/>
                <a:cs typeface="+mn-cs"/>
              </a:rPr>
              <a:t>Es decir, que vamos a tener una serie de numeritos, un numerito, otro numerito, otro numerito, y vamos a calcular el siguiente a partir de estos tres.</a:t>
            </a:r>
          </a:p>
          <a:p>
            <a:r>
              <a:rPr lang="es-ES" sz="1200" b="0" i="0" kern="1200" dirty="0">
                <a:solidFill>
                  <a:schemeClr val="tx1"/>
                </a:solidFill>
                <a:effectLst/>
                <a:latin typeface="+mn-lt"/>
                <a:ea typeface="+mn-ea"/>
                <a:cs typeface="+mn-cs"/>
              </a:rPr>
              <a:t>Cómo las secuencias no tienen siempre la misma dimensión, el mismo tamaño. Por ejemplo, una frase puede tener siete palabras y otra frase puede tener trece. Pues ese tipo de redes neuronales, las redes recurrentes, son independientes del tamaño de la secuencia y su único objetivo, es calcular el siguiente punto de la secuencia.</a:t>
            </a:r>
          </a:p>
          <a:p>
            <a:endParaRPr lang="es-ES" sz="1200" b="0" i="0" kern="1200" dirty="0">
              <a:solidFill>
                <a:schemeClr val="tx1"/>
              </a:solidFill>
              <a:effectLst/>
              <a:latin typeface="+mn-lt"/>
              <a:ea typeface="+mn-ea"/>
              <a:cs typeface="+mn-cs"/>
            </a:endParaRPr>
          </a:p>
          <a:p>
            <a:r>
              <a:rPr lang="es-ES" sz="1200" b="0" i="0" kern="1200" dirty="0">
                <a:solidFill>
                  <a:schemeClr val="tx1"/>
                </a:solidFill>
                <a:effectLst/>
                <a:latin typeface="+mn-lt"/>
                <a:ea typeface="+mn-ea"/>
                <a:cs typeface="+mn-cs"/>
              </a:rPr>
              <a:t>Son muy buenas para texto, son las precursoras de los modelos de procesamiento del lenguaje actuales, como </a:t>
            </a:r>
            <a:r>
              <a:rPr lang="es-ES" sz="1200" b="0" i="0" kern="1200" dirty="0" err="1">
                <a:solidFill>
                  <a:schemeClr val="tx1"/>
                </a:solidFill>
                <a:effectLst/>
                <a:latin typeface="+mn-lt"/>
                <a:ea typeface="+mn-ea"/>
                <a:cs typeface="+mn-cs"/>
              </a:rPr>
              <a:t>chatGPT</a:t>
            </a:r>
            <a:r>
              <a:rPr lang="es-ES" sz="1200" b="0" i="0" kern="1200" dirty="0">
                <a:solidFill>
                  <a:schemeClr val="tx1"/>
                </a:solidFill>
                <a:effectLst/>
                <a:latin typeface="+mn-lt"/>
                <a:ea typeface="+mn-ea"/>
                <a:cs typeface="+mn-cs"/>
              </a:rPr>
              <a:t>, etc. No son exactamente redes recurrentes, pero son muy parecidas, son los </a:t>
            </a:r>
            <a:r>
              <a:rPr lang="es-ES" sz="1200" b="1" i="0" kern="1200" dirty="0" err="1">
                <a:solidFill>
                  <a:schemeClr val="tx1"/>
                </a:solidFill>
                <a:effectLst/>
                <a:latin typeface="+mn-lt"/>
                <a:ea typeface="+mn-ea"/>
                <a:cs typeface="+mn-cs"/>
              </a:rPr>
              <a:t>transformers</a:t>
            </a:r>
            <a:r>
              <a:rPr lang="es-ES" sz="1200" b="0" i="0" kern="1200" dirty="0">
                <a:solidFill>
                  <a:schemeClr val="tx1"/>
                </a:solidFill>
                <a:effectLst/>
                <a:latin typeface="+mn-lt"/>
                <a:ea typeface="+mn-ea"/>
                <a:cs typeface="+mn-cs"/>
              </a:rPr>
              <a:t>.</a:t>
            </a:r>
          </a:p>
          <a:p>
            <a:endParaRPr lang="es-ES" sz="1200" b="0" i="0" kern="1200" dirty="0">
              <a:solidFill>
                <a:schemeClr val="tx1"/>
              </a:solidFill>
              <a:effectLst/>
              <a:latin typeface="+mn-lt"/>
              <a:ea typeface="+mn-ea"/>
              <a:cs typeface="+mn-cs"/>
            </a:endParaRPr>
          </a:p>
          <a:p>
            <a:r>
              <a:rPr lang="es-ES" sz="1200" b="0" i="0" kern="1200" dirty="0">
                <a:solidFill>
                  <a:schemeClr val="tx1"/>
                </a:solidFill>
                <a:effectLst/>
                <a:latin typeface="+mn-lt"/>
                <a:ea typeface="+mn-ea"/>
                <a:cs typeface="+mn-cs"/>
              </a:rPr>
              <a:t>En las redes recurrentes a partir de una secuencia de números, por ejemplo x1, x2 y x3, calcularíamos el siguiente elemento de la secuencia, en este caso x4.</a:t>
            </a:r>
            <a:endParaRPr lang="es-ES" dirty="0"/>
          </a:p>
          <a:p>
            <a:endParaRPr lang="es-ES" dirty="0"/>
          </a:p>
          <a:p>
            <a:r>
              <a:rPr lang="es-ES" dirty="0"/>
              <a:t>T</a:t>
            </a:r>
            <a:r>
              <a:rPr lang="en-US" dirty="0"/>
              <a:t>he classical dynamical system described by equation, illustrated as an unfolded computational graph. Each node represents the state at some time t, and the function f maps the state at t to the state at t+ 1. The same parameters (the same value of θ used to parametrize f) are used for all time steps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El sistema dinámico clásico descrito por la ecuación, ilustrado como un gráfico computacional desplegado. Cada nodo representa el estado en un momento t, y la función f mapea el estado en t al estado en t+ 1. Se utilizan los mismos parámetros (el mismo valor de θ utilizado para parametrizar f) para todos los intervalos de tiempo.</a:t>
            </a:r>
          </a:p>
          <a:p>
            <a:endParaRPr lang="en-US" dirty="0"/>
          </a:p>
          <a:p>
            <a:endParaRPr lang="en-US" dirty="0"/>
          </a:p>
          <a:p>
            <a:endParaRPr lang="es-ES" dirty="0"/>
          </a:p>
        </p:txBody>
      </p:sp>
      <p:sp>
        <p:nvSpPr>
          <p:cNvPr id="4" name="Marcador de número de diapositiva 3"/>
          <p:cNvSpPr>
            <a:spLocks noGrp="1"/>
          </p:cNvSpPr>
          <p:nvPr>
            <p:ph type="sldNum" sz="quarter" idx="5"/>
          </p:nvPr>
        </p:nvSpPr>
        <p:spPr/>
        <p:txBody>
          <a:bodyPr/>
          <a:lstStyle/>
          <a:p>
            <a:fld id="{19C9EB4C-06C7-441F-9B0A-620A2ACB834C}" type="slidenum">
              <a:rPr lang="es-ES" smtClean="0"/>
              <a:t>6</a:t>
            </a:fld>
            <a:endParaRPr lang="es-ES"/>
          </a:p>
        </p:txBody>
      </p:sp>
    </p:spTree>
    <p:extLst>
      <p:ext uri="{BB962C8B-B14F-4D97-AF65-F5344CB8AC3E}">
        <p14:creationId xmlns:p14="http://schemas.microsoft.com/office/powerpoint/2010/main" val="24321134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9D0AE-E3B6-8B8F-9FD9-D3AFF0307AB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ABCFF41-B1A5-CC17-B92F-7FAC920CBDE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45889A3-4CE9-91B1-0F11-58026ED089B3}"/>
              </a:ext>
            </a:extLst>
          </p:cNvPr>
          <p:cNvSpPr>
            <a:spLocks noGrp="1"/>
          </p:cNvSpPr>
          <p:nvPr>
            <p:ph type="body" idx="1"/>
          </p:nvPr>
        </p:nvSpPr>
        <p:spPr/>
        <p:txBody>
          <a:bodyPr/>
          <a:lstStyle/>
          <a:p>
            <a:endParaRPr lang="en-US" dirty="0"/>
          </a:p>
          <a:p>
            <a:r>
              <a:rPr lang="es-ES" dirty="0"/>
              <a:t>La ecuación es recurrente porque la definición de s en el momento t remite a la misma definición en el momento t − 1.</a:t>
            </a:r>
          </a:p>
          <a:p>
            <a:endParaRPr lang="es-ES" dirty="0"/>
          </a:p>
          <a:p>
            <a:r>
              <a:rPr lang="es-ES" dirty="0"/>
              <a:t>Y esto es muy importante porque enlaza los sistemas dinámicos con las redes neuronales </a:t>
            </a:r>
            <a:r>
              <a:rPr lang="es-ES" b="1" dirty="0"/>
              <a:t>recurrentes</a:t>
            </a:r>
          </a:p>
        </p:txBody>
      </p:sp>
      <p:sp>
        <p:nvSpPr>
          <p:cNvPr id="4" name="Marcador de número de diapositiva 3">
            <a:extLst>
              <a:ext uri="{FF2B5EF4-FFF2-40B4-BE49-F238E27FC236}">
                <a16:creationId xmlns:a16="http://schemas.microsoft.com/office/drawing/2014/main" id="{B6D8912B-37C4-5FF7-5F3F-D60AA1F2C4C6}"/>
              </a:ext>
            </a:extLst>
          </p:cNvPr>
          <p:cNvSpPr>
            <a:spLocks noGrp="1"/>
          </p:cNvSpPr>
          <p:nvPr>
            <p:ph type="sldNum" sz="quarter" idx="5"/>
          </p:nvPr>
        </p:nvSpPr>
        <p:spPr/>
        <p:txBody>
          <a:bodyPr/>
          <a:lstStyle/>
          <a:p>
            <a:fld id="{19C9EB4C-06C7-441F-9B0A-620A2ACB834C}" type="slidenum">
              <a:rPr lang="es-ES" smtClean="0"/>
              <a:t>7</a:t>
            </a:fld>
            <a:endParaRPr lang="es-ES"/>
          </a:p>
        </p:txBody>
      </p:sp>
    </p:spTree>
    <p:extLst>
      <p:ext uri="{BB962C8B-B14F-4D97-AF65-F5344CB8AC3E}">
        <p14:creationId xmlns:p14="http://schemas.microsoft.com/office/powerpoint/2010/main" val="39776674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9A004-4A07-FE4B-0923-22FB71F6F14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F535585-ECF1-9ADA-CAD8-2594FB3CD7E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704150B-CCAF-826F-52A9-3A9890FA0F81}"/>
              </a:ext>
            </a:extLst>
          </p:cNvPr>
          <p:cNvSpPr>
            <a:spLocks noGrp="1"/>
          </p:cNvSpPr>
          <p:nvPr>
            <p:ph type="body" idx="1"/>
          </p:nvPr>
        </p:nvSpPr>
        <p:spPr/>
        <p:txBody>
          <a:bodyPr/>
          <a:lstStyle/>
          <a:p>
            <a:endParaRPr lang="en-US" dirty="0"/>
          </a:p>
          <a:p>
            <a:r>
              <a:rPr lang="es-ES" dirty="0"/>
              <a:t>El grafo computacional es una forma de formalizar la estructura de un conjunto de cálculos, como los que intervienen en la asignación de entradas y parámetros a salidas y pérdidas.</a:t>
            </a:r>
          </a:p>
          <a:p>
            <a:endParaRPr lang="es-ES" dirty="0"/>
          </a:p>
          <a:p>
            <a:r>
              <a:rPr lang="es-ES" dirty="0"/>
              <a:t>La figura representa una red recurrente sin salidas. Esta red recurrente solo procesa la información de la entrada x incorporándola al estado h que se transmite hacia adelante en el tiempo</a:t>
            </a:r>
            <a:r>
              <a:rPr lang="es-ES"/>
              <a:t>. </a:t>
            </a:r>
          </a:p>
          <a:p>
            <a:endParaRPr lang="es-ES"/>
          </a:p>
          <a:p>
            <a:r>
              <a:rPr lang="es-ES"/>
              <a:t>(</a:t>
            </a:r>
            <a:r>
              <a:rPr lang="es-ES" dirty="0"/>
              <a:t>Izquierda) Diagrama del circuito. El cuadrado negro indica un retraso de un solo paso temporal</a:t>
            </a:r>
            <a:r>
              <a:rPr lang="es-ES"/>
              <a:t>. </a:t>
            </a:r>
          </a:p>
          <a:p>
            <a:r>
              <a:rPr lang="es-ES"/>
              <a:t>(</a:t>
            </a:r>
            <a:r>
              <a:rPr lang="es-ES" dirty="0"/>
              <a:t>Derecha) La misma red vista como un gráfico computacional desplegado, en el que cada nodo está ahora asociado a un momento temporal concreto.</a:t>
            </a:r>
            <a:endParaRPr lang="en-US" dirty="0"/>
          </a:p>
          <a:p>
            <a:endParaRPr lang="es-ES" dirty="0"/>
          </a:p>
        </p:txBody>
      </p:sp>
      <p:sp>
        <p:nvSpPr>
          <p:cNvPr id="4" name="Marcador de número de diapositiva 3">
            <a:extLst>
              <a:ext uri="{FF2B5EF4-FFF2-40B4-BE49-F238E27FC236}">
                <a16:creationId xmlns:a16="http://schemas.microsoft.com/office/drawing/2014/main" id="{E0833EDE-5C66-BC48-336B-E02472786C34}"/>
              </a:ext>
            </a:extLst>
          </p:cNvPr>
          <p:cNvSpPr>
            <a:spLocks noGrp="1"/>
          </p:cNvSpPr>
          <p:nvPr>
            <p:ph type="sldNum" sz="quarter" idx="5"/>
          </p:nvPr>
        </p:nvSpPr>
        <p:spPr/>
        <p:txBody>
          <a:bodyPr/>
          <a:lstStyle/>
          <a:p>
            <a:fld id="{19C9EB4C-06C7-441F-9B0A-620A2ACB834C}" type="slidenum">
              <a:rPr lang="es-ES" smtClean="0"/>
              <a:t>8</a:t>
            </a:fld>
            <a:endParaRPr lang="es-ES"/>
          </a:p>
        </p:txBody>
      </p:sp>
    </p:spTree>
    <p:extLst>
      <p:ext uri="{BB962C8B-B14F-4D97-AF65-F5344CB8AC3E}">
        <p14:creationId xmlns:p14="http://schemas.microsoft.com/office/powerpoint/2010/main" val="21558441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F7FF5-B4DF-60D5-EF64-83B48EE6DFD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728ED7B-582C-BEE5-7ED4-11F0B268075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2C65FA6-0B41-949E-55DF-F596B27AE7BC}"/>
              </a:ext>
            </a:extLst>
          </p:cNvPr>
          <p:cNvSpPr>
            <a:spLocks noGrp="1"/>
          </p:cNvSpPr>
          <p:nvPr>
            <p:ph type="body" idx="1"/>
          </p:nvPr>
        </p:nvSpPr>
        <p:spPr/>
        <p:txBody>
          <a:bodyPr/>
          <a:lstStyle/>
          <a:p>
            <a:r>
              <a:rPr lang="en-US" dirty="0"/>
              <a:t>“Sequence modeling is fundamentally about learning conditional distributions.</a:t>
            </a:r>
            <a:br>
              <a:rPr lang="en-US" dirty="0"/>
            </a:br>
            <a:r>
              <a:rPr lang="en-US"/>
              <a:t>If we can model how the next element depends on the past, we can model the whole sequence.” </a:t>
            </a:r>
          </a:p>
          <a:p>
            <a:endParaRPr lang="es-ES"/>
          </a:p>
          <a:p>
            <a:r>
              <a:rPr lang="es-ES" dirty="0" err="1"/>
              <a:t>Given</a:t>
            </a:r>
            <a:r>
              <a:rPr lang="es-ES" dirty="0"/>
              <a:t> a </a:t>
            </a:r>
            <a:r>
              <a:rPr lang="es-ES" dirty="0" err="1"/>
              <a:t>sequence</a:t>
            </a:r>
            <a:r>
              <a:rPr lang="es-ES" dirty="0"/>
              <a:t>, </a:t>
            </a:r>
            <a:r>
              <a:rPr lang="es-ES" dirty="0" err="1"/>
              <a:t>our</a:t>
            </a:r>
            <a:r>
              <a:rPr lang="es-ES" dirty="0"/>
              <a:t> </a:t>
            </a:r>
            <a:r>
              <a:rPr lang="es-ES" dirty="0" err="1"/>
              <a:t>goal</a:t>
            </a:r>
            <a:r>
              <a:rPr lang="es-ES" dirty="0"/>
              <a:t> </a:t>
            </a:r>
            <a:r>
              <a:rPr lang="es-ES" dirty="0" err="1"/>
              <a:t>is</a:t>
            </a:r>
            <a:r>
              <a:rPr lang="es-ES" dirty="0"/>
              <a:t> </a:t>
            </a:r>
            <a:r>
              <a:rPr lang="es-ES" dirty="0" err="1"/>
              <a:t>to</a:t>
            </a:r>
            <a:r>
              <a:rPr lang="es-ES" dirty="0"/>
              <a:t> </a:t>
            </a:r>
            <a:r>
              <a:rPr lang="es-ES" dirty="0" err="1"/>
              <a:t>model</a:t>
            </a:r>
            <a:r>
              <a:rPr lang="es-ES" dirty="0"/>
              <a:t> </a:t>
            </a:r>
            <a:r>
              <a:rPr lang="es-ES" dirty="0" err="1"/>
              <a:t>its</a:t>
            </a:r>
            <a:r>
              <a:rPr lang="es-ES" dirty="0"/>
              <a:t> </a:t>
            </a:r>
            <a:r>
              <a:rPr lang="es-ES" dirty="0" err="1"/>
              <a:t>joint</a:t>
            </a:r>
            <a:r>
              <a:rPr lang="es-ES" dirty="0"/>
              <a:t> </a:t>
            </a:r>
            <a:r>
              <a:rPr lang="es-ES" dirty="0" err="1"/>
              <a:t>probability</a:t>
            </a:r>
            <a:r>
              <a:rPr lang="es-ES" dirty="0"/>
              <a:t>.</a:t>
            </a:r>
            <a:br>
              <a:rPr lang="es-ES" dirty="0"/>
            </a:br>
            <a:r>
              <a:rPr lang="es-ES" dirty="0" err="1"/>
              <a:t>Using</a:t>
            </a:r>
            <a:r>
              <a:rPr lang="es-ES" dirty="0"/>
              <a:t> </a:t>
            </a:r>
            <a:r>
              <a:rPr lang="es-ES" dirty="0" err="1"/>
              <a:t>the</a:t>
            </a:r>
            <a:r>
              <a:rPr lang="es-ES" dirty="0"/>
              <a:t> </a:t>
            </a:r>
            <a:r>
              <a:rPr lang="es-ES" dirty="0" err="1"/>
              <a:t>chain</a:t>
            </a:r>
            <a:r>
              <a:rPr lang="es-ES" dirty="0"/>
              <a:t> rule </a:t>
            </a:r>
            <a:r>
              <a:rPr lang="es-ES" dirty="0" err="1"/>
              <a:t>of</a:t>
            </a:r>
            <a:r>
              <a:rPr lang="es-ES" dirty="0"/>
              <a:t> </a:t>
            </a:r>
            <a:r>
              <a:rPr lang="es-ES" dirty="0" err="1"/>
              <a:t>probability</a:t>
            </a:r>
            <a:r>
              <a:rPr lang="es-ES" dirty="0"/>
              <a:t>, </a:t>
            </a:r>
            <a:r>
              <a:rPr lang="es-ES" dirty="0" err="1"/>
              <a:t>we</a:t>
            </a:r>
            <a:r>
              <a:rPr lang="es-ES" dirty="0"/>
              <a:t> </a:t>
            </a:r>
            <a:r>
              <a:rPr lang="es-ES" dirty="0" err="1"/>
              <a:t>decompose</a:t>
            </a:r>
            <a:r>
              <a:rPr lang="es-ES" dirty="0"/>
              <a:t> </a:t>
            </a:r>
            <a:r>
              <a:rPr lang="es-ES" dirty="0" err="1"/>
              <a:t>it</a:t>
            </a:r>
            <a:r>
              <a:rPr lang="es-ES" dirty="0"/>
              <a:t> </a:t>
            </a:r>
            <a:r>
              <a:rPr lang="es-ES" dirty="0" err="1"/>
              <a:t>into</a:t>
            </a:r>
            <a:r>
              <a:rPr lang="es-ES" dirty="0"/>
              <a:t> </a:t>
            </a:r>
            <a:r>
              <a:rPr lang="es-ES" dirty="0" err="1"/>
              <a:t>conditional</a:t>
            </a:r>
            <a:r>
              <a:rPr lang="es-ES" dirty="0"/>
              <a:t> </a:t>
            </a:r>
            <a:r>
              <a:rPr lang="es-ES" dirty="0" err="1"/>
              <a:t>distributions</a:t>
            </a:r>
            <a:r>
              <a:rPr lang="es-ES" dirty="0"/>
              <a:t>.</a:t>
            </a:r>
          </a:p>
          <a:p>
            <a:endParaRPr lang="es-ES" dirty="0"/>
          </a:p>
          <a:p>
            <a:r>
              <a:rPr lang="es-ES" dirty="0"/>
              <a:t>Dada una secuencia, nuestro objetivo es modelar su probabilidad conjunta. Utilizando la regla de la cadena de la probabilidad, la descomponemos en distribuciones condicionales.</a:t>
            </a:r>
          </a:p>
          <a:p>
            <a:endParaRPr lang="es-ES" dirty="0"/>
          </a:p>
          <a:p>
            <a:r>
              <a:rPr lang="es-ES" dirty="0"/>
              <a:t>Resumen:</a:t>
            </a:r>
          </a:p>
          <a:p>
            <a:r>
              <a:rPr lang="es-ES" dirty="0"/>
              <a:t>Esto es general.</a:t>
            </a:r>
          </a:p>
          <a:p>
            <a:r>
              <a:rPr lang="es-ES" dirty="0"/>
              <a:t>No hay red neuronal todavía.</a:t>
            </a:r>
          </a:p>
          <a:p>
            <a:r>
              <a:rPr lang="es-ES" dirty="0"/>
              <a:t>Esto es estadística básica.</a:t>
            </a:r>
          </a:p>
          <a:p>
            <a:endParaRPr lang="es-ES" b="1" dirty="0"/>
          </a:p>
          <a:p>
            <a:r>
              <a:rPr lang="es-ES" b="1" dirty="0"/>
              <a:t>Punto clave</a:t>
            </a:r>
          </a:p>
          <a:p>
            <a:r>
              <a:rPr lang="es-ES" dirty="0"/>
              <a:t>RNN no se inventa porque sí.</a:t>
            </a:r>
            <a:br>
              <a:rPr lang="es-ES" dirty="0"/>
            </a:br>
            <a:r>
              <a:rPr lang="es-ES" dirty="0"/>
              <a:t>Surge como solución eficiente para modelar estas condicionales.</a:t>
            </a:r>
          </a:p>
          <a:p>
            <a:endParaRPr lang="es-ES" dirty="0"/>
          </a:p>
        </p:txBody>
      </p:sp>
      <p:sp>
        <p:nvSpPr>
          <p:cNvPr id="4" name="Marcador de número de diapositiva 3">
            <a:extLst>
              <a:ext uri="{FF2B5EF4-FFF2-40B4-BE49-F238E27FC236}">
                <a16:creationId xmlns:a16="http://schemas.microsoft.com/office/drawing/2014/main" id="{3BCF2544-96B1-709E-9478-2D866EC275E9}"/>
              </a:ext>
            </a:extLst>
          </p:cNvPr>
          <p:cNvSpPr>
            <a:spLocks noGrp="1"/>
          </p:cNvSpPr>
          <p:nvPr>
            <p:ph type="sldNum" sz="quarter" idx="5"/>
          </p:nvPr>
        </p:nvSpPr>
        <p:spPr/>
        <p:txBody>
          <a:bodyPr/>
          <a:lstStyle/>
          <a:p>
            <a:fld id="{19C9EB4C-06C7-441F-9B0A-620A2ACB834C}" type="slidenum">
              <a:rPr lang="es-ES" smtClean="0"/>
              <a:t>9</a:t>
            </a:fld>
            <a:endParaRPr lang="es-ES"/>
          </a:p>
        </p:txBody>
      </p:sp>
    </p:spTree>
    <p:extLst>
      <p:ext uri="{BB962C8B-B14F-4D97-AF65-F5344CB8AC3E}">
        <p14:creationId xmlns:p14="http://schemas.microsoft.com/office/powerpoint/2010/main" val="17218566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dirty="0"/>
              <a:t>The problem is not the chain rule.</a:t>
            </a:r>
            <a:br>
              <a:rPr lang="en-US" dirty="0"/>
            </a:br>
            <a:r>
              <a:rPr lang="en-US" dirty="0"/>
              <a:t>The problem is conditioning on the entire past.</a:t>
            </a:r>
          </a:p>
          <a:p>
            <a:endParaRPr lang="en-US" dirty="0"/>
          </a:p>
          <a:p>
            <a:endParaRPr lang="en-US" dirty="0"/>
          </a:p>
          <a:p>
            <a:r>
              <a:rPr lang="es-ES" dirty="0"/>
              <a:t>El problema no es la regla de la cadena.</a:t>
            </a:r>
          </a:p>
          <a:p>
            <a:r>
              <a:rPr lang="es-ES" dirty="0"/>
              <a:t>El problema es condicionar todo el pasado</a:t>
            </a:r>
            <a:endParaRPr lang="en-US" dirty="0"/>
          </a:p>
          <a:p>
            <a:endParaRPr lang="es-ES" dirty="0"/>
          </a:p>
        </p:txBody>
      </p:sp>
      <p:sp>
        <p:nvSpPr>
          <p:cNvPr id="4" name="Marcador de número de diapositiva 3"/>
          <p:cNvSpPr>
            <a:spLocks noGrp="1"/>
          </p:cNvSpPr>
          <p:nvPr>
            <p:ph type="sldNum" sz="quarter" idx="5"/>
          </p:nvPr>
        </p:nvSpPr>
        <p:spPr/>
        <p:txBody>
          <a:bodyPr/>
          <a:lstStyle/>
          <a:p>
            <a:fld id="{19C9EB4C-06C7-441F-9B0A-620A2ACB834C}" type="slidenum">
              <a:rPr lang="es-ES" smtClean="0"/>
              <a:t>10</a:t>
            </a:fld>
            <a:endParaRPr lang="es-ES"/>
          </a:p>
        </p:txBody>
      </p:sp>
    </p:spTree>
    <p:extLst>
      <p:ext uri="{BB962C8B-B14F-4D97-AF65-F5344CB8AC3E}">
        <p14:creationId xmlns:p14="http://schemas.microsoft.com/office/powerpoint/2010/main" val="23511226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err="1"/>
              <a:t>Conditional</a:t>
            </a:r>
            <a:r>
              <a:rPr lang="es-ES" dirty="0"/>
              <a:t> </a:t>
            </a:r>
            <a:r>
              <a:rPr lang="es-ES" dirty="0" err="1"/>
              <a:t>Modeling</a:t>
            </a:r>
            <a:r>
              <a:rPr lang="es-ES" dirty="0"/>
              <a:t> </a:t>
            </a:r>
            <a:r>
              <a:rPr lang="es-ES" dirty="0" err="1"/>
              <a:t>of</a:t>
            </a:r>
            <a:r>
              <a:rPr lang="es-ES" dirty="0"/>
              <a:t> </a:t>
            </a:r>
            <a:r>
              <a:rPr lang="es-ES" dirty="0" err="1"/>
              <a:t>Sequences</a:t>
            </a:r>
            <a:endParaRPr lang="es-ES" dirty="0"/>
          </a:p>
          <a:p>
            <a:endParaRPr lang="es-ES" dirty="0"/>
          </a:p>
          <a:p>
            <a:r>
              <a:rPr lang="es-ES" dirty="0"/>
              <a:t>En lugar de condicionar todo el historial, lo condicionamos a un resumen aprendido del mismo.</a:t>
            </a:r>
          </a:p>
          <a:p>
            <a:endParaRPr lang="es-ES" dirty="0"/>
          </a:p>
          <a:p>
            <a:endParaRPr lang="es-ES" dirty="0"/>
          </a:p>
          <a:p>
            <a:r>
              <a:rPr lang="es-ES" dirty="0"/>
              <a:t>Ese resumen aprendido es el estado oculto. Y esto es exactamente lo que calcula una red neuronal recurrente.</a:t>
            </a:r>
          </a:p>
          <a:p>
            <a:endParaRPr lang="es-ES" dirty="0"/>
          </a:p>
          <a:p>
            <a:r>
              <a:rPr lang="es-ES" dirty="0"/>
              <a:t>Lo que hacemos es aproximar el cálculo de la complejidad del problema probabilista de la  regla de la cadena a una computación basada en RNN</a:t>
            </a:r>
          </a:p>
          <a:p>
            <a:endParaRPr lang="es-ES" dirty="0"/>
          </a:p>
          <a:p>
            <a:r>
              <a:rPr lang="es-ES" dirty="0"/>
              <a:t>In </a:t>
            </a:r>
            <a:r>
              <a:rPr lang="es-ES" dirty="0" err="1"/>
              <a:t>theory</a:t>
            </a:r>
            <a:r>
              <a:rPr lang="es-ES" dirty="0"/>
              <a:t>, </a:t>
            </a:r>
            <a:r>
              <a:rPr lang="es-ES" dirty="0" err="1"/>
              <a:t>each</a:t>
            </a:r>
            <a:r>
              <a:rPr lang="es-ES" dirty="0"/>
              <a:t> </a:t>
            </a:r>
            <a:r>
              <a:rPr lang="es-ES" dirty="0" err="1"/>
              <a:t>conditional</a:t>
            </a:r>
            <a:r>
              <a:rPr lang="es-ES" dirty="0"/>
              <a:t> </a:t>
            </a:r>
            <a:r>
              <a:rPr lang="es-ES" dirty="0" err="1"/>
              <a:t>depends</a:t>
            </a:r>
            <a:r>
              <a:rPr lang="es-ES" dirty="0"/>
              <a:t> </a:t>
            </a:r>
            <a:r>
              <a:rPr lang="es-ES" dirty="0" err="1"/>
              <a:t>on</a:t>
            </a:r>
            <a:r>
              <a:rPr lang="es-ES" dirty="0"/>
              <a:t> </a:t>
            </a:r>
            <a:r>
              <a:rPr lang="es-ES" dirty="0" err="1"/>
              <a:t>the</a:t>
            </a:r>
            <a:r>
              <a:rPr lang="es-ES" dirty="0"/>
              <a:t> </a:t>
            </a:r>
            <a:r>
              <a:rPr lang="es-ES" dirty="0" err="1"/>
              <a:t>entire</a:t>
            </a:r>
            <a:r>
              <a:rPr lang="es-ES" dirty="0"/>
              <a:t> </a:t>
            </a:r>
            <a:r>
              <a:rPr lang="es-ES" dirty="0" err="1"/>
              <a:t>history</a:t>
            </a:r>
            <a:r>
              <a:rPr lang="es-ES" dirty="0"/>
              <a:t>.</a:t>
            </a:r>
            <a:br>
              <a:rPr lang="es-ES" dirty="0"/>
            </a:br>
            <a:r>
              <a:rPr lang="es-ES" dirty="0"/>
              <a:t>In </a:t>
            </a:r>
            <a:r>
              <a:rPr lang="es-ES" dirty="0" err="1"/>
              <a:t>practice</a:t>
            </a:r>
            <a:r>
              <a:rPr lang="es-ES" dirty="0"/>
              <a:t>, </a:t>
            </a:r>
            <a:r>
              <a:rPr lang="es-ES" dirty="0" err="1"/>
              <a:t>this</a:t>
            </a:r>
            <a:r>
              <a:rPr lang="es-ES" dirty="0"/>
              <a:t> </a:t>
            </a:r>
            <a:r>
              <a:rPr lang="es-ES" dirty="0" err="1"/>
              <a:t>becomes</a:t>
            </a:r>
            <a:r>
              <a:rPr lang="es-ES" dirty="0"/>
              <a:t> </a:t>
            </a:r>
            <a:r>
              <a:rPr lang="es-ES" dirty="0" err="1"/>
              <a:t>computationally</a:t>
            </a:r>
            <a:r>
              <a:rPr lang="es-ES" dirty="0"/>
              <a:t> </a:t>
            </a:r>
            <a:r>
              <a:rPr lang="es-ES" dirty="0" err="1"/>
              <a:t>intractable</a:t>
            </a:r>
            <a:r>
              <a:rPr lang="es-ES" dirty="0"/>
              <a:t>.</a:t>
            </a:r>
          </a:p>
          <a:p>
            <a:endParaRPr lang="es-ES" dirty="0"/>
          </a:p>
        </p:txBody>
      </p:sp>
      <p:sp>
        <p:nvSpPr>
          <p:cNvPr id="4" name="Marcador de número de diapositiva 3"/>
          <p:cNvSpPr>
            <a:spLocks noGrp="1"/>
          </p:cNvSpPr>
          <p:nvPr>
            <p:ph type="sldNum" sz="quarter" idx="5"/>
          </p:nvPr>
        </p:nvSpPr>
        <p:spPr/>
        <p:txBody>
          <a:bodyPr/>
          <a:lstStyle/>
          <a:p>
            <a:fld id="{19C9EB4C-06C7-441F-9B0A-620A2ACB834C}" type="slidenum">
              <a:rPr lang="es-ES" smtClean="0"/>
              <a:t>11</a:t>
            </a:fld>
            <a:endParaRPr lang="es-ES"/>
          </a:p>
        </p:txBody>
      </p:sp>
    </p:spTree>
    <p:extLst>
      <p:ext uri="{BB962C8B-B14F-4D97-AF65-F5344CB8AC3E}">
        <p14:creationId xmlns:p14="http://schemas.microsoft.com/office/powerpoint/2010/main" val="29447098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10962-ABC6-9049-36A7-081D768A8AB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69A4376-E236-6E75-8D87-77A786DB78C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99A801A-A0F5-4B61-CBB5-8291C00F3F6D}"/>
              </a:ext>
            </a:extLst>
          </p:cNvPr>
          <p:cNvSpPr>
            <a:spLocks noGrp="1"/>
          </p:cNvSpPr>
          <p:nvPr>
            <p:ph type="body" idx="1"/>
          </p:nvPr>
        </p:nvSpPr>
        <p:spPr/>
        <p:txBody>
          <a:bodyPr/>
          <a:lstStyle/>
          <a:p>
            <a:r>
              <a:rPr lang="es-ES" dirty="0"/>
              <a:t>Podemos describir este tipo de red mediante lo que llamamos una relación de recurrencia y podemos visualizarlo de varias maneras diferentes. </a:t>
            </a:r>
          </a:p>
          <a:p>
            <a:endParaRPr lang="es-ES" dirty="0"/>
          </a:p>
          <a:p>
            <a:r>
              <a:rPr lang="es-ES" dirty="0"/>
              <a:t>Aquí, a la derecha, se muestran estos intervalos de tiempo desplegados en secciones a lo largo del tiempo, donde hemos visualizado estos enlaces mediante la variable h, </a:t>
            </a:r>
          </a:p>
          <a:p>
            <a:endParaRPr lang="es-ES" dirty="0"/>
          </a:p>
          <a:p>
            <a:r>
              <a:rPr lang="es-ES" dirty="0"/>
              <a:t>pero también podemos representarlo a la izquierda mediante este ciclo, este bucle, que nos indica el concepto del estado que mantiene este registro recurrente de los cálculos internos de la red, que se actualiza con cada intervalo de tiempo. </a:t>
            </a:r>
          </a:p>
          <a:p>
            <a:endParaRPr lang="es-ES" dirty="0"/>
          </a:p>
          <a:p>
            <a:r>
              <a:rPr lang="es-ES" dirty="0"/>
              <a:t>Se trata de la noción de un modelo de series temporales que tiene un sentido de recurrencia y, en realidad, es un concepto muy fundamental en todo el modelado de secuencias, esta noción de lo que llamamos redes neuronales recurrentes.</a:t>
            </a:r>
            <a:br>
              <a:rPr lang="es-ES" dirty="0"/>
            </a:br>
            <a:endParaRPr lang="es-ES" dirty="0"/>
          </a:p>
          <a:p>
            <a:endParaRPr lang="es-ES" dirty="0"/>
          </a:p>
        </p:txBody>
      </p:sp>
      <p:sp>
        <p:nvSpPr>
          <p:cNvPr id="4" name="Marcador de número de diapositiva 3">
            <a:extLst>
              <a:ext uri="{FF2B5EF4-FFF2-40B4-BE49-F238E27FC236}">
                <a16:creationId xmlns:a16="http://schemas.microsoft.com/office/drawing/2014/main" id="{927AC4B9-73A4-310F-E197-7C15C80E7236}"/>
              </a:ext>
            </a:extLst>
          </p:cNvPr>
          <p:cNvSpPr>
            <a:spLocks noGrp="1"/>
          </p:cNvSpPr>
          <p:nvPr>
            <p:ph type="sldNum" sz="quarter" idx="5"/>
          </p:nvPr>
        </p:nvSpPr>
        <p:spPr/>
        <p:txBody>
          <a:bodyPr/>
          <a:lstStyle/>
          <a:p>
            <a:fld id="{19C9EB4C-06C7-441F-9B0A-620A2ACB834C}" type="slidenum">
              <a:rPr lang="es-ES" smtClean="0"/>
              <a:t>12</a:t>
            </a:fld>
            <a:endParaRPr lang="es-ES"/>
          </a:p>
        </p:txBody>
      </p:sp>
    </p:spTree>
    <p:extLst>
      <p:ext uri="{BB962C8B-B14F-4D97-AF65-F5344CB8AC3E}">
        <p14:creationId xmlns:p14="http://schemas.microsoft.com/office/powerpoint/2010/main" val="4722984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B622AA-26F8-FD75-E270-9792370E033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56182B6-B3C9-D202-9A5C-CC3C4790F1D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5DFA5F1-624B-1ECA-9603-8701E51D06F9}"/>
              </a:ext>
            </a:extLst>
          </p:cNvPr>
          <p:cNvSpPr>
            <a:spLocks noGrp="1"/>
          </p:cNvSpPr>
          <p:nvPr>
            <p:ph type="body" idx="1"/>
          </p:nvPr>
        </p:nvSpPr>
        <p:spPr/>
        <p:txBody>
          <a:bodyPr/>
          <a:lstStyle/>
          <a:p>
            <a:r>
              <a:rPr lang="es-ES" dirty="0"/>
              <a:t>La idea clave es que tenemos este estado interno </a:t>
            </a:r>
            <a:r>
              <a:rPr lang="es-ES" dirty="0" err="1"/>
              <a:t>ht</a:t>
            </a:r>
            <a:r>
              <a:rPr lang="es-ES" dirty="0"/>
              <a:t> y ese estado se actualizará en cada paso temporal a medida que procesamos </a:t>
            </a:r>
          </a:p>
          <a:p>
            <a:r>
              <a:rPr lang="es-ES" dirty="0"/>
              <a:t>la secuencia. </a:t>
            </a:r>
          </a:p>
          <a:p>
            <a:endParaRPr lang="es-ES" dirty="0"/>
          </a:p>
          <a:p>
            <a:r>
              <a:rPr lang="es-ES" dirty="0"/>
              <a:t>Podemos hacerlo definiendo lo que llamamos esta relación de recurrencia (bucle en fig. derecha)</a:t>
            </a:r>
          </a:p>
          <a:p>
            <a:endParaRPr lang="es-ES" dirty="0"/>
          </a:p>
          <a:p>
            <a:r>
              <a:rPr lang="es-ES" dirty="0"/>
              <a:t>Es una forma de procesar una secuencia paso a paso y lo que queremos es que nuestro estado interno establecido sea una función no solo de la entrada, sino también del estado anterior, de modo que haya cierta noción de memoria que se transmita para formalizar esto. </a:t>
            </a:r>
          </a:p>
          <a:p>
            <a:endParaRPr lang="es-ES" dirty="0"/>
          </a:p>
          <a:p>
            <a:r>
              <a:rPr lang="es-ES" dirty="0"/>
              <a:t>El estado de la celda </a:t>
            </a:r>
            <a:r>
              <a:rPr lang="es-ES" dirty="0" err="1"/>
              <a:t>ht</a:t>
            </a:r>
            <a:r>
              <a:rPr lang="es-ES" dirty="0"/>
              <a:t> se define mediante una función parametrizada por un conjunto de pesos W que depende no solo de la entrada en ese paso de tiempo, sino también del estado anterior del paso de tiempo anterior, y podemos aplicar recurrente la misma función paso a paso, actualizando los pesos para obtener esta actualización recurrente de nuestro estado celular a medida que se procesa la secuencia.</a:t>
            </a:r>
          </a:p>
          <a:p>
            <a:br>
              <a:rPr lang="es-ES" dirty="0"/>
            </a:br>
            <a:endParaRPr lang="es-ES" dirty="0"/>
          </a:p>
          <a:p>
            <a:endParaRPr lang="es-ES" dirty="0"/>
          </a:p>
        </p:txBody>
      </p:sp>
      <p:sp>
        <p:nvSpPr>
          <p:cNvPr id="4" name="Marcador de número de diapositiva 3">
            <a:extLst>
              <a:ext uri="{FF2B5EF4-FFF2-40B4-BE49-F238E27FC236}">
                <a16:creationId xmlns:a16="http://schemas.microsoft.com/office/drawing/2014/main" id="{72ECD24A-E367-394C-C54E-392A6A02384E}"/>
              </a:ext>
            </a:extLst>
          </p:cNvPr>
          <p:cNvSpPr>
            <a:spLocks noGrp="1"/>
          </p:cNvSpPr>
          <p:nvPr>
            <p:ph type="sldNum" sz="quarter" idx="5"/>
          </p:nvPr>
        </p:nvSpPr>
        <p:spPr/>
        <p:txBody>
          <a:bodyPr/>
          <a:lstStyle/>
          <a:p>
            <a:fld id="{19C9EB4C-06C7-441F-9B0A-620A2ACB834C}" type="slidenum">
              <a:rPr lang="es-ES" smtClean="0"/>
              <a:t>13</a:t>
            </a:fld>
            <a:endParaRPr lang="es-ES"/>
          </a:p>
        </p:txBody>
      </p:sp>
    </p:spTree>
    <p:extLst>
      <p:ext uri="{BB962C8B-B14F-4D97-AF65-F5344CB8AC3E}">
        <p14:creationId xmlns:p14="http://schemas.microsoft.com/office/powerpoint/2010/main" val="32831971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3785E2-42D3-094B-1985-0D86E58957A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A6B6578-78EA-0AF8-E64D-AAD592DF555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1FE9E3E-7850-9702-ECB8-40239EDD3C4F}"/>
              </a:ext>
            </a:extLst>
          </p:cNvPr>
          <p:cNvSpPr>
            <a:spLocks noGrp="1"/>
          </p:cNvSpPr>
          <p:nvPr>
            <p:ph type="body" idx="1"/>
          </p:nvPr>
        </p:nvSpPr>
        <p:spPr/>
        <p:txBody>
          <a:bodyPr/>
          <a:lstStyle/>
          <a:p>
            <a:r>
              <a:rPr lang="es-ES" dirty="0"/>
              <a:t>Dado nuestro vector de entrada, definimos una función para actualizar el estado oculto y ahora hemos introducido un poco más de formalidad que hace que estas definiciones de peso y funciones sean explícitas, pero, de nuevo, esta es la actualización del estado oculto, que es una función tanto de la entrada en ese paso temporal y del estado oculto anterior del paso de tiempo anterior que actualiza nuestro estado oculto y ahora podemos generar una predicción, un vector de salida, tomando ese estado oculto y aplicándole la transformación esperada, </a:t>
            </a:r>
          </a:p>
          <a:p>
            <a:endParaRPr lang="es-ES" dirty="0"/>
          </a:p>
          <a:p>
            <a:r>
              <a:rPr lang="es-ES" dirty="0"/>
              <a:t>así que este es el núcleo de cómo la RNN puede actualizar su memoria interna, su estado oculto, y también producir una predicción y una salida en cada paso de tiempo individual. </a:t>
            </a:r>
          </a:p>
        </p:txBody>
      </p:sp>
      <p:sp>
        <p:nvSpPr>
          <p:cNvPr id="4" name="Marcador de número de diapositiva 3">
            <a:extLst>
              <a:ext uri="{FF2B5EF4-FFF2-40B4-BE49-F238E27FC236}">
                <a16:creationId xmlns:a16="http://schemas.microsoft.com/office/drawing/2014/main" id="{31697A7D-5EB8-39A4-49F7-8934CBCFDE41}"/>
              </a:ext>
            </a:extLst>
          </p:cNvPr>
          <p:cNvSpPr>
            <a:spLocks noGrp="1"/>
          </p:cNvSpPr>
          <p:nvPr>
            <p:ph type="sldNum" sz="quarter" idx="5"/>
          </p:nvPr>
        </p:nvSpPr>
        <p:spPr/>
        <p:txBody>
          <a:bodyPr/>
          <a:lstStyle/>
          <a:p>
            <a:fld id="{19C9EB4C-06C7-441F-9B0A-620A2ACB834C}" type="slidenum">
              <a:rPr lang="es-ES" smtClean="0"/>
              <a:t>14</a:t>
            </a:fld>
            <a:endParaRPr lang="es-ES"/>
          </a:p>
        </p:txBody>
      </p:sp>
    </p:spTree>
    <p:extLst>
      <p:ext uri="{BB962C8B-B14F-4D97-AF65-F5344CB8AC3E}">
        <p14:creationId xmlns:p14="http://schemas.microsoft.com/office/powerpoint/2010/main" val="36575723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2240C-0C6A-630D-D1A3-09D135AEB93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7824230-E7D1-AC5F-427C-D5DA75F8AED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BB17B3C-8157-20DC-6EA9-F2B791B2ED5D}"/>
              </a:ext>
            </a:extLst>
          </p:cNvPr>
          <p:cNvSpPr>
            <a:spLocks noGrp="1"/>
          </p:cNvSpPr>
          <p:nvPr>
            <p:ph type="body" idx="1"/>
          </p:nvPr>
        </p:nvSpPr>
        <p:spPr/>
        <p:txBody>
          <a:bodyPr/>
          <a:lstStyle/>
          <a:p>
            <a:r>
              <a:rPr lang="es-ES" dirty="0"/>
              <a:t>Entonces, al ver esto y visualizar este </a:t>
            </a:r>
            <a:r>
              <a:rPr lang="es-ES" dirty="0" err="1"/>
              <a:t>rnm</a:t>
            </a:r>
            <a:r>
              <a:rPr lang="es-ES" dirty="0"/>
              <a:t> como una especie de ciclo recurrente, mencioné que también podemos representarlo tomando estas porciones de tiempo individuales y separándolas en un eje temporal, desplegándolas a lo largo del tiempo, y si hacemos eso, creo que la intuición se vuelve quizás aún más clara, donde nuevamente, comenzando desde el primer paso temporal, podemos desplegar paso a paso T1, T2, hasta T, donde se puede ver que este estado interno se transmite de un paso temporal al siguiente, estamos generando las predicciones. También podemos volver a aplicar las matemáticas formales a este diagrama, donde ahora se puede ver que tenemos una matriz de pesos que transforma la entrada en el cálculo del estado oculto, tenemos una matriz de pesos que define cómo se actualiza el estado oculto y, finalmente, una que transforma el estado oculto en la predicción de salida. Es importante destacar que estas son las mismas matrices de peso en cada paso de tiempo individual que se reutilizan en cada paso de tiempo de la secuencia, por lo que ahora esto nos dice: «Bien, ¿cómo hacemos realmente estas actualizaciones? ¿Cómo predecimos las salidas?». Pero lo que necesitamos saber para entrenar realmente esta red y aprenderla es cómo definimos una pérdida correcta. Para aprender una red neuronal o entrenarla, es necesario definir algún tipo de función que indique cuán cerca están realmente las predicciones del comportamiento deseado que se busca y, con las RNN, ese concepto, exactamente el mismo concepto, sigue siendo válido. La única diferencia es que podemos calcular una pérdida en cada s.</a:t>
            </a:r>
          </a:p>
        </p:txBody>
      </p:sp>
      <p:sp>
        <p:nvSpPr>
          <p:cNvPr id="4" name="Marcador de número de diapositiva 3">
            <a:extLst>
              <a:ext uri="{FF2B5EF4-FFF2-40B4-BE49-F238E27FC236}">
                <a16:creationId xmlns:a16="http://schemas.microsoft.com/office/drawing/2014/main" id="{9042E1EA-F9B9-852F-D190-6B889F957ACA}"/>
              </a:ext>
            </a:extLst>
          </p:cNvPr>
          <p:cNvSpPr>
            <a:spLocks noGrp="1"/>
          </p:cNvSpPr>
          <p:nvPr>
            <p:ph type="sldNum" sz="quarter" idx="5"/>
          </p:nvPr>
        </p:nvSpPr>
        <p:spPr/>
        <p:txBody>
          <a:bodyPr/>
          <a:lstStyle/>
          <a:p>
            <a:fld id="{19C9EB4C-06C7-441F-9B0A-620A2ACB834C}" type="slidenum">
              <a:rPr lang="es-ES" smtClean="0"/>
              <a:t>15</a:t>
            </a:fld>
            <a:endParaRPr lang="es-ES"/>
          </a:p>
        </p:txBody>
      </p:sp>
    </p:spTree>
    <p:extLst>
      <p:ext uri="{BB962C8B-B14F-4D97-AF65-F5344CB8AC3E}">
        <p14:creationId xmlns:p14="http://schemas.microsoft.com/office/powerpoint/2010/main" val="19444768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91B7F-A9C8-BD10-1A9C-40F222242DD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3AE12C5-FBEB-2994-5734-852DE618035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BC10CFD-28D6-16C7-5113-453A3AC641AA}"/>
              </a:ext>
            </a:extLst>
          </p:cNvPr>
          <p:cNvSpPr>
            <a:spLocks noGrp="1"/>
          </p:cNvSpPr>
          <p:nvPr>
            <p:ph type="body" idx="1"/>
          </p:nvPr>
        </p:nvSpPr>
        <p:spPr/>
        <p:txBody>
          <a:bodyPr/>
          <a:lstStyle/>
          <a:p>
            <a:r>
              <a:rPr lang="es-ES" sz="1200" kern="1200" dirty="0">
                <a:solidFill>
                  <a:schemeClr val="tx1"/>
                </a:solidFill>
                <a:effectLst/>
                <a:latin typeface="+mn-lt"/>
                <a:ea typeface="+mn-ea"/>
                <a:cs typeface="+mn-cs"/>
              </a:rPr>
              <a:t>Para ello, para calcular x4, vamos a suponer que estos son números y que cada número representa el carácter de una palabra. Imaginaos que tenemos el carácter h, el carácter o y el carácter l, que por supuesto aquí van a entrar como números. Codificaríamos esto en números y ya está.</a:t>
            </a:r>
          </a:p>
          <a:p>
            <a:endParaRPr lang="es-ES" sz="1200" kern="1200" dirty="0">
              <a:solidFill>
                <a:schemeClr val="tx1"/>
              </a:solidFill>
              <a:effectLst/>
              <a:latin typeface="+mn-lt"/>
              <a:ea typeface="+mn-ea"/>
              <a:cs typeface="+mn-cs"/>
            </a:endParaRPr>
          </a:p>
          <a:p>
            <a:r>
              <a:rPr lang="es-ES" sz="1200" kern="1200" dirty="0">
                <a:solidFill>
                  <a:schemeClr val="tx1"/>
                </a:solidFill>
                <a:effectLst/>
                <a:latin typeface="+mn-lt"/>
                <a:ea typeface="+mn-ea"/>
                <a:cs typeface="+mn-cs"/>
              </a:rPr>
              <a:t>Y se trataría de predecir la siguiente letra de la secuencia, pues en este caso sería la a. </a:t>
            </a:r>
          </a:p>
          <a:p>
            <a:endParaRPr lang="es-ES" sz="1200" kern="1200" dirty="0">
              <a:solidFill>
                <a:schemeClr val="tx1"/>
              </a:solidFill>
              <a:effectLst/>
              <a:latin typeface="+mn-lt"/>
              <a:ea typeface="+mn-ea"/>
              <a:cs typeface="+mn-cs"/>
            </a:endParaRPr>
          </a:p>
          <a:p>
            <a:r>
              <a:rPr lang="es-ES" sz="1200" kern="1200" dirty="0">
                <a:solidFill>
                  <a:schemeClr val="tx1"/>
                </a:solidFill>
                <a:effectLst/>
                <a:latin typeface="+mn-lt"/>
                <a:ea typeface="+mn-ea"/>
                <a:cs typeface="+mn-cs"/>
              </a:rPr>
              <a:t>Para saber que esto es la a, no podemos averiguarla solamente con la información del anterior carácter, porque con solamente la l no sabríamos que esto es una a. </a:t>
            </a:r>
          </a:p>
          <a:p>
            <a:endParaRPr lang="es-ES" sz="1200" kern="1200" dirty="0">
              <a:solidFill>
                <a:schemeClr val="tx1"/>
              </a:solidFill>
              <a:effectLst/>
              <a:latin typeface="+mn-lt"/>
              <a:ea typeface="+mn-ea"/>
              <a:cs typeface="+mn-cs"/>
            </a:endParaRPr>
          </a:p>
          <a:p>
            <a:r>
              <a:rPr lang="es-ES" sz="1200" kern="1200" dirty="0">
                <a:solidFill>
                  <a:schemeClr val="tx1"/>
                </a:solidFill>
                <a:effectLst/>
                <a:latin typeface="+mn-lt"/>
                <a:ea typeface="+mn-ea"/>
                <a:cs typeface="+mn-cs"/>
              </a:rPr>
              <a:t>Podría ser cualquier vocal o incluso cualquier consonante. Tendríamos que tener memoria de contexto de lo que hay anteriormente</a:t>
            </a:r>
            <a:endParaRPr lang="en-US" dirty="0"/>
          </a:p>
        </p:txBody>
      </p:sp>
      <p:sp>
        <p:nvSpPr>
          <p:cNvPr id="4" name="Marcador de número de diapositiva 3">
            <a:extLst>
              <a:ext uri="{FF2B5EF4-FFF2-40B4-BE49-F238E27FC236}">
                <a16:creationId xmlns:a16="http://schemas.microsoft.com/office/drawing/2014/main" id="{62F5197A-3B89-4AD9-C14F-46321ACC103C}"/>
              </a:ext>
            </a:extLst>
          </p:cNvPr>
          <p:cNvSpPr>
            <a:spLocks noGrp="1"/>
          </p:cNvSpPr>
          <p:nvPr>
            <p:ph type="sldNum" sz="quarter" idx="5"/>
          </p:nvPr>
        </p:nvSpPr>
        <p:spPr/>
        <p:txBody>
          <a:bodyPr/>
          <a:lstStyle/>
          <a:p>
            <a:fld id="{19C9EB4C-06C7-441F-9B0A-620A2ACB834C}" type="slidenum">
              <a:rPr lang="es-ES" smtClean="0"/>
              <a:t>16</a:t>
            </a:fld>
            <a:endParaRPr lang="es-ES"/>
          </a:p>
        </p:txBody>
      </p:sp>
    </p:spTree>
    <p:extLst>
      <p:ext uri="{BB962C8B-B14F-4D97-AF65-F5344CB8AC3E}">
        <p14:creationId xmlns:p14="http://schemas.microsoft.com/office/powerpoint/2010/main" val="7123856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47FA2-6664-A213-CD9F-F2D51C9DAEE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ED55A67-027D-F883-CDFA-6B846079C70A}"/>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Marcador de notas 2">
                <a:extLst>
                  <a:ext uri="{FF2B5EF4-FFF2-40B4-BE49-F238E27FC236}">
                    <a16:creationId xmlns:a16="http://schemas.microsoft.com/office/drawing/2014/main" id="{A4698CEB-191B-1A18-713C-0C3243D18407}"/>
                  </a:ext>
                </a:extLst>
              </p:cNvPr>
              <p:cNvSpPr>
                <a:spLocks noGrp="1"/>
              </p:cNvSpPr>
              <p:nvPr>
                <p:ph type="body" idx="1"/>
              </p:nvPr>
            </p:nvSpPr>
            <p:spPr/>
            <p:txBody>
              <a:bodyPr/>
              <a:lstStyle/>
              <a:p>
                <a:r>
                  <a:rPr lang="es-ES" sz="1200" kern="1200" dirty="0">
                    <a:solidFill>
                      <a:schemeClr val="tx1"/>
                    </a:solidFill>
                    <a:effectLst/>
                    <a:latin typeface="+mn-lt"/>
                    <a:ea typeface="+mn-ea"/>
                    <a:cs typeface="+mn-cs"/>
                  </a:rPr>
                  <a:t>Y eso es de lo que se aprovechan estas redes neuronales recurrentes, son redes secuenciales.</a:t>
                </a:r>
              </a:p>
              <a:p>
                <a:endParaRPr lang="es-ES" sz="1200" kern="1200" dirty="0">
                  <a:solidFill>
                    <a:schemeClr val="tx1"/>
                  </a:solidFill>
                  <a:effectLst/>
                  <a:latin typeface="+mn-lt"/>
                  <a:ea typeface="+mn-ea"/>
                  <a:cs typeface="+mn-cs"/>
                </a:endParaRPr>
              </a:p>
              <a:p>
                <a:r>
                  <a:rPr lang="es-ES" sz="1200" kern="1200" dirty="0">
                    <a:solidFill>
                      <a:schemeClr val="tx1"/>
                    </a:solidFill>
                    <a:effectLst/>
                    <a:latin typeface="+mn-lt"/>
                    <a:ea typeface="+mn-ea"/>
                    <a:cs typeface="+mn-cs"/>
                  </a:rPr>
                  <a:t>Primero vamos a tener aquí el primer elemento de la cadena, el x1, que lo vamos a pasar a través de un peso hasta h1. </a:t>
                </a:r>
              </a:p>
              <a:p>
                <a:r>
                  <a:rPr lang="es-ES" sz="1200" kern="1200" dirty="0">
                    <a:solidFill>
                      <a:schemeClr val="tx1"/>
                    </a:solidFill>
                    <a:effectLst/>
                    <a:latin typeface="+mn-lt"/>
                    <a:ea typeface="+mn-ea"/>
                    <a:cs typeface="+mn-cs"/>
                  </a:rPr>
                  <a:t>Con ese h1, a través de otro peso, además de un sesgo también, lo vamos a llevar a x2. </a:t>
                </a:r>
              </a:p>
              <a:p>
                <a:r>
                  <a:rPr lang="es-ES" sz="1200" kern="1200" dirty="0">
                    <a:solidFill>
                      <a:schemeClr val="tx1"/>
                    </a:solidFill>
                    <a:effectLst/>
                    <a:latin typeface="+mn-lt"/>
                    <a:ea typeface="+mn-ea"/>
                    <a:cs typeface="+mn-cs"/>
                  </a:rPr>
                  <a:t>Aquí x2 va a jugar el papel de etiqueta.</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s-ES" sz="1200" kern="1200" dirty="0">
                    <a:solidFill>
                      <a:schemeClr val="tx1"/>
                    </a:solidFill>
                    <a:effectLst/>
                    <a:latin typeface="+mn-lt"/>
                    <a:ea typeface="+mn-ea"/>
                    <a:cs typeface="+mn-cs"/>
                  </a:rPr>
                  <a:t>Con esta h1 vamos a pasarla a esta neurona oculta. </a:t>
                </a:r>
              </a:p>
              <a:p>
                <a:pPr marL="0" marR="0" lvl="0" indent="0" algn="l" defTabSz="914400" rtl="0" eaLnBrk="1" fontAlgn="auto" latinLnBrk="0" hangingPunct="1">
                  <a:lnSpc>
                    <a:spcPct val="100000"/>
                  </a:lnSpc>
                  <a:spcBef>
                    <a:spcPts val="0"/>
                  </a:spcBef>
                  <a:spcAft>
                    <a:spcPts val="0"/>
                  </a:spcAft>
                  <a:buClrTx/>
                  <a:buSzTx/>
                  <a:buFontTx/>
                  <a:buNone/>
                  <a:tabLst/>
                  <a:defRPr/>
                </a:pPr>
                <a:r>
                  <a:rPr lang="es-ES" sz="1200" kern="1200" dirty="0">
                    <a:solidFill>
                      <a:schemeClr val="tx1"/>
                    </a:solidFill>
                    <a:effectLst/>
                    <a:latin typeface="+mn-lt"/>
                    <a:ea typeface="+mn-ea"/>
                    <a:cs typeface="+mn-cs"/>
                  </a:rPr>
                  <a:t>h2 tiene información tanto de x2 como de x1. Lo que pasa es que de x1 la información que tiene es indirecta porque viene a través de la neurona oculta h1. </a:t>
                </a:r>
              </a:p>
              <a:p>
                <a:pPr marL="0" marR="0" lvl="0" indent="0" algn="l" defTabSz="914400" rtl="0" eaLnBrk="1" fontAlgn="auto" latinLnBrk="0" hangingPunct="1">
                  <a:lnSpc>
                    <a:spcPct val="100000"/>
                  </a:lnSpc>
                  <a:spcBef>
                    <a:spcPts val="0"/>
                  </a:spcBef>
                  <a:spcAft>
                    <a:spcPts val="0"/>
                  </a:spcAft>
                  <a:buClrTx/>
                  <a:buSzTx/>
                  <a:buFontTx/>
                  <a:buNone/>
                  <a:tabLst/>
                  <a:defRPr/>
                </a:pPr>
                <a:r>
                  <a:rPr lang="es-ES" sz="1200" kern="1200" dirty="0">
                    <a:solidFill>
                      <a:schemeClr val="tx1"/>
                    </a:solidFill>
                    <a:effectLst/>
                    <a:latin typeface="+mn-lt"/>
                    <a:ea typeface="+mn-ea"/>
                    <a:cs typeface="+mn-cs"/>
                  </a:rPr>
                  <a:t>Cuando lleguemos a x3, x3 va a ir a h3 y h3 va a recibir información de h2 que a su vez ha recibido información de h1.</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E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s-ES" sz="1200" kern="1200" dirty="0">
                    <a:solidFill>
                      <a:schemeClr val="tx1"/>
                    </a:solidFill>
                    <a:effectLst/>
                    <a:latin typeface="+mn-lt"/>
                    <a:ea typeface="+mn-ea"/>
                    <a:cs typeface="+mn-cs"/>
                  </a:rPr>
                  <a:t>Por tanto, h3 tiene información indirecta de x2 y de x1. Con esta información, con memoria de los anteriores elementos de la secuencia, calcularemos el nuevo elemento de la secuencia x4 que en este caso sería la </a:t>
                </a:r>
                <a:r>
                  <a:rPr lang="es-ES" sz="1200" b="1" kern="1200" dirty="0">
                    <a:solidFill>
                      <a:schemeClr val="tx1"/>
                    </a:solidFill>
                    <a:effectLst/>
                    <a:latin typeface="+mn-lt"/>
                    <a:ea typeface="+mn-ea"/>
                    <a:cs typeface="+mn-cs"/>
                  </a:rPr>
                  <a:t>a</a:t>
                </a:r>
              </a:p>
              <a:p>
                <a:endParaRPr lang="es-ES" sz="1200" b="1" kern="1200" dirty="0">
                  <a:solidFill>
                    <a:schemeClr val="tx1"/>
                  </a:solidFill>
                  <a:effectLst/>
                  <a:latin typeface="+mn-lt"/>
                  <a:ea typeface="+mn-ea"/>
                  <a:cs typeface="+mn-cs"/>
                </a:endParaRPr>
              </a:p>
              <a:p>
                <a:endParaRPr lang="es-ES" b="1" dirty="0"/>
              </a:p>
              <a:p>
                <a:r>
                  <a:rPr lang="es-ES" dirty="0"/>
                  <a:t>Error típico </a:t>
                </a:r>
                <a:r>
                  <a:rPr lang="es-ES" dirty="0">
                    <a:sym typeface="Wingdings" panose="05000000000000000000" pitchFamily="2" charset="2"/>
                  </a:rPr>
                  <a:t> </a:t>
                </a:r>
                <a:r>
                  <a:rPr lang="es-ES" dirty="0"/>
                  <a:t>cada flecha tiene pesos distintos.</a:t>
                </a:r>
              </a:p>
              <a:p>
                <a:endParaRPr lang="es-ES" dirty="0"/>
              </a:p>
              <a:p>
                <a:r>
                  <a:rPr lang="es-ES" b="1" dirty="0"/>
                  <a:t>Los pesos son los mismos en cada paso</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ES" sz="1200" b="1" kern="1200" dirty="0">
                  <a:solidFill>
                    <a:schemeClr val="tx1"/>
                  </a:solidFill>
                  <a:effectLst/>
                  <a:latin typeface="+mn-lt"/>
                  <a:ea typeface="+mn-ea"/>
                  <a:cs typeface="+mn-cs"/>
                </a:endParaRPr>
              </a:p>
              <a:p>
                <a:r>
                  <a:rPr lang="es-ES" dirty="0"/>
                  <a:t>cada paso:</a:t>
                </a:r>
              </a:p>
              <a:p>
                <a:pPr/>
                <a14:m>
                  <m:oMathPara xmlns:m="http://schemas.openxmlformats.org/officeDocument/2006/math">
                    <m:oMathParaPr>
                      <m:jc m:val="centerGroup"/>
                    </m:oMathParaPr>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𝑊</m:t>
                          </m:r>
                        </m:e>
                        <m:sub>
                          <m:r>
                            <a:rPr lang="ar-AE" sz="1200" i="1" kern="1200">
                              <a:solidFill>
                                <a:schemeClr val="tx1"/>
                              </a:solidFill>
                              <a:latin typeface="Cambria Math" panose="02040503050406030204" pitchFamily="18" charset="0"/>
                              <a:ea typeface="+mn-ea"/>
                              <a:cs typeface="+mn-cs"/>
                            </a:rPr>
                            <m:t>𝑥</m:t>
                          </m:r>
                          <m:r>
                            <a:rPr lang="ar-AE" sz="1200" i="1" kern="1200">
                              <a:solidFill>
                                <a:schemeClr val="tx1"/>
                              </a:solidFill>
                              <a:latin typeface="Cambria Math" panose="02040503050406030204" pitchFamily="18" charset="0"/>
                              <a:ea typeface="+mn-ea"/>
                              <a:cs typeface="+mn-cs"/>
                            </a:rPr>
                            <m:t>h</m:t>
                          </m:r>
                        </m:sub>
                      </m:sSub>
                      <m:r>
                        <a:rPr lang="ar-AE" sz="1200" i="0" kern="1200">
                          <a:solidFill>
                            <a:schemeClr val="tx1"/>
                          </a:solidFill>
                          <a:latin typeface="Cambria Math" panose="02040503050406030204" pitchFamily="18" charset="0"/>
                          <a:ea typeface="+mn-ea"/>
                          <a:cs typeface="+mn-cs"/>
                        </a:rPr>
                        <m:t>,</m:t>
                      </m:r>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𝑊</m:t>
                          </m:r>
                        </m:e>
                        <m:sub>
                          <m:r>
                            <a:rPr lang="ar-AE" sz="1200" i="1" kern="1200">
                              <a:solidFill>
                                <a:schemeClr val="tx1"/>
                              </a:solidFill>
                              <a:latin typeface="Cambria Math" panose="02040503050406030204" pitchFamily="18" charset="0"/>
                              <a:ea typeface="+mn-ea"/>
                              <a:cs typeface="+mn-cs"/>
                            </a:rPr>
                            <m:t>hh</m:t>
                          </m:r>
                        </m:sub>
                      </m:sSub>
                      <m:r>
                        <a:rPr lang="ar-AE" sz="1200" i="0" kern="1200">
                          <a:solidFill>
                            <a:schemeClr val="tx1"/>
                          </a:solidFill>
                          <a:latin typeface="Cambria Math" panose="02040503050406030204" pitchFamily="18" charset="0"/>
                          <a:ea typeface="+mn-ea"/>
                          <a:cs typeface="+mn-cs"/>
                        </a:rPr>
                        <m:t>,</m:t>
                      </m:r>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𝑊</m:t>
                          </m:r>
                        </m:e>
                        <m:sub>
                          <m:r>
                            <a:rPr lang="ar-AE" sz="1200" i="1" kern="1200">
                              <a:solidFill>
                                <a:schemeClr val="tx1"/>
                              </a:solidFill>
                              <a:latin typeface="Cambria Math" panose="02040503050406030204" pitchFamily="18" charset="0"/>
                              <a:ea typeface="+mn-ea"/>
                              <a:cs typeface="+mn-cs"/>
                            </a:rPr>
                            <m:t>h</m:t>
                          </m:r>
                          <m:r>
                            <a:rPr lang="ar-AE" sz="1200" i="1" kern="1200">
                              <a:solidFill>
                                <a:schemeClr val="tx1"/>
                              </a:solidFill>
                              <a:latin typeface="Cambria Math" panose="02040503050406030204" pitchFamily="18" charset="0"/>
                              <a:ea typeface="+mn-ea"/>
                              <a:cs typeface="+mn-cs"/>
                            </a:rPr>
                            <m:t>𝑦</m:t>
                          </m:r>
                        </m:sub>
                      </m:sSub>
                    </m:oMath>
                  </m:oMathPara>
                </a14:m>
                <a:endParaRPr lang="ar-AE" dirty="0"/>
              </a:p>
              <a:p>
                <a:r>
                  <a:rPr lang="es-ES" dirty="0"/>
                  <a:t>Son los mismos parámetros </a:t>
                </a:r>
                <a:r>
                  <a:rPr lang="el-GR" dirty="0"/>
                  <a:t>θ</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ES" sz="1200" b="1" kern="1200" dirty="0">
                  <a:solidFill>
                    <a:schemeClr val="tx1"/>
                  </a:solidFill>
                  <a:effectLst/>
                  <a:latin typeface="+mn-lt"/>
                  <a:ea typeface="+mn-ea"/>
                  <a:cs typeface="+mn-cs"/>
                </a:endParaRPr>
              </a:p>
              <a:p>
                <a:r>
                  <a:rPr lang="es-ES" dirty="0"/>
                  <a:t>Ahora h₃ contiene información de:</a:t>
                </a:r>
              </a:p>
              <a:p>
                <a:r>
                  <a:rPr lang="es-ES" dirty="0"/>
                  <a:t>x₃ directamente</a:t>
                </a:r>
              </a:p>
              <a:p>
                <a:r>
                  <a:rPr lang="es-ES" dirty="0"/>
                  <a:t>x₂ indirectamente</a:t>
                </a:r>
              </a:p>
              <a:p>
                <a:r>
                  <a:rPr lang="es-ES" dirty="0"/>
                  <a:t>x₁ indirectamente</a:t>
                </a:r>
              </a:p>
              <a:p>
                <a:r>
                  <a:rPr lang="es-ES" dirty="0"/>
                  <a:t>Aquí está la memoria.</a:t>
                </a:r>
              </a:p>
              <a:p>
                <a:br>
                  <a:rPr lang="es-ES" dirty="0"/>
                </a:br>
                <a:endParaRPr lang="es-ES" dirty="0"/>
              </a:p>
              <a:p>
                <a:r>
                  <a:rPr lang="es-ES" b="1" dirty="0"/>
                  <a:t>Predicción</a:t>
                </a:r>
              </a:p>
              <a:p>
                <a:pPr/>
                <a14:m>
                  <m:oMathPara xmlns:m="http://schemas.openxmlformats.org/officeDocument/2006/math">
                    <m:oMathParaPr>
                      <m:jc m:val="centerGroup"/>
                    </m:oMathParaPr>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acc>
                            <m:accPr>
                              <m:chr m:val="̂"/>
                              <m:ctrlPr>
                                <a:rPr lang="ar-AE" sz="1200" i="1" kern="1200">
                                  <a:solidFill>
                                    <a:schemeClr val="tx1"/>
                                  </a:solidFill>
                                  <a:latin typeface="Cambria Math" panose="02040503050406030204" pitchFamily="18" charset="0"/>
                                  <a:ea typeface="+mn-ea"/>
                                  <a:cs typeface="+mn-cs"/>
                                </a:rPr>
                              </m:ctrlPr>
                            </m:accPr>
                            <m:e>
                              <m:r>
                                <a:rPr lang="ar-AE" sz="1200" i="1" kern="1200">
                                  <a:solidFill>
                                    <a:schemeClr val="tx1"/>
                                  </a:solidFill>
                                  <a:latin typeface="Cambria Math" panose="02040503050406030204" pitchFamily="18" charset="0"/>
                                  <a:ea typeface="+mn-ea"/>
                                  <a:cs typeface="+mn-cs"/>
                                </a:rPr>
                                <m:t>𝑥</m:t>
                              </m:r>
                            </m:e>
                          </m:acc>
                        </m:e>
                        <m:sub>
                          <m:r>
                            <a:rPr lang="ar-AE" sz="1200" i="0" kern="1200">
                              <a:solidFill>
                                <a:schemeClr val="tx1"/>
                              </a:solidFill>
                              <a:latin typeface="Cambria Math" panose="02040503050406030204" pitchFamily="18" charset="0"/>
                              <a:ea typeface="+mn-ea"/>
                              <a:cs typeface="+mn-cs"/>
                            </a:rPr>
                            <m:t>4</m:t>
                          </m:r>
                        </m:sub>
                      </m:sSub>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𝑔</m:t>
                      </m:r>
                      <m:d>
                        <m:dPr>
                          <m:ctrlPr>
                            <a:rPr lang="ar-AE" sz="1200" i="1" kern="1200">
                              <a:solidFill>
                                <a:schemeClr val="tx1"/>
                              </a:solidFill>
                              <a:latin typeface="Cambria Math" panose="02040503050406030204" pitchFamily="18" charset="0"/>
                              <a:ea typeface="+mn-ea"/>
                              <a:cs typeface="+mn-cs"/>
                            </a:rPr>
                          </m:ctrlPr>
                        </m:dPr>
                        <m:e>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𝑊</m:t>
                              </m:r>
                            </m:e>
                            <m:sub>
                              <m:r>
                                <a:rPr lang="ar-AE" sz="1200" i="1" kern="1200">
                                  <a:solidFill>
                                    <a:schemeClr val="tx1"/>
                                  </a:solidFill>
                                  <a:latin typeface="Cambria Math" panose="02040503050406030204" pitchFamily="18" charset="0"/>
                                  <a:ea typeface="+mn-ea"/>
                                  <a:cs typeface="+mn-cs"/>
                                </a:rPr>
                                <m:t>h</m:t>
                              </m:r>
                              <m:r>
                                <a:rPr lang="ar-AE" sz="1200" i="1" kern="1200">
                                  <a:solidFill>
                                    <a:schemeClr val="tx1"/>
                                  </a:solidFill>
                                  <a:latin typeface="Cambria Math" panose="02040503050406030204" pitchFamily="18" charset="0"/>
                                  <a:ea typeface="+mn-ea"/>
                                  <a:cs typeface="+mn-cs"/>
                                </a:rPr>
                                <m:t>𝑦</m:t>
                              </m:r>
                            </m:sub>
                          </m:sSub>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h</m:t>
                              </m:r>
                            </m:e>
                            <m:sub>
                              <m:r>
                                <a:rPr lang="ar-AE" sz="1200" i="0" kern="1200">
                                  <a:solidFill>
                                    <a:schemeClr val="tx1"/>
                                  </a:solidFill>
                                  <a:latin typeface="Cambria Math" panose="02040503050406030204" pitchFamily="18" charset="0"/>
                                  <a:ea typeface="+mn-ea"/>
                                  <a:cs typeface="+mn-cs"/>
                                </a:rPr>
                                <m:t>3</m:t>
                              </m:r>
                            </m:sub>
                          </m:sSub>
                          <m:r>
                            <a:rPr lang="ar-AE" sz="1200" i="0" kern="1200">
                              <a:solidFill>
                                <a:schemeClr val="tx1"/>
                              </a:solidFill>
                              <a:latin typeface="Cambria Math" panose="02040503050406030204" pitchFamily="18" charset="0"/>
                              <a:ea typeface="+mn-ea"/>
                              <a:cs typeface="+mn-cs"/>
                            </a:rPr>
                            <m:t>+</m:t>
                          </m:r>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𝑏</m:t>
                              </m:r>
                            </m:e>
                            <m:sub>
                              <m:r>
                                <a:rPr lang="ar-AE" sz="1200" i="1" kern="1200">
                                  <a:solidFill>
                                    <a:schemeClr val="tx1"/>
                                  </a:solidFill>
                                  <a:latin typeface="Cambria Math" panose="02040503050406030204" pitchFamily="18" charset="0"/>
                                  <a:ea typeface="+mn-ea"/>
                                  <a:cs typeface="+mn-cs"/>
                                </a:rPr>
                                <m:t>𝑦</m:t>
                              </m:r>
                            </m:sub>
                          </m:sSub>
                        </m:e>
                      </m:d>
                    </m:oMath>
                  </m:oMathPara>
                </a14:m>
                <a:endParaRPr lang="ar-AE" dirty="0"/>
              </a:p>
              <a:p>
                <a:r>
                  <a:rPr lang="es-ES" dirty="0"/>
                  <a:t>Donde g puede ser </a:t>
                </a:r>
                <a:r>
                  <a:rPr lang="es-ES" dirty="0" err="1"/>
                  <a:t>softmax</a:t>
                </a:r>
                <a:r>
                  <a:rPr lang="es-ES" dirty="0"/>
                  <a:t> si estamos prediciendo letras.</a:t>
                </a:r>
              </a:p>
              <a:p>
                <a:endParaRPr lang="es-E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s-ES" sz="1200" b="1"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s-ES" sz="1200" kern="1200" dirty="0">
                  <a:solidFill>
                    <a:schemeClr val="tx1"/>
                  </a:solidFill>
                  <a:effectLst/>
                  <a:latin typeface="+mn-lt"/>
                  <a:ea typeface="+mn-ea"/>
                  <a:cs typeface="+mn-cs"/>
                </a:endParaRPr>
              </a:p>
              <a:p>
                <a:endParaRPr lang="en-US" dirty="0"/>
              </a:p>
            </p:txBody>
          </p:sp>
        </mc:Choice>
        <mc:Fallback xmlns="">
          <p:sp>
            <p:nvSpPr>
              <p:cNvPr id="3" name="Marcador de notas 2">
                <a:extLst>
                  <a:ext uri="{FF2B5EF4-FFF2-40B4-BE49-F238E27FC236}">
                    <a16:creationId xmlns:a16="http://schemas.microsoft.com/office/drawing/2014/main" id="{A4698CEB-191B-1A18-713C-0C3243D18407}"/>
                  </a:ext>
                </a:extLst>
              </p:cNvPr>
              <p:cNvSpPr>
                <a:spLocks noGrp="1"/>
              </p:cNvSpPr>
              <p:nvPr>
                <p:ph type="body" idx="1"/>
              </p:nvPr>
            </p:nvSpPr>
            <p:spPr/>
            <p:txBody>
              <a:bodyPr/>
              <a:lstStyle/>
              <a:p>
                <a:r>
                  <a:rPr lang="es-ES" sz="1200" kern="1200" dirty="0">
                    <a:solidFill>
                      <a:schemeClr val="tx1"/>
                    </a:solidFill>
                    <a:effectLst/>
                    <a:latin typeface="+mn-lt"/>
                    <a:ea typeface="+mn-ea"/>
                    <a:cs typeface="+mn-cs"/>
                  </a:rPr>
                  <a:t>Y eso es de lo que se aprovechan estas redes neuronales recurrentes, son redes secuenciales.</a:t>
                </a:r>
              </a:p>
              <a:p>
                <a:endParaRPr lang="es-ES" sz="1200" kern="1200" dirty="0">
                  <a:solidFill>
                    <a:schemeClr val="tx1"/>
                  </a:solidFill>
                  <a:effectLst/>
                  <a:latin typeface="+mn-lt"/>
                  <a:ea typeface="+mn-ea"/>
                  <a:cs typeface="+mn-cs"/>
                </a:endParaRPr>
              </a:p>
              <a:p>
                <a:r>
                  <a:rPr lang="es-ES" sz="1200" kern="1200" dirty="0">
                    <a:solidFill>
                      <a:schemeClr val="tx1"/>
                    </a:solidFill>
                    <a:effectLst/>
                    <a:latin typeface="+mn-lt"/>
                    <a:ea typeface="+mn-ea"/>
                    <a:cs typeface="+mn-cs"/>
                  </a:rPr>
                  <a:t>Primero vamos a tener aquí el primer elemento de la cadena, el x1, que lo vamos a pasar a través de un peso hasta h1. </a:t>
                </a:r>
              </a:p>
              <a:p>
                <a:r>
                  <a:rPr lang="es-ES" sz="1200" kern="1200" dirty="0">
                    <a:solidFill>
                      <a:schemeClr val="tx1"/>
                    </a:solidFill>
                    <a:effectLst/>
                    <a:latin typeface="+mn-lt"/>
                    <a:ea typeface="+mn-ea"/>
                    <a:cs typeface="+mn-cs"/>
                  </a:rPr>
                  <a:t>Con ese h1, a través de otro peso, además de un sesgo también, lo vamos a llevar a x2. </a:t>
                </a:r>
              </a:p>
              <a:p>
                <a:r>
                  <a:rPr lang="es-ES" sz="1200" kern="1200" dirty="0">
                    <a:solidFill>
                      <a:schemeClr val="tx1"/>
                    </a:solidFill>
                    <a:effectLst/>
                    <a:latin typeface="+mn-lt"/>
                    <a:ea typeface="+mn-ea"/>
                    <a:cs typeface="+mn-cs"/>
                  </a:rPr>
                  <a:t>Aquí x2 va a jugar el papel de etiqueta.</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s-ES" sz="1200" kern="1200" dirty="0">
                    <a:solidFill>
                      <a:schemeClr val="tx1"/>
                    </a:solidFill>
                    <a:effectLst/>
                    <a:latin typeface="+mn-lt"/>
                    <a:ea typeface="+mn-ea"/>
                    <a:cs typeface="+mn-cs"/>
                  </a:rPr>
                  <a:t>Con esta h1 vamos a pasarla a esta neurona oculta. </a:t>
                </a:r>
              </a:p>
              <a:p>
                <a:pPr marL="0" marR="0" lvl="0" indent="0" algn="l" defTabSz="914400" rtl="0" eaLnBrk="1" fontAlgn="auto" latinLnBrk="0" hangingPunct="1">
                  <a:lnSpc>
                    <a:spcPct val="100000"/>
                  </a:lnSpc>
                  <a:spcBef>
                    <a:spcPts val="0"/>
                  </a:spcBef>
                  <a:spcAft>
                    <a:spcPts val="0"/>
                  </a:spcAft>
                  <a:buClrTx/>
                  <a:buSzTx/>
                  <a:buFontTx/>
                  <a:buNone/>
                  <a:tabLst/>
                  <a:defRPr/>
                </a:pPr>
                <a:r>
                  <a:rPr lang="es-ES" sz="1200" kern="1200" dirty="0">
                    <a:solidFill>
                      <a:schemeClr val="tx1"/>
                    </a:solidFill>
                    <a:effectLst/>
                    <a:latin typeface="+mn-lt"/>
                    <a:ea typeface="+mn-ea"/>
                    <a:cs typeface="+mn-cs"/>
                  </a:rPr>
                  <a:t>h2 tiene información tanto de x2 como de x1. Lo que pasa es que de x1 la información que tiene es indirecta porque viene a través de la neurona oculta h1. </a:t>
                </a:r>
              </a:p>
              <a:p>
                <a:pPr marL="0" marR="0" lvl="0" indent="0" algn="l" defTabSz="914400" rtl="0" eaLnBrk="1" fontAlgn="auto" latinLnBrk="0" hangingPunct="1">
                  <a:lnSpc>
                    <a:spcPct val="100000"/>
                  </a:lnSpc>
                  <a:spcBef>
                    <a:spcPts val="0"/>
                  </a:spcBef>
                  <a:spcAft>
                    <a:spcPts val="0"/>
                  </a:spcAft>
                  <a:buClrTx/>
                  <a:buSzTx/>
                  <a:buFontTx/>
                  <a:buNone/>
                  <a:tabLst/>
                  <a:defRPr/>
                </a:pPr>
                <a:r>
                  <a:rPr lang="es-ES" sz="1200" kern="1200" dirty="0">
                    <a:solidFill>
                      <a:schemeClr val="tx1"/>
                    </a:solidFill>
                    <a:effectLst/>
                    <a:latin typeface="+mn-lt"/>
                    <a:ea typeface="+mn-ea"/>
                    <a:cs typeface="+mn-cs"/>
                  </a:rPr>
                  <a:t>Cuando lleguemos a x3, x3 va a ir a h3 y h3 va a recibir información de h2 que a su vez ha recibido información de h1.</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E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s-ES" sz="1200" kern="1200" dirty="0">
                    <a:solidFill>
                      <a:schemeClr val="tx1"/>
                    </a:solidFill>
                    <a:effectLst/>
                    <a:latin typeface="+mn-lt"/>
                    <a:ea typeface="+mn-ea"/>
                    <a:cs typeface="+mn-cs"/>
                  </a:rPr>
                  <a:t>Por tanto, h3 tiene información indirecta de x2 y de x1. Con esta información, con memoria de los anteriores elementos de la secuencia, calcularemos el nuevo elemento de la secuencia x4 que en este caso sería la </a:t>
                </a:r>
                <a:r>
                  <a:rPr lang="es-ES" sz="1200" b="1" kern="1200" dirty="0">
                    <a:solidFill>
                      <a:schemeClr val="tx1"/>
                    </a:solidFill>
                    <a:effectLst/>
                    <a:latin typeface="+mn-lt"/>
                    <a:ea typeface="+mn-ea"/>
                    <a:cs typeface="+mn-cs"/>
                  </a:rPr>
                  <a:t>a</a:t>
                </a:r>
              </a:p>
              <a:p>
                <a:endParaRPr lang="es-ES" sz="1200" b="1" kern="1200" dirty="0">
                  <a:solidFill>
                    <a:schemeClr val="tx1"/>
                  </a:solidFill>
                  <a:effectLst/>
                  <a:latin typeface="+mn-lt"/>
                  <a:ea typeface="+mn-ea"/>
                  <a:cs typeface="+mn-cs"/>
                </a:endParaRPr>
              </a:p>
              <a:p>
                <a:endParaRPr lang="es-ES" b="1" dirty="0"/>
              </a:p>
              <a:p>
                <a:r>
                  <a:rPr lang="es-ES" dirty="0"/>
                  <a:t>Error típico </a:t>
                </a:r>
                <a:r>
                  <a:rPr lang="es-ES" dirty="0">
                    <a:sym typeface="Wingdings" panose="05000000000000000000" pitchFamily="2" charset="2"/>
                  </a:rPr>
                  <a:t> </a:t>
                </a:r>
                <a:r>
                  <a:rPr lang="es-ES" dirty="0"/>
                  <a:t>cada flecha tiene pesos distintos.</a:t>
                </a:r>
              </a:p>
              <a:p>
                <a:endParaRPr lang="es-ES" dirty="0"/>
              </a:p>
              <a:p>
                <a:r>
                  <a:rPr lang="es-ES" dirty="0"/>
                  <a:t>Los pesos son los mismos en cada paso</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ES" sz="1200" b="1" kern="1200" dirty="0">
                  <a:solidFill>
                    <a:schemeClr val="tx1"/>
                  </a:solidFill>
                  <a:effectLst/>
                  <a:latin typeface="+mn-lt"/>
                  <a:ea typeface="+mn-ea"/>
                  <a:cs typeface="+mn-cs"/>
                </a:endParaRPr>
              </a:p>
              <a:p>
                <a:r>
                  <a:rPr lang="es-ES" dirty="0"/>
                  <a:t>cada paso:</a:t>
                </a:r>
              </a:p>
              <a:p>
                <a:r>
                  <a:rPr lang="ar-AE" sz="1200" i="0" kern="1200">
                    <a:solidFill>
                      <a:schemeClr val="tx1"/>
                    </a:solidFill>
                    <a:latin typeface="+mn-lt"/>
                    <a:ea typeface="+mn-ea"/>
                    <a:cs typeface="+mn-cs"/>
                  </a:rPr>
                  <a:t>𝑊_𝑥ℎ,𝑊_ℎℎ,𝑊_ℎ𝑦</a:t>
                </a:r>
                <a:endParaRPr lang="ar-AE" dirty="0"/>
              </a:p>
              <a:p>
                <a:r>
                  <a:rPr lang="es-ES" dirty="0"/>
                  <a:t>Son los mismos parámetros </a:t>
                </a:r>
                <a:r>
                  <a:rPr lang="el-GR" dirty="0"/>
                  <a:t>θ</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ES" sz="1200" b="1"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s-ES" sz="1200" kern="1200" dirty="0">
                  <a:solidFill>
                    <a:schemeClr val="tx1"/>
                  </a:solidFill>
                  <a:effectLst/>
                  <a:latin typeface="+mn-lt"/>
                  <a:ea typeface="+mn-ea"/>
                  <a:cs typeface="+mn-cs"/>
                </a:endParaRPr>
              </a:p>
              <a:p>
                <a:endParaRPr lang="en-US" dirty="0"/>
              </a:p>
            </p:txBody>
          </p:sp>
        </mc:Fallback>
      </mc:AlternateContent>
      <p:sp>
        <p:nvSpPr>
          <p:cNvPr id="4" name="Marcador de número de diapositiva 3">
            <a:extLst>
              <a:ext uri="{FF2B5EF4-FFF2-40B4-BE49-F238E27FC236}">
                <a16:creationId xmlns:a16="http://schemas.microsoft.com/office/drawing/2014/main" id="{44C39551-42CB-7D32-33A1-89852B1DADF8}"/>
              </a:ext>
            </a:extLst>
          </p:cNvPr>
          <p:cNvSpPr>
            <a:spLocks noGrp="1"/>
          </p:cNvSpPr>
          <p:nvPr>
            <p:ph type="sldNum" sz="quarter" idx="5"/>
          </p:nvPr>
        </p:nvSpPr>
        <p:spPr/>
        <p:txBody>
          <a:bodyPr/>
          <a:lstStyle/>
          <a:p>
            <a:fld id="{19C9EB4C-06C7-441F-9B0A-620A2ACB834C}" type="slidenum">
              <a:rPr lang="es-ES" smtClean="0"/>
              <a:t>17</a:t>
            </a:fld>
            <a:endParaRPr lang="es-ES"/>
          </a:p>
        </p:txBody>
      </p:sp>
    </p:spTree>
    <p:extLst>
      <p:ext uri="{BB962C8B-B14F-4D97-AF65-F5344CB8AC3E}">
        <p14:creationId xmlns:p14="http://schemas.microsoft.com/office/powerpoint/2010/main" val="152167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01D54-4A5D-6E9F-1A30-B246279FDD0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4534037-990A-85D4-FE9B-EC77C3792803}"/>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Marcador de notas 2">
                <a:extLst>
                  <a:ext uri="{FF2B5EF4-FFF2-40B4-BE49-F238E27FC236}">
                    <a16:creationId xmlns:a16="http://schemas.microsoft.com/office/drawing/2014/main" id="{56CFD851-8B39-9173-D87F-9D642F266CFF}"/>
                  </a:ext>
                </a:extLst>
              </p:cNvPr>
              <p:cNvSpPr>
                <a:spLocks noGrp="1"/>
              </p:cNvSpPr>
              <p:nvPr>
                <p:ph type="body" idx="1"/>
              </p:nvPr>
            </p:nvSpPr>
            <p:spPr/>
            <p:txBody>
              <a:bodyPr/>
              <a:lstStyle/>
              <a:p>
                <a:endParaRPr lang="es-ES" dirty="0"/>
              </a:p>
              <a:p>
                <a:pPr marL="0" marR="0" lvl="0" indent="0" algn="l" defTabSz="914400" rtl="0" eaLnBrk="1" fontAlgn="auto" latinLnBrk="0" hangingPunct="1">
                  <a:lnSpc>
                    <a:spcPct val="100000"/>
                  </a:lnSpc>
                  <a:spcBef>
                    <a:spcPts val="0"/>
                  </a:spcBef>
                  <a:spcAft>
                    <a:spcPts val="0"/>
                  </a:spcAft>
                  <a:buClrTx/>
                  <a:buSzTx/>
                  <a:buFontTx/>
                  <a:buNone/>
                  <a:tabLst/>
                  <a:defRPr/>
                </a:pPr>
                <a:r>
                  <a:rPr lang="es-ES" sz="1200" kern="1200" dirty="0">
                    <a:solidFill>
                      <a:schemeClr val="tx1"/>
                    </a:solidFill>
                    <a:effectLst/>
                    <a:latin typeface="+mn-lt"/>
                    <a:ea typeface="+mn-ea"/>
                    <a:cs typeface="+mn-cs"/>
                  </a:rPr>
                  <a:t>Esta sería la parte fundamental, esta estructura básica es lo que se va a ir moviendo por la secuencia, con sus pesos y sesgos </a:t>
                </a:r>
                <a14:m>
                  <m:oMath xmlns:m="http://schemas.openxmlformats.org/officeDocument/2006/math">
                    <m:r>
                      <a:rPr lang="es-ES" sz="1200" b="1" i="1" kern="1200" smtClean="0">
                        <a:solidFill>
                          <a:schemeClr val="tx1"/>
                        </a:solidFill>
                        <a:latin typeface="Cambria Math" panose="02040503050406030204" pitchFamily="18" charset="0"/>
                      </a:rPr>
                      <m:t>(</m:t>
                    </m:r>
                    <m:sSub>
                      <m:sSubPr>
                        <m:ctrlPr>
                          <a:rPr lang="ar-AE" sz="1200" i="1" kern="1200" smtClean="0">
                            <a:solidFill>
                              <a:schemeClr val="tx1"/>
                            </a:solidFill>
                            <a:latin typeface="Cambria Math" panose="02040503050406030204" pitchFamily="18" charset="0"/>
                          </a:rPr>
                        </m:ctrlPr>
                      </m:sSubPr>
                      <m:e>
                        <m:r>
                          <a:rPr lang="ar-AE" sz="1200" i="1" kern="1200">
                            <a:solidFill>
                              <a:schemeClr val="tx1"/>
                            </a:solidFill>
                            <a:latin typeface="Cambria Math" panose="02040503050406030204" pitchFamily="18" charset="0"/>
                          </a:rPr>
                          <m:t>𝑊</m:t>
                        </m:r>
                      </m:e>
                      <m:sub>
                        <m:r>
                          <a:rPr lang="ar-AE" sz="1200" i="1" kern="1200">
                            <a:solidFill>
                              <a:schemeClr val="tx1"/>
                            </a:solidFill>
                            <a:latin typeface="Cambria Math" panose="02040503050406030204" pitchFamily="18" charset="0"/>
                          </a:rPr>
                          <m:t>𝑥</m:t>
                        </m:r>
                        <m:r>
                          <a:rPr lang="ar-AE" sz="1200" i="1" kern="1200">
                            <a:solidFill>
                              <a:schemeClr val="tx1"/>
                            </a:solidFill>
                            <a:latin typeface="Cambria Math" panose="02040503050406030204" pitchFamily="18" charset="0"/>
                          </a:rPr>
                          <m:t>h</m:t>
                        </m:r>
                      </m:sub>
                    </m:sSub>
                    <m:r>
                      <a:rPr lang="es-ES" sz="1200" b="1" i="1" kern="1200" smtClean="0">
                        <a:solidFill>
                          <a:schemeClr val="tx1"/>
                        </a:solidFill>
                        <a:latin typeface="Cambria Math" panose="02040503050406030204" pitchFamily="18" charset="0"/>
                      </a:rPr>
                      <m:t>, </m:t>
                    </m:r>
                    <m:sSub>
                      <m:sSubPr>
                        <m:ctrlPr>
                          <a:rPr lang="ar-AE" sz="1200" i="1" kern="1200">
                            <a:solidFill>
                              <a:schemeClr val="tx1"/>
                            </a:solidFill>
                            <a:latin typeface="Cambria Math" panose="02040503050406030204" pitchFamily="18" charset="0"/>
                          </a:rPr>
                        </m:ctrlPr>
                      </m:sSubPr>
                      <m:e>
                        <m:r>
                          <a:rPr lang="ar-AE" sz="1200" i="1" kern="1200">
                            <a:solidFill>
                              <a:schemeClr val="tx1"/>
                            </a:solidFill>
                            <a:latin typeface="Cambria Math" panose="02040503050406030204" pitchFamily="18" charset="0"/>
                          </a:rPr>
                          <m:t>𝑊</m:t>
                        </m:r>
                      </m:e>
                      <m:sub>
                        <m:r>
                          <a:rPr lang="ar-AE" sz="1200" i="1" kern="1200">
                            <a:solidFill>
                              <a:schemeClr val="tx1"/>
                            </a:solidFill>
                            <a:latin typeface="Cambria Math" panose="02040503050406030204" pitchFamily="18" charset="0"/>
                          </a:rPr>
                          <m:t>hh</m:t>
                        </m:r>
                      </m:sub>
                    </m:sSub>
                    <m:r>
                      <a:rPr lang="es-ES" sz="1200" b="1" i="1" kern="1200" smtClean="0">
                        <a:solidFill>
                          <a:schemeClr val="tx1"/>
                        </a:solidFill>
                        <a:latin typeface="Cambria Math" panose="02040503050406030204" pitchFamily="18" charset="0"/>
                      </a:rPr>
                      <m:t>, </m:t>
                    </m:r>
                    <m:sSub>
                      <m:sSubPr>
                        <m:ctrlPr>
                          <a:rPr lang="ar-AE" i="1">
                            <a:solidFill>
                              <a:schemeClr val="tx1"/>
                            </a:solidFill>
                            <a:latin typeface="Cambria Math" panose="02040503050406030204" pitchFamily="18" charset="0"/>
                          </a:rPr>
                        </m:ctrlPr>
                      </m:sSubPr>
                      <m:e>
                        <m:r>
                          <a:rPr lang="ar-AE" i="1">
                            <a:solidFill>
                              <a:schemeClr val="tx1"/>
                            </a:solidFill>
                            <a:latin typeface="Cambria Math" panose="02040503050406030204" pitchFamily="18" charset="0"/>
                          </a:rPr>
                          <m:t>𝑊</m:t>
                        </m:r>
                      </m:e>
                      <m:sub>
                        <m:r>
                          <a:rPr lang="ar-AE" i="1">
                            <a:solidFill>
                              <a:schemeClr val="tx1"/>
                            </a:solidFill>
                            <a:latin typeface="Cambria Math" panose="02040503050406030204" pitchFamily="18" charset="0"/>
                          </a:rPr>
                          <m:t>h</m:t>
                        </m:r>
                        <m:r>
                          <a:rPr lang="es-ES" b="1" i="1" smtClean="0">
                            <a:solidFill>
                              <a:schemeClr val="tx1"/>
                            </a:solidFill>
                            <a:latin typeface="Cambria Math" panose="02040503050406030204" pitchFamily="18" charset="0"/>
                          </a:rPr>
                          <m:t>𝒚</m:t>
                        </m:r>
                      </m:sub>
                    </m:sSub>
                    <m:r>
                      <a:rPr lang="es-ES" b="1" i="1" smtClean="0">
                        <a:solidFill>
                          <a:schemeClr val="tx1"/>
                        </a:solidFill>
                        <a:latin typeface="Cambria Math" panose="02040503050406030204" pitchFamily="18" charset="0"/>
                      </a:rPr>
                      <m:t>,</m:t>
                    </m:r>
                    <m:sSub>
                      <m:sSubPr>
                        <m:ctrlPr>
                          <a:rPr lang="ar-AE" i="1">
                            <a:solidFill>
                              <a:schemeClr val="tx1"/>
                            </a:solidFill>
                            <a:latin typeface="Cambria Math" panose="02040503050406030204" pitchFamily="18" charset="0"/>
                          </a:rPr>
                        </m:ctrlPr>
                      </m:sSubPr>
                      <m:e>
                        <m:r>
                          <a:rPr lang="ar-AE" i="1">
                            <a:solidFill>
                              <a:schemeClr val="tx1"/>
                            </a:solidFill>
                            <a:latin typeface="Cambria Math" panose="02040503050406030204" pitchFamily="18" charset="0"/>
                          </a:rPr>
                          <m:t>𝑏</m:t>
                        </m:r>
                      </m:e>
                      <m:sub>
                        <m:r>
                          <a:rPr lang="ar-AE" i="1">
                            <a:solidFill>
                              <a:schemeClr val="tx1"/>
                            </a:solidFill>
                            <a:latin typeface="Cambria Math" panose="02040503050406030204" pitchFamily="18" charset="0"/>
                          </a:rPr>
                          <m:t>h</m:t>
                        </m:r>
                      </m:sub>
                    </m:sSub>
                    <m:r>
                      <a:rPr lang="es-ES">
                        <a:solidFill>
                          <a:schemeClr val="tx1"/>
                        </a:solidFill>
                        <a:latin typeface="Cambria Math" panose="02040503050406030204" pitchFamily="18" charset="0"/>
                      </a:rPr>
                      <m:t>,</m:t>
                    </m:r>
                    <m:sSub>
                      <m:sSubPr>
                        <m:ctrlPr>
                          <a:rPr lang="ar-AE" i="1">
                            <a:solidFill>
                              <a:schemeClr val="tx1"/>
                            </a:solidFill>
                            <a:latin typeface="Cambria Math" panose="02040503050406030204" pitchFamily="18" charset="0"/>
                          </a:rPr>
                        </m:ctrlPr>
                      </m:sSubPr>
                      <m:e>
                        <m:r>
                          <a:rPr lang="ar-AE" i="1">
                            <a:solidFill>
                              <a:schemeClr val="tx1"/>
                            </a:solidFill>
                            <a:latin typeface="Cambria Math" panose="02040503050406030204" pitchFamily="18" charset="0"/>
                          </a:rPr>
                          <m:t>𝑏</m:t>
                        </m:r>
                      </m:e>
                      <m:sub>
                        <m:r>
                          <a:rPr lang="es-ES" b="0" i="1">
                            <a:solidFill>
                              <a:schemeClr val="tx1"/>
                            </a:solidFill>
                            <a:latin typeface="Cambria Math" panose="02040503050406030204" pitchFamily="18" charset="0"/>
                          </a:rPr>
                          <m:t>𝑦</m:t>
                        </m:r>
                      </m:sub>
                    </m:sSub>
                    <m:r>
                      <a:rPr lang="es-ES" b="0" i="1" smtClean="0">
                        <a:solidFill>
                          <a:schemeClr val="tx1"/>
                        </a:solidFill>
                        <a:latin typeface="Cambria Math" panose="02040503050406030204" pitchFamily="18" charset="0"/>
                      </a:rPr>
                      <m:t>)</m:t>
                    </m:r>
                  </m:oMath>
                </a14:m>
                <a:endParaRPr lang="es-ES" dirty="0"/>
              </a:p>
              <a:p>
                <a:pPr/>
                <a14:m>
                  <m:oMathPara xmlns:m="http://schemas.openxmlformats.org/officeDocument/2006/math">
                    <m:oMathParaPr>
                      <m:jc m:val="centerGroup"/>
                    </m:oMathParaPr>
                    <m:oMath xmlns:m="http://schemas.openxmlformats.org/officeDocument/2006/math">
                      <m:sSub>
                        <m:sSubPr>
                          <m:ctrlPr>
                            <a:rPr lang="ar-AE" i="1">
                              <a:solidFill>
                                <a:schemeClr val="tx1"/>
                              </a:solidFill>
                              <a:latin typeface="Cambria Math" panose="02040503050406030204" pitchFamily="18" charset="0"/>
                            </a:rPr>
                          </m:ctrlPr>
                        </m:sSubPr>
                        <m:e>
                          <m:r>
                            <a:rPr lang="ar-AE" i="1">
                              <a:solidFill>
                                <a:schemeClr val="tx1"/>
                              </a:solidFill>
                              <a:latin typeface="Cambria Math" panose="02040503050406030204" pitchFamily="18" charset="0"/>
                            </a:rPr>
                            <m:t>𝑏</m:t>
                          </m:r>
                        </m:e>
                        <m:sub>
                          <m:r>
                            <a:rPr lang="ar-AE" i="1">
                              <a:solidFill>
                                <a:schemeClr val="tx1"/>
                              </a:solidFill>
                              <a:latin typeface="Cambria Math" panose="02040503050406030204" pitchFamily="18" charset="0"/>
                            </a:rPr>
                            <m:t>h</m:t>
                          </m:r>
                        </m:sub>
                      </m:sSub>
                    </m:oMath>
                  </m:oMathPara>
                </a14:m>
                <a:endParaRPr lang="es-ES" sz="1200" kern="1200" dirty="0">
                  <a:solidFill>
                    <a:schemeClr val="tx1"/>
                  </a:solidFill>
                  <a:effectLst/>
                  <a:latin typeface="+mn-lt"/>
                  <a:ea typeface="+mn-ea"/>
                  <a:cs typeface="+mn-cs"/>
                </a:endParaRPr>
              </a:p>
              <a:p>
                <a:endParaRPr lang="es-ES" sz="1200" kern="1200" dirty="0">
                  <a:solidFill>
                    <a:schemeClr val="tx1"/>
                  </a:solidFill>
                  <a:effectLst/>
                  <a:latin typeface="+mn-lt"/>
                  <a:ea typeface="+mn-ea"/>
                  <a:cs typeface="+mn-cs"/>
                </a:endParaRPr>
              </a:p>
              <a:p>
                <a:r>
                  <a:rPr lang="es-ES" sz="1200" kern="1200" dirty="0">
                    <a:solidFill>
                      <a:schemeClr val="tx1"/>
                    </a:solidFill>
                    <a:effectLst/>
                    <a:latin typeface="+mn-lt"/>
                    <a:ea typeface="+mn-ea"/>
                    <a:cs typeface="+mn-cs"/>
                  </a:rPr>
                  <a:t>¿cómo sería esto matemáticamente? </a:t>
                </a:r>
              </a:p>
              <a:p>
                <a:endParaRPr lang="es-ES" sz="1200" kern="1200" dirty="0">
                  <a:solidFill>
                    <a:schemeClr val="tx1"/>
                  </a:solidFill>
                  <a:effectLst/>
                  <a:latin typeface="+mn-lt"/>
                  <a:ea typeface="+mn-ea"/>
                  <a:cs typeface="+mn-cs"/>
                </a:endParaRPr>
              </a:p>
              <a:p>
                <a:endParaRPr lang="es-ES" sz="1200" kern="1200" dirty="0">
                  <a:solidFill>
                    <a:schemeClr val="tx1"/>
                  </a:solidFill>
                  <a:effectLst/>
                  <a:latin typeface="+mn-lt"/>
                  <a:ea typeface="+mn-ea"/>
                  <a:cs typeface="+mn-cs"/>
                </a:endParaRPr>
              </a:p>
              <a:p>
                <a:r>
                  <a:rPr lang="es-ES" sz="1200" kern="1200" dirty="0">
                    <a:solidFill>
                      <a:schemeClr val="tx1"/>
                    </a:solidFill>
                    <a:effectLst/>
                    <a:latin typeface="+mn-lt"/>
                    <a:ea typeface="+mn-ea"/>
                    <a:cs typeface="+mn-cs"/>
                  </a:rPr>
                  <a:t>Vamos a considerar que X es el input, Y el output, tendríamos:</a:t>
                </a:r>
              </a:p>
              <a:p>
                <a:r>
                  <a:rPr lang="es-ES" sz="1200" kern="1200" dirty="0">
                    <a:solidFill>
                      <a:schemeClr val="tx1"/>
                    </a:solidFill>
                    <a:effectLst/>
                    <a:latin typeface="+mn-lt"/>
                    <a:ea typeface="+mn-ea"/>
                    <a:cs typeface="+mn-cs"/>
                  </a:rPr>
                  <a:t>el input se multiplica por un peso </a:t>
                </a:r>
                <a14:m>
                  <m:oMath xmlns:m="http://schemas.openxmlformats.org/officeDocument/2006/math">
                    <m:sSub>
                      <m:sSubPr>
                        <m:ctrlPr>
                          <a:rPr lang="ar-AE" sz="1200" i="1" kern="1200" smtClean="0">
                            <a:solidFill>
                              <a:schemeClr val="tx1"/>
                            </a:solidFill>
                            <a:latin typeface="Cambria Math" panose="02040503050406030204" pitchFamily="18" charset="0"/>
                          </a:rPr>
                        </m:ctrlPr>
                      </m:sSubPr>
                      <m:e>
                        <m:r>
                          <a:rPr lang="ar-AE" sz="1200" i="1" kern="1200">
                            <a:solidFill>
                              <a:schemeClr val="tx1"/>
                            </a:solidFill>
                            <a:latin typeface="Cambria Math" panose="02040503050406030204" pitchFamily="18" charset="0"/>
                          </a:rPr>
                          <m:t>𝑊</m:t>
                        </m:r>
                      </m:e>
                      <m:sub>
                        <m:r>
                          <a:rPr lang="ar-AE" sz="1200" i="1" kern="1200">
                            <a:solidFill>
                              <a:schemeClr val="tx1"/>
                            </a:solidFill>
                            <a:latin typeface="Cambria Math" panose="02040503050406030204" pitchFamily="18" charset="0"/>
                          </a:rPr>
                          <m:t>𝑥</m:t>
                        </m:r>
                        <m:r>
                          <a:rPr lang="ar-AE" sz="1200" i="1" kern="1200" smtClean="0">
                            <a:solidFill>
                              <a:schemeClr val="tx1"/>
                            </a:solidFill>
                            <a:latin typeface="Cambria Math" panose="02040503050406030204" pitchFamily="18" charset="0"/>
                          </a:rPr>
                          <m:t>h</m:t>
                        </m:r>
                      </m:sub>
                    </m:sSub>
                  </m:oMath>
                </a14:m>
                <a:r>
                  <a:rPr lang="es-ES" sz="1200" kern="1200" dirty="0">
                    <a:solidFill>
                      <a:schemeClr val="tx1"/>
                    </a:solidFill>
                    <a:effectLst/>
                    <a:latin typeface="+mn-lt"/>
                    <a:ea typeface="+mn-ea"/>
                    <a:cs typeface="+mn-cs"/>
                  </a:rPr>
                  <a:t>  y el h1 por </a:t>
                </a:r>
                <a14:m>
                  <m:oMath xmlns:m="http://schemas.openxmlformats.org/officeDocument/2006/math">
                    <m:sSub>
                      <m:sSubPr>
                        <m:ctrlPr>
                          <a:rPr lang="ar-AE" sz="1200" i="1" kern="1200">
                            <a:solidFill>
                              <a:schemeClr val="tx1"/>
                            </a:solidFill>
                            <a:latin typeface="Cambria Math" panose="02040503050406030204" pitchFamily="18" charset="0"/>
                          </a:rPr>
                        </m:ctrlPr>
                      </m:sSubPr>
                      <m:e>
                        <m:r>
                          <a:rPr lang="ar-AE" sz="1200" i="1" kern="1200">
                            <a:solidFill>
                              <a:schemeClr val="tx1"/>
                            </a:solidFill>
                            <a:latin typeface="Cambria Math" panose="02040503050406030204" pitchFamily="18" charset="0"/>
                          </a:rPr>
                          <m:t>𝑊</m:t>
                        </m:r>
                      </m:e>
                      <m:sub>
                        <m:r>
                          <a:rPr lang="ar-AE" sz="1200" i="1" kern="1200">
                            <a:solidFill>
                              <a:schemeClr val="tx1"/>
                            </a:solidFill>
                            <a:latin typeface="Cambria Math" panose="02040503050406030204" pitchFamily="18" charset="0"/>
                          </a:rPr>
                          <m:t>hh</m:t>
                        </m:r>
                      </m:sub>
                    </m:sSub>
                    <m:r>
                      <a:rPr lang="es-ES" b="1" i="1" smtClean="0">
                        <a:solidFill>
                          <a:schemeClr val="tx1"/>
                        </a:solidFill>
                        <a:latin typeface="Cambria Math" panose="02040503050406030204" pitchFamily="18" charset="0"/>
                      </a:rPr>
                      <m:t>,</m:t>
                    </m:r>
                    <m:r>
                      <a:rPr lang="es-ES" b="0" i="1" smtClean="0">
                        <a:solidFill>
                          <a:schemeClr val="tx1"/>
                        </a:solidFill>
                        <a:latin typeface="Cambria Math" panose="02040503050406030204" pitchFamily="18" charset="0"/>
                      </a:rPr>
                      <m:t> </m:t>
                    </m:r>
                  </m:oMath>
                </a14:m>
                <a:r>
                  <a:rPr lang="es-ES" sz="1200" kern="1200" dirty="0">
                    <a:solidFill>
                      <a:schemeClr val="tx1"/>
                    </a:solidFill>
                    <a:effectLst/>
                    <a:latin typeface="+mn-lt"/>
                    <a:ea typeface="+mn-ea"/>
                    <a:cs typeface="+mn-cs"/>
                  </a:rPr>
                  <a:t>se le suma</a:t>
                </a:r>
                <a:r>
                  <a:rPr lang="es-ES" sz="1200" kern="1200" baseline="0" dirty="0">
                    <a:solidFill>
                      <a:schemeClr val="tx1"/>
                    </a:solidFill>
                    <a:effectLst/>
                    <a:latin typeface="+mn-lt"/>
                    <a:ea typeface="+mn-ea"/>
                    <a:cs typeface="+mn-cs"/>
                  </a:rPr>
                  <a:t> un sesgo </a:t>
                </a:r>
                <a14:m>
                  <m:oMath xmlns:m="http://schemas.openxmlformats.org/officeDocument/2006/math">
                    <m:sSub>
                      <m:sSubPr>
                        <m:ctrlPr>
                          <a:rPr lang="ar-AE" i="1" smtClean="0">
                            <a:solidFill>
                              <a:schemeClr val="tx1"/>
                            </a:solidFill>
                            <a:latin typeface="Cambria Math" panose="02040503050406030204" pitchFamily="18" charset="0"/>
                          </a:rPr>
                        </m:ctrlPr>
                      </m:sSubPr>
                      <m:e>
                        <m:r>
                          <a:rPr lang="ar-AE" i="1">
                            <a:solidFill>
                              <a:schemeClr val="tx1"/>
                            </a:solidFill>
                            <a:latin typeface="Cambria Math" panose="02040503050406030204" pitchFamily="18" charset="0"/>
                          </a:rPr>
                          <m:t>𝑏</m:t>
                        </m:r>
                      </m:e>
                      <m:sub>
                        <m:r>
                          <a:rPr lang="ar-AE" i="1">
                            <a:solidFill>
                              <a:schemeClr val="tx1"/>
                            </a:solidFill>
                            <a:latin typeface="Cambria Math" panose="02040503050406030204" pitchFamily="18" charset="0"/>
                          </a:rPr>
                          <m:t>h</m:t>
                        </m:r>
                      </m:sub>
                    </m:sSub>
                  </m:oMath>
                </a14:m>
                <a:r>
                  <a:rPr lang="es-ES" sz="1200" kern="1200" dirty="0">
                    <a:solidFill>
                      <a:schemeClr val="tx1"/>
                    </a:solidFill>
                    <a:effectLst/>
                    <a:latin typeface="+mn-lt"/>
                    <a:ea typeface="+mn-ea"/>
                    <a:cs typeface="+mn-cs"/>
                  </a:rPr>
                  <a:t>, y todo esto se va a pasar por una función de activación. </a:t>
                </a:r>
              </a:p>
              <a:p>
                <a:endParaRPr lang="es-ES" sz="1200" kern="1200" dirty="0">
                  <a:solidFill>
                    <a:schemeClr val="tx1"/>
                  </a:solidFill>
                  <a:effectLst/>
                  <a:latin typeface="+mn-lt"/>
                  <a:ea typeface="+mn-ea"/>
                  <a:cs typeface="+mn-cs"/>
                </a:endParaRPr>
              </a:p>
              <a:p>
                <a:endParaRPr lang="es-E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ar-AE" sz="1200" i="1" kern="1200" smtClean="0">
                              <a:solidFill>
                                <a:schemeClr val="tx1"/>
                              </a:solidFill>
                              <a:latin typeface="Cambria Math" panose="02040503050406030204" pitchFamily="18" charset="0"/>
                            </a:rPr>
                          </m:ctrlPr>
                        </m:sSubPr>
                        <m:e>
                          <m:r>
                            <a:rPr lang="es-ES" sz="1200" b="0" i="1" kern="1200" smtClean="0">
                              <a:solidFill>
                                <a:schemeClr val="tx1"/>
                              </a:solidFill>
                              <a:latin typeface="Cambria Math" panose="02040503050406030204" pitchFamily="18" charset="0"/>
                            </a:rPr>
                            <m:t>𝑦</m:t>
                          </m:r>
                        </m:e>
                        <m:sub>
                          <m:r>
                            <a:rPr lang="es-ES" sz="1200" b="0" i="1" kern="1200" smtClean="0">
                              <a:solidFill>
                                <a:schemeClr val="tx1"/>
                              </a:solidFill>
                              <a:latin typeface="Cambria Math" panose="02040503050406030204" pitchFamily="18" charset="0"/>
                            </a:rPr>
                            <m:t> </m:t>
                          </m:r>
                        </m:sub>
                      </m:sSub>
                      <m:r>
                        <a:rPr lang="ar-AE" sz="1200" kern="1200">
                          <a:solidFill>
                            <a:schemeClr val="tx1"/>
                          </a:solidFill>
                          <a:latin typeface="Cambria Math" panose="02040503050406030204" pitchFamily="18" charset="0"/>
                        </a:rPr>
                        <m:t>=</m:t>
                      </m:r>
                      <m:sSub>
                        <m:sSubPr>
                          <m:ctrlPr>
                            <a:rPr lang="ar-AE" sz="1200" i="1" kern="1200">
                              <a:solidFill>
                                <a:schemeClr val="tx1"/>
                              </a:solidFill>
                              <a:latin typeface="Cambria Math" panose="02040503050406030204" pitchFamily="18" charset="0"/>
                            </a:rPr>
                          </m:ctrlPr>
                        </m:sSubPr>
                        <m:e>
                          <m:r>
                            <a:rPr lang="ar-AE" sz="1200" i="1" kern="1200">
                              <a:solidFill>
                                <a:schemeClr val="tx1"/>
                              </a:solidFill>
                              <a:latin typeface="Cambria Math" panose="02040503050406030204" pitchFamily="18" charset="0"/>
                            </a:rPr>
                            <m:t>𝑊</m:t>
                          </m:r>
                        </m:e>
                        <m:sub>
                          <m:r>
                            <a:rPr lang="ar-AE" sz="1200" i="1" kern="1200">
                              <a:solidFill>
                                <a:schemeClr val="tx1"/>
                              </a:solidFill>
                              <a:latin typeface="Cambria Math" panose="02040503050406030204" pitchFamily="18" charset="0"/>
                            </a:rPr>
                            <m:t>h</m:t>
                          </m:r>
                          <m:r>
                            <a:rPr lang="es-ES" sz="1200" b="0" i="1" kern="1200" smtClean="0">
                              <a:solidFill>
                                <a:schemeClr val="tx1"/>
                              </a:solidFill>
                              <a:latin typeface="Cambria Math" panose="02040503050406030204" pitchFamily="18" charset="0"/>
                            </a:rPr>
                            <m:t>𝑦</m:t>
                          </m:r>
                        </m:sub>
                      </m:sSub>
                      <m:sSub>
                        <m:sSubPr>
                          <m:ctrlPr>
                            <a:rPr lang="ar-AE" sz="1200" i="1" kern="1200">
                              <a:solidFill>
                                <a:schemeClr val="tx1"/>
                              </a:solidFill>
                              <a:latin typeface="Cambria Math" panose="02040503050406030204" pitchFamily="18" charset="0"/>
                            </a:rPr>
                          </m:ctrlPr>
                        </m:sSubPr>
                        <m:e>
                          <m:r>
                            <a:rPr lang="es-ES" sz="1200" b="0" i="1" kern="1200" smtClean="0">
                              <a:solidFill>
                                <a:schemeClr val="tx1"/>
                              </a:solidFill>
                              <a:latin typeface="Cambria Math" panose="02040503050406030204" pitchFamily="18" charset="0"/>
                            </a:rPr>
                            <m:t>h</m:t>
                          </m:r>
                        </m:e>
                        <m:sub>
                          <m:r>
                            <a:rPr lang="es-ES" sz="1200" b="0" i="0" kern="1200" smtClean="0">
                              <a:solidFill>
                                <a:schemeClr val="tx1"/>
                              </a:solidFill>
                              <a:latin typeface="Cambria Math" panose="02040503050406030204" pitchFamily="18" charset="0"/>
                            </a:rPr>
                            <m:t>2</m:t>
                          </m:r>
                        </m:sub>
                      </m:sSub>
                      <m:r>
                        <a:rPr lang="ar-AE" sz="1200" kern="1200">
                          <a:solidFill>
                            <a:schemeClr val="tx1"/>
                          </a:solidFill>
                          <a:latin typeface="Cambria Math" panose="02040503050406030204" pitchFamily="18" charset="0"/>
                        </a:rPr>
                        <m:t>+</m:t>
                      </m:r>
                      <m:sSub>
                        <m:sSubPr>
                          <m:ctrlPr>
                            <a:rPr lang="ar-AE" sz="1200" i="1" kern="1200">
                              <a:solidFill>
                                <a:schemeClr val="tx1"/>
                              </a:solidFill>
                              <a:latin typeface="Cambria Math" panose="02040503050406030204" pitchFamily="18" charset="0"/>
                            </a:rPr>
                          </m:ctrlPr>
                        </m:sSubPr>
                        <m:e>
                          <m:r>
                            <a:rPr lang="ar-AE" sz="1200" i="1" kern="1200">
                              <a:solidFill>
                                <a:schemeClr val="tx1"/>
                              </a:solidFill>
                              <a:latin typeface="Cambria Math" panose="02040503050406030204" pitchFamily="18" charset="0"/>
                            </a:rPr>
                            <m:t>𝑏</m:t>
                          </m:r>
                        </m:e>
                        <m:sub>
                          <m:r>
                            <a:rPr lang="es-ES" sz="1200" b="0" i="1" kern="1200" smtClean="0">
                              <a:solidFill>
                                <a:schemeClr val="tx1"/>
                              </a:solidFill>
                              <a:latin typeface="Cambria Math" panose="02040503050406030204" pitchFamily="18" charset="0"/>
                            </a:rPr>
                            <m:t>𝑦</m:t>
                          </m:r>
                        </m:sub>
                      </m:sSub>
                      <m:r>
                        <a:rPr lang="es-ES" sz="1200" i="1" kern="1200">
                          <a:solidFill>
                            <a:schemeClr val="tx1"/>
                          </a:solidFill>
                          <a:latin typeface="Cambria Math" panose="02040503050406030204" pitchFamily="18" charset="0"/>
                        </a:rPr>
                        <m:t> </m:t>
                      </m:r>
                    </m:oMath>
                  </m:oMathPara>
                </a14:m>
                <a:endParaRPr lang="es-ES"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s-E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s-ES" sz="1200" kern="1200" dirty="0">
                    <a:solidFill>
                      <a:schemeClr val="tx1"/>
                    </a:solidFill>
                    <a:effectLst/>
                    <a:latin typeface="+mn-lt"/>
                    <a:ea typeface="+mn-ea"/>
                    <a:cs typeface="+mn-cs"/>
                  </a:rPr>
                  <a:t>Y el output, que va a tener este peso </a:t>
                </a:r>
                <a14:m>
                  <m:oMath xmlns:m="http://schemas.openxmlformats.org/officeDocument/2006/math">
                    <m:sSub>
                      <m:sSubPr>
                        <m:ctrlPr>
                          <a:rPr lang="ar-AE" sz="1200" i="1" kern="1200">
                            <a:solidFill>
                              <a:schemeClr val="tx1"/>
                            </a:solidFill>
                            <a:latin typeface="Cambria Math" panose="02040503050406030204" pitchFamily="18" charset="0"/>
                          </a:rPr>
                        </m:ctrlPr>
                      </m:sSubPr>
                      <m:e>
                        <m:r>
                          <a:rPr lang="ar-AE" sz="1200" i="1" kern="1200">
                            <a:solidFill>
                              <a:schemeClr val="tx1"/>
                            </a:solidFill>
                            <a:latin typeface="Cambria Math" panose="02040503050406030204" pitchFamily="18" charset="0"/>
                          </a:rPr>
                          <m:t>𝑊</m:t>
                        </m:r>
                      </m:e>
                      <m:sub>
                        <m:r>
                          <a:rPr lang="ar-AE" sz="1200" i="1" kern="1200">
                            <a:solidFill>
                              <a:schemeClr val="tx1"/>
                            </a:solidFill>
                            <a:latin typeface="Cambria Math" panose="02040503050406030204" pitchFamily="18" charset="0"/>
                          </a:rPr>
                          <m:t>h</m:t>
                        </m:r>
                        <m:r>
                          <a:rPr lang="es-ES" sz="1200" b="0" i="1" kern="1200" smtClean="0">
                            <a:solidFill>
                              <a:schemeClr val="tx1"/>
                            </a:solidFill>
                            <a:latin typeface="Cambria Math" panose="02040503050406030204" pitchFamily="18" charset="0"/>
                          </a:rPr>
                          <m:t>𝑦</m:t>
                        </m:r>
                      </m:sub>
                    </m:sSub>
                  </m:oMath>
                </a14:m>
                <a:r>
                  <a:rPr lang="es-ES" sz="1200" kern="1200" dirty="0">
                    <a:solidFill>
                      <a:schemeClr val="tx1"/>
                    </a:solidFill>
                    <a:effectLst/>
                    <a:latin typeface="+mn-lt"/>
                    <a:ea typeface="+mn-ea"/>
                    <a:cs typeface="+mn-cs"/>
                  </a:rPr>
                  <a:t> multiplicado por esta neurona </a:t>
                </a:r>
                <a14:m>
                  <m:oMath xmlns:m="http://schemas.openxmlformats.org/officeDocument/2006/math">
                    <m:sSub>
                      <m:sSubPr>
                        <m:ctrlPr>
                          <a:rPr lang="ar-AE" sz="1200" i="1" kern="1200" smtClean="0">
                            <a:solidFill>
                              <a:schemeClr val="tx1"/>
                            </a:solidFill>
                            <a:latin typeface="Cambria Math" panose="02040503050406030204" pitchFamily="18" charset="0"/>
                          </a:rPr>
                        </m:ctrlPr>
                      </m:sSubPr>
                      <m:e>
                        <m:r>
                          <a:rPr lang="es-ES" sz="1200" b="0" i="1" kern="1200" smtClean="0">
                            <a:solidFill>
                              <a:schemeClr val="tx1"/>
                            </a:solidFill>
                            <a:latin typeface="Cambria Math" panose="02040503050406030204" pitchFamily="18" charset="0"/>
                          </a:rPr>
                          <m:t>h</m:t>
                        </m:r>
                      </m:e>
                      <m:sub>
                        <m:r>
                          <a:rPr lang="es-ES" sz="1200" b="0" i="0" kern="1200" smtClean="0">
                            <a:solidFill>
                              <a:schemeClr val="tx1"/>
                            </a:solidFill>
                            <a:latin typeface="Cambria Math" panose="02040503050406030204" pitchFamily="18" charset="0"/>
                          </a:rPr>
                          <m:t>2</m:t>
                        </m:r>
                      </m:sub>
                    </m:sSub>
                  </m:oMath>
                </a14:m>
                <a:r>
                  <a:rPr lang="es-ES" sz="1200" kern="1200" dirty="0">
                    <a:solidFill>
                      <a:schemeClr val="tx1"/>
                    </a:solidFill>
                    <a:effectLst/>
                    <a:latin typeface="+mn-lt"/>
                    <a:ea typeface="+mn-ea"/>
                    <a:cs typeface="+mn-cs"/>
                  </a:rPr>
                  <a:t>, y se le va a sumar este sesgo </a:t>
                </a:r>
                <a14:m>
                  <m:oMath xmlns:m="http://schemas.openxmlformats.org/officeDocument/2006/math">
                    <m:sSub>
                      <m:sSubPr>
                        <m:ctrlPr>
                          <a:rPr lang="ar-AE" sz="1200" i="1" kern="1200" smtClean="0">
                            <a:solidFill>
                              <a:schemeClr val="tx1"/>
                            </a:solidFill>
                            <a:latin typeface="Cambria Math" panose="02040503050406030204" pitchFamily="18" charset="0"/>
                          </a:rPr>
                        </m:ctrlPr>
                      </m:sSubPr>
                      <m:e>
                        <m:r>
                          <a:rPr lang="ar-AE" sz="1200" i="1" kern="1200">
                            <a:solidFill>
                              <a:schemeClr val="tx1"/>
                            </a:solidFill>
                            <a:latin typeface="Cambria Math" panose="02040503050406030204" pitchFamily="18" charset="0"/>
                          </a:rPr>
                          <m:t>𝑏</m:t>
                        </m:r>
                      </m:e>
                      <m:sub>
                        <m:r>
                          <a:rPr lang="es-ES" sz="1200" b="0" i="1" kern="1200" smtClean="0">
                            <a:solidFill>
                              <a:schemeClr val="tx1"/>
                            </a:solidFill>
                            <a:latin typeface="Cambria Math" panose="02040503050406030204" pitchFamily="18" charset="0"/>
                          </a:rPr>
                          <m:t>𝑦</m:t>
                        </m:r>
                      </m:sub>
                    </m:sSub>
                  </m:oMath>
                </a14:m>
                <a:endParaRPr lang="es-ES" sz="1200" kern="1200" dirty="0">
                  <a:solidFill>
                    <a:schemeClr val="tx1"/>
                  </a:solidFill>
                  <a:effectLst/>
                  <a:latin typeface="+mn-lt"/>
                  <a:ea typeface="+mn-ea"/>
                  <a:cs typeface="+mn-cs"/>
                </a:endParaRPr>
              </a:p>
              <a:p>
                <a:endParaRPr lang="es-ES" dirty="0"/>
              </a:p>
              <a:p>
                <a:endParaRPr lang="en-US" dirty="0"/>
              </a:p>
            </p:txBody>
          </p:sp>
        </mc:Choice>
        <mc:Fallback xmlns="">
          <p:sp>
            <p:nvSpPr>
              <p:cNvPr id="3" name="Marcador de notas 2">
                <a:extLst>
                  <a:ext uri="{FF2B5EF4-FFF2-40B4-BE49-F238E27FC236}">
                    <a16:creationId xmlns:a16="http://schemas.microsoft.com/office/drawing/2014/main" id="{56CFD851-8B39-9173-D87F-9D642F266CFF}"/>
                  </a:ext>
                </a:extLst>
              </p:cNvPr>
              <p:cNvSpPr>
                <a:spLocks noGrp="1"/>
              </p:cNvSpPr>
              <p:nvPr>
                <p:ph type="body" idx="1"/>
              </p:nvPr>
            </p:nvSpPr>
            <p:spPr/>
            <p:txBody>
              <a:bodyPr/>
              <a:lstStyle/>
              <a:p>
                <a:r>
                  <a:rPr lang="es-ES" b="1" dirty="0"/>
                  <a:t>Propagación paso a paso</a:t>
                </a:r>
              </a:p>
              <a:p>
                <a:r>
                  <a:rPr lang="es-ES" b="1" dirty="0"/>
                  <a:t>Paso 1</a:t>
                </a:r>
              </a:p>
              <a:p>
                <a:r>
                  <a:rPr lang="ar-AE" sz="1200" i="0" kern="1200">
                    <a:solidFill>
                      <a:schemeClr val="tx1"/>
                    </a:solidFill>
                    <a:latin typeface="+mn-lt"/>
                    <a:ea typeface="+mn-ea"/>
                    <a:cs typeface="+mn-cs"/>
                  </a:rPr>
                  <a:t>ℎ_1=𝑓(𝑊_𝑥ℎ 𝑥_1+𝑏_ℎ )</a:t>
                </a:r>
                <a:endParaRPr lang="ar-AE" dirty="0"/>
              </a:p>
              <a:p>
                <a:r>
                  <a:rPr lang="es-ES" b="1" dirty="0"/>
                  <a:t>Paso 2</a:t>
                </a:r>
              </a:p>
              <a:p>
                <a:r>
                  <a:rPr lang="ar-AE" sz="1200" i="0" kern="1200">
                    <a:solidFill>
                      <a:schemeClr val="tx1"/>
                    </a:solidFill>
                    <a:latin typeface="+mn-lt"/>
                    <a:ea typeface="+mn-ea"/>
                    <a:cs typeface="+mn-cs"/>
                  </a:rPr>
                  <a:t>ℎ_2=𝑓(𝑊_𝑥ℎ 𝑥_2+𝑊_ℎℎ ℎ_1+𝑏_ℎ )</a:t>
                </a:r>
                <a:endParaRPr lang="ar-AE" dirty="0"/>
              </a:p>
              <a:p>
                <a:r>
                  <a:rPr lang="es-ES" dirty="0"/>
                  <a:t>Ahora h₂ tiene información de:</a:t>
                </a:r>
              </a:p>
              <a:p>
                <a:r>
                  <a:rPr lang="es-ES" dirty="0"/>
                  <a:t>x₂ directamente</a:t>
                </a:r>
              </a:p>
              <a:p>
                <a:r>
                  <a:rPr lang="es-ES" dirty="0"/>
                  <a:t>x₁ indirectamente (a través de h₁)</a:t>
                </a:r>
              </a:p>
              <a:p>
                <a:br>
                  <a:rPr lang="es-ES" dirty="0"/>
                </a:br>
                <a:endParaRPr lang="es-ES" dirty="0"/>
              </a:p>
              <a:p>
                <a:endParaRPr lang="es-ES" dirty="0"/>
              </a:p>
              <a:p>
                <a:r>
                  <a:rPr lang="es-ES" sz="1200" kern="1200" dirty="0">
                    <a:solidFill>
                      <a:schemeClr val="tx1"/>
                    </a:solidFill>
                    <a:effectLst/>
                    <a:latin typeface="+mn-lt"/>
                    <a:ea typeface="+mn-ea"/>
                    <a:cs typeface="+mn-cs"/>
                  </a:rPr>
                  <a:t>esta estructura básica es lo que se va a ir moviendo por la secuencia.</a:t>
                </a:r>
              </a:p>
              <a:p>
                <a:endParaRPr lang="es-ES" sz="1200" kern="1200" dirty="0">
                  <a:solidFill>
                    <a:schemeClr val="tx1"/>
                  </a:solidFill>
                  <a:effectLst/>
                  <a:latin typeface="+mn-lt"/>
                  <a:ea typeface="+mn-ea"/>
                  <a:cs typeface="+mn-cs"/>
                </a:endParaRPr>
              </a:p>
              <a:p>
                <a:r>
                  <a:rPr lang="es-ES" sz="1200" kern="1200" dirty="0">
                    <a:solidFill>
                      <a:schemeClr val="tx1"/>
                    </a:solidFill>
                    <a:effectLst/>
                    <a:latin typeface="+mn-lt"/>
                    <a:ea typeface="+mn-ea"/>
                    <a:cs typeface="+mn-cs"/>
                  </a:rPr>
                  <a:t>. Entonces, esta sería la parte fundamental y </a:t>
                </a:r>
              </a:p>
              <a:p>
                <a:endParaRPr lang="es-ES" sz="1200" kern="1200" dirty="0">
                  <a:solidFill>
                    <a:schemeClr val="tx1"/>
                  </a:solidFill>
                  <a:effectLst/>
                  <a:latin typeface="+mn-lt"/>
                  <a:ea typeface="+mn-ea"/>
                  <a:cs typeface="+mn-cs"/>
                </a:endParaRPr>
              </a:p>
              <a:p>
                <a:r>
                  <a:rPr lang="es-ES" sz="1200" kern="1200" dirty="0">
                    <a:solidFill>
                      <a:schemeClr val="tx1"/>
                    </a:solidFill>
                    <a:effectLst/>
                    <a:latin typeface="+mn-lt"/>
                    <a:ea typeface="+mn-ea"/>
                    <a:cs typeface="+mn-cs"/>
                  </a:rPr>
                  <a:t>¿cómo sería esto matemáticamente? Bueno, pues vamos a considerar que esto es el input, esto es el output, pues tendríamos como siempre que el input se multiplica por un peso, lo tenemos aquí, en este caso, estamos aquí, x por el omega </a:t>
                </a:r>
                <a:r>
                  <a:rPr lang="es-ES" sz="1200" kern="1200" dirty="0" err="1">
                    <a:solidFill>
                      <a:schemeClr val="tx1"/>
                    </a:solidFill>
                    <a:effectLst/>
                    <a:latin typeface="+mn-lt"/>
                    <a:ea typeface="+mn-ea"/>
                    <a:cs typeface="+mn-cs"/>
                  </a:rPr>
                  <a:t>xh</a:t>
                </a:r>
                <a:r>
                  <a:rPr lang="es-ES" sz="1200" kern="1200" dirty="0">
                    <a:solidFill>
                      <a:schemeClr val="tx1"/>
                    </a:solidFill>
                    <a:effectLst/>
                    <a:latin typeface="+mn-lt"/>
                    <a:ea typeface="+mn-ea"/>
                    <a:cs typeface="+mn-cs"/>
                  </a:rPr>
                  <a:t>, entonces aquí le va a llegar esta línea y esta línea, es decir, el x por esto y el h1 por esto.</a:t>
                </a:r>
              </a:p>
              <a:p>
                <a:r>
                  <a:rPr lang="es-ES" sz="1200" kern="1200" dirty="0">
                    <a:solidFill>
                      <a:schemeClr val="tx1"/>
                    </a:solidFill>
                    <a:effectLst/>
                    <a:latin typeface="+mn-lt"/>
                    <a:ea typeface="+mn-ea"/>
                    <a:cs typeface="+mn-cs"/>
                  </a:rPr>
                  <a:t>Se le va a sumar un sesgo, que es este que está aquí, y todo esto se va a pasar por una función de activación. Y ahora vamos al output, que es este, que va a tener este peso, este peso multiplicado por esta neurona aquí y se le va a sumar este sesgo que va aquí y este sería el y que es el output.</a:t>
                </a:r>
              </a:p>
              <a:p>
                <a:endParaRPr lang="es-ES" dirty="0"/>
              </a:p>
              <a:p>
                <a:endParaRPr lang="en-US" dirty="0"/>
              </a:p>
            </p:txBody>
          </p:sp>
        </mc:Fallback>
      </mc:AlternateContent>
      <p:sp>
        <p:nvSpPr>
          <p:cNvPr id="4" name="Marcador de número de diapositiva 3">
            <a:extLst>
              <a:ext uri="{FF2B5EF4-FFF2-40B4-BE49-F238E27FC236}">
                <a16:creationId xmlns:a16="http://schemas.microsoft.com/office/drawing/2014/main" id="{1CD8CD44-3220-AAE6-E6B9-3580127FAE9E}"/>
              </a:ext>
            </a:extLst>
          </p:cNvPr>
          <p:cNvSpPr>
            <a:spLocks noGrp="1"/>
          </p:cNvSpPr>
          <p:nvPr>
            <p:ph type="sldNum" sz="quarter" idx="5"/>
          </p:nvPr>
        </p:nvSpPr>
        <p:spPr/>
        <p:txBody>
          <a:bodyPr/>
          <a:lstStyle/>
          <a:p>
            <a:fld id="{19C9EB4C-06C7-441F-9B0A-620A2ACB834C}" type="slidenum">
              <a:rPr lang="es-ES" smtClean="0"/>
              <a:t>18</a:t>
            </a:fld>
            <a:endParaRPr lang="es-ES"/>
          </a:p>
        </p:txBody>
      </p:sp>
    </p:spTree>
    <p:extLst>
      <p:ext uri="{BB962C8B-B14F-4D97-AF65-F5344CB8AC3E}">
        <p14:creationId xmlns:p14="http://schemas.microsoft.com/office/powerpoint/2010/main" val="35816651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6EDF8-F59B-34FB-B073-2AA8E434F75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D25E311-5CA0-DEB6-A624-81988462CDC9}"/>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Marcador de notas 2">
                <a:extLst>
                  <a:ext uri="{FF2B5EF4-FFF2-40B4-BE49-F238E27FC236}">
                    <a16:creationId xmlns:a16="http://schemas.microsoft.com/office/drawing/2014/main" id="{7BE98B00-5773-7E70-1198-1ECD7596EBCC}"/>
                  </a:ext>
                </a:extLst>
              </p:cNvPr>
              <p:cNvSpPr>
                <a:spLocks noGrp="1"/>
              </p:cNvSpPr>
              <p:nvPr>
                <p:ph type="body" idx="1"/>
              </p:nvPr>
            </p:nvSpPr>
            <p:spPr/>
            <p:txBody>
              <a:bodyPr/>
              <a:lstStyle/>
              <a:p>
                <a:endParaRPr lang="es-ES" dirty="0"/>
              </a:p>
              <a:p>
                <a:r>
                  <a:rPr lang="es-ES" sz="1200" kern="1200" dirty="0">
                    <a:solidFill>
                      <a:schemeClr val="tx1"/>
                    </a:solidFill>
                    <a:effectLst/>
                    <a:latin typeface="+mn-lt"/>
                    <a:ea typeface="+mn-ea"/>
                    <a:cs typeface="+mn-cs"/>
                  </a:rPr>
                  <a:t>esta estructura básica es lo que se va a ir moviendo por la secuencia.</a:t>
                </a:r>
              </a:p>
              <a:p>
                <a:endParaRPr lang="es-E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s-ES" sz="1200" kern="1200" dirty="0">
                    <a:solidFill>
                      <a:schemeClr val="tx1"/>
                    </a:solidFill>
                    <a:effectLst/>
                    <a:latin typeface="+mn-lt"/>
                    <a:ea typeface="+mn-ea"/>
                    <a:cs typeface="+mn-cs"/>
                  </a:rPr>
                  <a:t>, vamos a entender esto de una forma mucho más esquemática con esta estructura que se conoce como </a:t>
                </a:r>
                <a:r>
                  <a:rPr lang="es-ES" sz="1200" kern="1200" dirty="0" err="1">
                    <a:solidFill>
                      <a:schemeClr val="tx1"/>
                    </a:solidFill>
                    <a:effectLst/>
                    <a:latin typeface="+mn-lt"/>
                    <a:ea typeface="+mn-ea"/>
                    <a:cs typeface="+mn-cs"/>
                  </a:rPr>
                  <a:t>Vanilla</a:t>
                </a:r>
                <a:r>
                  <a:rPr lang="es-ES" sz="1200" kern="1200" dirty="0">
                    <a:solidFill>
                      <a:schemeClr val="tx1"/>
                    </a:solidFill>
                    <a:effectLst/>
                    <a:latin typeface="+mn-lt"/>
                    <a:ea typeface="+mn-ea"/>
                    <a:cs typeface="+mn-cs"/>
                  </a:rPr>
                  <a:t> Neural Network y lo vamos a ver en una secuencia más grande moviendo estos cinco parámetros </a:t>
                </a:r>
                <a14:m>
                  <m:oMath xmlns:m="http://schemas.openxmlformats.org/officeDocument/2006/math">
                    <m:r>
                      <a:rPr lang="es-ES" sz="1200" b="1" i="1" kern="1200" smtClean="0">
                        <a:solidFill>
                          <a:schemeClr val="tx1"/>
                        </a:solidFill>
                        <a:latin typeface="Cambria Math" panose="02040503050406030204" pitchFamily="18" charset="0"/>
                      </a:rPr>
                      <m:t>(</m:t>
                    </m:r>
                    <m:sSub>
                      <m:sSubPr>
                        <m:ctrlPr>
                          <a:rPr lang="ar-AE" sz="1200" i="1" kern="1200" smtClean="0">
                            <a:solidFill>
                              <a:schemeClr val="tx1"/>
                            </a:solidFill>
                            <a:latin typeface="Cambria Math" panose="02040503050406030204" pitchFamily="18" charset="0"/>
                          </a:rPr>
                        </m:ctrlPr>
                      </m:sSubPr>
                      <m:e>
                        <m:r>
                          <a:rPr lang="ar-AE" sz="1200" i="1" kern="1200">
                            <a:solidFill>
                              <a:schemeClr val="tx1"/>
                            </a:solidFill>
                            <a:latin typeface="Cambria Math" panose="02040503050406030204" pitchFamily="18" charset="0"/>
                          </a:rPr>
                          <m:t>𝑊</m:t>
                        </m:r>
                      </m:e>
                      <m:sub>
                        <m:r>
                          <a:rPr lang="ar-AE" sz="1200" i="1" kern="1200">
                            <a:solidFill>
                              <a:schemeClr val="tx1"/>
                            </a:solidFill>
                            <a:latin typeface="Cambria Math" panose="02040503050406030204" pitchFamily="18" charset="0"/>
                          </a:rPr>
                          <m:t>𝑥</m:t>
                        </m:r>
                        <m:r>
                          <a:rPr lang="ar-AE" sz="1200" i="1" kern="1200">
                            <a:solidFill>
                              <a:schemeClr val="tx1"/>
                            </a:solidFill>
                            <a:latin typeface="Cambria Math" panose="02040503050406030204" pitchFamily="18" charset="0"/>
                          </a:rPr>
                          <m:t>h</m:t>
                        </m:r>
                      </m:sub>
                    </m:sSub>
                    <m:r>
                      <a:rPr lang="es-ES" sz="1200" b="1" i="1" kern="1200" smtClean="0">
                        <a:solidFill>
                          <a:schemeClr val="tx1"/>
                        </a:solidFill>
                        <a:latin typeface="Cambria Math" panose="02040503050406030204" pitchFamily="18" charset="0"/>
                      </a:rPr>
                      <m:t>, </m:t>
                    </m:r>
                    <m:sSub>
                      <m:sSubPr>
                        <m:ctrlPr>
                          <a:rPr lang="ar-AE" sz="1200" i="1" kern="1200">
                            <a:solidFill>
                              <a:schemeClr val="tx1"/>
                            </a:solidFill>
                            <a:latin typeface="Cambria Math" panose="02040503050406030204" pitchFamily="18" charset="0"/>
                          </a:rPr>
                        </m:ctrlPr>
                      </m:sSubPr>
                      <m:e>
                        <m:r>
                          <a:rPr lang="ar-AE" sz="1200" i="1" kern="1200">
                            <a:solidFill>
                              <a:schemeClr val="tx1"/>
                            </a:solidFill>
                            <a:latin typeface="Cambria Math" panose="02040503050406030204" pitchFamily="18" charset="0"/>
                          </a:rPr>
                          <m:t>𝑊</m:t>
                        </m:r>
                      </m:e>
                      <m:sub>
                        <m:r>
                          <a:rPr lang="ar-AE" sz="1200" i="1" kern="1200">
                            <a:solidFill>
                              <a:schemeClr val="tx1"/>
                            </a:solidFill>
                            <a:latin typeface="Cambria Math" panose="02040503050406030204" pitchFamily="18" charset="0"/>
                          </a:rPr>
                          <m:t>hh</m:t>
                        </m:r>
                      </m:sub>
                    </m:sSub>
                    <m:r>
                      <a:rPr lang="es-ES" sz="1200" b="1" i="1" kern="1200" smtClean="0">
                        <a:solidFill>
                          <a:schemeClr val="tx1"/>
                        </a:solidFill>
                        <a:latin typeface="Cambria Math" panose="02040503050406030204" pitchFamily="18" charset="0"/>
                      </a:rPr>
                      <m:t>, </m:t>
                    </m:r>
                    <m:sSub>
                      <m:sSubPr>
                        <m:ctrlPr>
                          <a:rPr lang="ar-AE" i="1">
                            <a:solidFill>
                              <a:schemeClr val="tx1"/>
                            </a:solidFill>
                            <a:latin typeface="Cambria Math" panose="02040503050406030204" pitchFamily="18" charset="0"/>
                          </a:rPr>
                        </m:ctrlPr>
                      </m:sSubPr>
                      <m:e>
                        <m:r>
                          <a:rPr lang="ar-AE" i="1">
                            <a:solidFill>
                              <a:schemeClr val="tx1"/>
                            </a:solidFill>
                            <a:latin typeface="Cambria Math" panose="02040503050406030204" pitchFamily="18" charset="0"/>
                          </a:rPr>
                          <m:t>𝑊</m:t>
                        </m:r>
                      </m:e>
                      <m:sub>
                        <m:r>
                          <a:rPr lang="ar-AE" i="1">
                            <a:solidFill>
                              <a:schemeClr val="tx1"/>
                            </a:solidFill>
                            <a:latin typeface="Cambria Math" panose="02040503050406030204" pitchFamily="18" charset="0"/>
                          </a:rPr>
                          <m:t>h</m:t>
                        </m:r>
                        <m:r>
                          <a:rPr lang="es-ES" b="1" i="1" smtClean="0">
                            <a:solidFill>
                              <a:schemeClr val="tx1"/>
                            </a:solidFill>
                            <a:latin typeface="Cambria Math" panose="02040503050406030204" pitchFamily="18" charset="0"/>
                          </a:rPr>
                          <m:t>𝒚</m:t>
                        </m:r>
                      </m:sub>
                    </m:sSub>
                    <m:r>
                      <a:rPr lang="es-ES" b="1" i="1" smtClean="0">
                        <a:solidFill>
                          <a:schemeClr val="tx1"/>
                        </a:solidFill>
                        <a:latin typeface="Cambria Math" panose="02040503050406030204" pitchFamily="18" charset="0"/>
                      </a:rPr>
                      <m:t>,</m:t>
                    </m:r>
                    <m:sSub>
                      <m:sSubPr>
                        <m:ctrlPr>
                          <a:rPr lang="ar-AE" i="1">
                            <a:solidFill>
                              <a:schemeClr val="tx1"/>
                            </a:solidFill>
                            <a:latin typeface="Cambria Math" panose="02040503050406030204" pitchFamily="18" charset="0"/>
                          </a:rPr>
                        </m:ctrlPr>
                      </m:sSubPr>
                      <m:e>
                        <m:r>
                          <a:rPr lang="ar-AE" i="1">
                            <a:solidFill>
                              <a:schemeClr val="tx1"/>
                            </a:solidFill>
                            <a:latin typeface="Cambria Math" panose="02040503050406030204" pitchFamily="18" charset="0"/>
                          </a:rPr>
                          <m:t>𝑏</m:t>
                        </m:r>
                      </m:e>
                      <m:sub>
                        <m:r>
                          <a:rPr lang="ar-AE" i="1">
                            <a:solidFill>
                              <a:schemeClr val="tx1"/>
                            </a:solidFill>
                            <a:latin typeface="Cambria Math" panose="02040503050406030204" pitchFamily="18" charset="0"/>
                          </a:rPr>
                          <m:t>h</m:t>
                        </m:r>
                      </m:sub>
                    </m:sSub>
                    <m:r>
                      <a:rPr lang="es-ES">
                        <a:solidFill>
                          <a:schemeClr val="tx1"/>
                        </a:solidFill>
                        <a:latin typeface="Cambria Math" panose="02040503050406030204" pitchFamily="18" charset="0"/>
                      </a:rPr>
                      <m:t>,</m:t>
                    </m:r>
                    <m:sSub>
                      <m:sSubPr>
                        <m:ctrlPr>
                          <a:rPr lang="ar-AE" i="1">
                            <a:solidFill>
                              <a:schemeClr val="tx1"/>
                            </a:solidFill>
                            <a:latin typeface="Cambria Math" panose="02040503050406030204" pitchFamily="18" charset="0"/>
                          </a:rPr>
                        </m:ctrlPr>
                      </m:sSubPr>
                      <m:e>
                        <m:r>
                          <a:rPr lang="ar-AE" i="1">
                            <a:solidFill>
                              <a:schemeClr val="tx1"/>
                            </a:solidFill>
                            <a:latin typeface="Cambria Math" panose="02040503050406030204" pitchFamily="18" charset="0"/>
                          </a:rPr>
                          <m:t>𝑏</m:t>
                        </m:r>
                      </m:e>
                      <m:sub>
                        <m:r>
                          <a:rPr lang="es-ES" b="0" i="1">
                            <a:solidFill>
                              <a:schemeClr val="tx1"/>
                            </a:solidFill>
                            <a:latin typeface="Cambria Math" panose="02040503050406030204" pitchFamily="18" charset="0"/>
                          </a:rPr>
                          <m:t>𝑦</m:t>
                        </m:r>
                      </m:sub>
                    </m:sSub>
                    <m:r>
                      <a:rPr lang="es-ES" b="0" i="1" smtClean="0">
                        <a:solidFill>
                          <a:schemeClr val="tx1"/>
                        </a:solidFill>
                        <a:latin typeface="Cambria Math" panose="02040503050406030204" pitchFamily="18" charset="0"/>
                      </a:rPr>
                      <m:t>)</m:t>
                    </m:r>
                  </m:oMath>
                </a14:m>
                <a:r>
                  <a:rPr lang="es-ES" sz="1200" kern="1200" dirty="0">
                    <a:solidFill>
                      <a:schemeClr val="tx1"/>
                    </a:solidFill>
                    <a:effectLst/>
                    <a:latin typeface="+mn-lt"/>
                    <a:ea typeface="+mn-ea"/>
                    <a:cs typeface="+mn-cs"/>
                  </a:rPr>
                  <a:t> por toda una secuencia.</a:t>
                </a:r>
              </a:p>
              <a:p>
                <a:endParaRPr lang="es-ES" sz="1200" kern="1200" dirty="0">
                  <a:solidFill>
                    <a:schemeClr val="tx1"/>
                  </a:solidFill>
                  <a:effectLst/>
                  <a:latin typeface="+mn-lt"/>
                  <a:ea typeface="+mn-ea"/>
                  <a:cs typeface="+mn-cs"/>
                </a:endParaRPr>
              </a:p>
              <a:p>
                <a:r>
                  <a:rPr lang="es-ES" sz="1200" kern="1200" dirty="0">
                    <a:solidFill>
                      <a:schemeClr val="tx1"/>
                    </a:solidFill>
                    <a:effectLst/>
                    <a:latin typeface="+mn-lt"/>
                    <a:ea typeface="+mn-ea"/>
                    <a:cs typeface="+mn-cs"/>
                  </a:rPr>
                  <a:t>vamos a tener estos parámetros que forman parte de esta estructura y estos parámetros son los que vamos a ir moviendo por toda la secuencia hasta calcular este número X7que desconocemos. </a:t>
                </a:r>
              </a:p>
              <a:p>
                <a:endParaRPr lang="es-ES" sz="1200" kern="1200" dirty="0">
                  <a:solidFill>
                    <a:schemeClr val="tx1"/>
                  </a:solidFill>
                  <a:effectLst/>
                  <a:latin typeface="+mn-lt"/>
                  <a:ea typeface="+mn-ea"/>
                  <a:cs typeface="+mn-cs"/>
                </a:endParaRPr>
              </a:p>
              <a:p>
                <a:r>
                  <a:rPr lang="es-ES" sz="1200" kern="1200" dirty="0">
                    <a:solidFill>
                      <a:schemeClr val="tx1"/>
                    </a:solidFill>
                    <a:effectLst/>
                    <a:latin typeface="+mn-lt"/>
                    <a:ea typeface="+mn-ea"/>
                    <a:cs typeface="+mn-cs"/>
                  </a:rPr>
                  <a:t>¿Cómo vamos a hacer eso y cómo eso influye en el cálculo del error y en el entrenamiento? </a:t>
                </a:r>
              </a:p>
              <a:p>
                <a:endParaRPr lang="es-ES" sz="1200" kern="1200" dirty="0">
                  <a:solidFill>
                    <a:schemeClr val="tx1"/>
                  </a:solidFill>
                  <a:effectLst/>
                  <a:latin typeface="+mn-lt"/>
                  <a:ea typeface="+mn-ea"/>
                  <a:cs typeface="+mn-cs"/>
                </a:endParaRPr>
              </a:p>
              <a:p>
                <a:r>
                  <a:rPr lang="es-ES" sz="1200" kern="1200" dirty="0">
                    <a:solidFill>
                      <a:schemeClr val="tx1"/>
                    </a:solidFill>
                    <a:effectLst/>
                    <a:latin typeface="+mn-lt"/>
                    <a:ea typeface="+mn-ea"/>
                    <a:cs typeface="+mn-cs"/>
                  </a:rPr>
                  <a:t>va a ser un entrenamiento supervisado en el sentido de que vamos a tener un input y una etiqueta</a:t>
                </a:r>
              </a:p>
              <a:p>
                <a:r>
                  <a:rPr lang="es-ES" sz="1200" kern="1200" dirty="0">
                    <a:solidFill>
                      <a:schemeClr val="tx1"/>
                    </a:solidFill>
                    <a:effectLst/>
                    <a:latin typeface="+mn-lt"/>
                    <a:ea typeface="+mn-ea"/>
                    <a:cs typeface="+mn-cs"/>
                  </a:rPr>
                  <a:t>El input va a ser la secuencia conocida y la etiqueta va a ser el último elemento de la secuencia, </a:t>
                </a:r>
              </a:p>
              <a:p>
                <a:r>
                  <a:rPr lang="es-ES" sz="1200" kern="1200" dirty="0">
                    <a:solidFill>
                      <a:schemeClr val="tx1"/>
                    </a:solidFill>
                    <a:effectLst/>
                    <a:latin typeface="+mn-lt"/>
                    <a:ea typeface="+mn-ea"/>
                    <a:cs typeface="+mn-cs"/>
                  </a:rPr>
                  <a:t>pues en este caso tendríamos x1, x2 secuencia conocida, etiqueta el último elemento de la secuencia, que en este caso es conocido, pero lo vamos a utilizar como etiqueta para poder entrenar la red </a:t>
                </a:r>
                <a:r>
                  <a:rPr lang="es-ES" sz="1200" kern="1200" dirty="0">
                    <a:solidFill>
                      <a:schemeClr val="tx1"/>
                    </a:solidFill>
                    <a:effectLst/>
                    <a:latin typeface="+mn-lt"/>
                    <a:ea typeface="+mn-ea"/>
                    <a:cs typeface="+mn-cs"/>
                    <a:sym typeface="Wingdings" panose="05000000000000000000" pitchFamily="2" charset="2"/>
                  </a:rPr>
                  <a:t> </a:t>
                </a:r>
                <a:r>
                  <a:rPr lang="es-ES" sz="1200" kern="1200" dirty="0">
                    <a:solidFill>
                      <a:schemeClr val="tx1"/>
                    </a:solidFill>
                    <a:effectLst/>
                    <a:latin typeface="+mn-lt"/>
                    <a:ea typeface="+mn-ea"/>
                    <a:cs typeface="+mn-cs"/>
                  </a:rPr>
                  <a:t>encontrando el patrón oculto que hay aquí (desde X1 hasta X6) podemos averiguar el siguiente número de la secuencia X7</a:t>
                </a:r>
              </a:p>
              <a:p>
                <a:endParaRPr lang="es-ES" sz="1200" kern="1200" dirty="0">
                  <a:solidFill>
                    <a:schemeClr val="tx1"/>
                  </a:solidFill>
                  <a:effectLst/>
                  <a:latin typeface="+mn-lt"/>
                  <a:ea typeface="+mn-ea"/>
                  <a:cs typeface="+mn-cs"/>
                </a:endParaRPr>
              </a:p>
              <a:p>
                <a:r>
                  <a:rPr lang="es-ES" sz="1200" kern="1200" dirty="0">
                    <a:solidFill>
                      <a:schemeClr val="tx1"/>
                    </a:solidFill>
                    <a:effectLst/>
                    <a:latin typeface="+mn-lt"/>
                    <a:ea typeface="+mn-ea"/>
                    <a:cs typeface="+mn-cs"/>
                  </a:rPr>
                  <a:t>y eso lo vamos a hacer con el bloque (x1, x2, x3) que es el bloque de arriba, es decir la estructura básica donde tenemos, cómo vimos e la transparencia anterior los pesos y sesgos y con ello calculamos con esta información y cuánto sería x3, lo comparamos con el x3 y esto sería la pérdida de este trozo, 	</a:t>
                </a:r>
              </a:p>
              <a:p>
                <a:endParaRPr lang="es-ES" sz="1200" kern="1200" dirty="0">
                  <a:solidFill>
                    <a:schemeClr val="tx1"/>
                  </a:solidFill>
                  <a:effectLst/>
                  <a:latin typeface="+mn-lt"/>
                  <a:ea typeface="+mn-ea"/>
                  <a:cs typeface="+mn-cs"/>
                </a:endParaRPr>
              </a:p>
              <a:p>
                <a:endParaRPr lang="es-ES" sz="1200" kern="1200" dirty="0">
                  <a:solidFill>
                    <a:schemeClr val="tx1"/>
                  </a:solidFill>
                  <a:effectLst/>
                  <a:latin typeface="+mn-lt"/>
                  <a:ea typeface="+mn-ea"/>
                  <a:cs typeface="+mn-cs"/>
                </a:endParaRPr>
              </a:p>
              <a:p>
                <a:endParaRPr lang="es-ES" sz="1200" kern="1200" dirty="0">
                  <a:solidFill>
                    <a:schemeClr val="tx1"/>
                  </a:solidFill>
                  <a:effectLst/>
                  <a:latin typeface="+mn-lt"/>
                  <a:ea typeface="+mn-ea"/>
                  <a:cs typeface="+mn-cs"/>
                </a:endParaRPr>
              </a:p>
              <a:p>
                <a:endParaRPr lang="es-ES" sz="1200" kern="1200" dirty="0">
                  <a:solidFill>
                    <a:schemeClr val="tx1"/>
                  </a:solidFill>
                  <a:effectLst/>
                  <a:latin typeface="+mn-lt"/>
                  <a:ea typeface="+mn-ea"/>
                  <a:cs typeface="+mn-cs"/>
                </a:endParaRPr>
              </a:p>
              <a:p>
                <a:endParaRPr lang="es-ES" dirty="0"/>
              </a:p>
              <a:p>
                <a:endParaRPr lang="en-US" dirty="0"/>
              </a:p>
            </p:txBody>
          </p:sp>
        </mc:Choice>
        <mc:Fallback xmlns="">
          <p:sp>
            <p:nvSpPr>
              <p:cNvPr id="3" name="Marcador de notas 2">
                <a:extLst>
                  <a:ext uri="{FF2B5EF4-FFF2-40B4-BE49-F238E27FC236}">
                    <a16:creationId xmlns:a16="http://schemas.microsoft.com/office/drawing/2014/main" id="{7BE98B00-5773-7E70-1198-1ECD7596EBCC}"/>
                  </a:ext>
                </a:extLst>
              </p:cNvPr>
              <p:cNvSpPr>
                <a:spLocks noGrp="1"/>
              </p:cNvSpPr>
              <p:nvPr>
                <p:ph type="body" idx="1"/>
              </p:nvPr>
            </p:nvSpPr>
            <p:spPr/>
            <p:txBody>
              <a:bodyPr/>
              <a:lstStyle/>
              <a:p>
                <a:r>
                  <a:rPr lang="es-ES" dirty="0"/>
                  <a:t>Ahora h₃ contiene información de:</a:t>
                </a:r>
              </a:p>
              <a:p>
                <a:r>
                  <a:rPr lang="es-ES" dirty="0"/>
                  <a:t>x₃ directamente</a:t>
                </a:r>
              </a:p>
              <a:p>
                <a:r>
                  <a:rPr lang="es-ES" dirty="0"/>
                  <a:t>x₂ indirectamente</a:t>
                </a:r>
              </a:p>
              <a:p>
                <a:r>
                  <a:rPr lang="es-ES" dirty="0"/>
                  <a:t>x₁ indirectamente</a:t>
                </a:r>
              </a:p>
              <a:p>
                <a:r>
                  <a:rPr lang="es-ES" dirty="0"/>
                  <a:t>Aquí está la memoria.</a:t>
                </a:r>
              </a:p>
              <a:p>
                <a:br>
                  <a:rPr lang="es-ES" dirty="0"/>
                </a:br>
                <a:endParaRPr lang="es-ES" dirty="0"/>
              </a:p>
              <a:p>
                <a:r>
                  <a:rPr lang="es-ES" b="1" dirty="0" err="1"/>
                  <a:t>Slide</a:t>
                </a:r>
                <a:r>
                  <a:rPr lang="es-ES" b="1" dirty="0"/>
                  <a:t> 4 — Predicción</a:t>
                </a:r>
              </a:p>
              <a:p>
                <a:pPr/>
                <a:r>
                  <a:rPr lang="ar-AE" sz="1200" i="0" kern="1200">
                    <a:solidFill>
                      <a:schemeClr val="tx1"/>
                    </a:solidFill>
                    <a:latin typeface="Cambria Math" panose="02040503050406030204" pitchFamily="18" charset="0"/>
                    <a:ea typeface="+mn-ea"/>
                    <a:cs typeface="+mn-cs"/>
                  </a:rPr>
                  <a:t>𝑥 ̂_4=𝑔(𝑊_ℎ𝑦 ℎ_3+𝑏_𝑦 )</a:t>
                </a:r>
                <a:endParaRPr lang="ar-AE" dirty="0"/>
              </a:p>
              <a:p>
                <a:r>
                  <a:rPr lang="es-ES" dirty="0"/>
                  <a:t>Donde g puede ser </a:t>
                </a:r>
                <a:r>
                  <a:rPr lang="es-ES" dirty="0" err="1"/>
                  <a:t>softmax</a:t>
                </a:r>
                <a:r>
                  <a:rPr lang="es-ES" dirty="0"/>
                  <a:t> si estamos prediciendo letras.</a:t>
                </a:r>
              </a:p>
              <a:p>
                <a:endParaRPr lang="es-ES" dirty="0"/>
              </a:p>
              <a:p>
                <a:endParaRPr lang="es-ES" dirty="0"/>
              </a:p>
              <a:p>
                <a:r>
                  <a:rPr lang="es-ES" sz="1200" kern="1200" dirty="0">
                    <a:solidFill>
                      <a:schemeClr val="tx1"/>
                    </a:solidFill>
                    <a:effectLst/>
                    <a:latin typeface="+mn-lt"/>
                    <a:ea typeface="+mn-ea"/>
                    <a:cs typeface="+mn-cs"/>
                  </a:rPr>
                  <a:t>esta estructura básica es lo que se va a ir moviendo por la secuencia.</a:t>
                </a:r>
              </a:p>
              <a:p>
                <a:endParaRPr lang="es-E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s-ES" sz="1200" kern="1200" dirty="0">
                    <a:solidFill>
                      <a:schemeClr val="tx1"/>
                    </a:solidFill>
                    <a:effectLst/>
                    <a:latin typeface="+mn-lt"/>
                    <a:ea typeface="+mn-ea"/>
                    <a:cs typeface="+mn-cs"/>
                  </a:rPr>
                  <a:t>, vamos a entender esto de una forma mucho más esquemática con esta estructura que se conoce como </a:t>
                </a:r>
                <a:r>
                  <a:rPr lang="es-ES" sz="1200" kern="1200" dirty="0" err="1">
                    <a:solidFill>
                      <a:schemeClr val="tx1"/>
                    </a:solidFill>
                    <a:effectLst/>
                    <a:latin typeface="+mn-lt"/>
                    <a:ea typeface="+mn-ea"/>
                    <a:cs typeface="+mn-cs"/>
                  </a:rPr>
                  <a:t>Vanilla</a:t>
                </a:r>
                <a:r>
                  <a:rPr lang="es-ES" sz="1200" kern="1200" dirty="0">
                    <a:solidFill>
                      <a:schemeClr val="tx1"/>
                    </a:solidFill>
                    <a:effectLst/>
                    <a:latin typeface="+mn-lt"/>
                    <a:ea typeface="+mn-ea"/>
                    <a:cs typeface="+mn-cs"/>
                  </a:rPr>
                  <a:t> Neural Network y lo vamos a ver en una secuencia más grande moviendo estos cinco parámetros por toda una secuencia.</a:t>
                </a:r>
              </a:p>
              <a:p>
                <a:endParaRPr lang="es-ES" sz="1200" kern="1200" dirty="0">
                  <a:solidFill>
                    <a:schemeClr val="tx1"/>
                  </a:solidFill>
                  <a:effectLst/>
                  <a:latin typeface="+mn-lt"/>
                  <a:ea typeface="+mn-ea"/>
                  <a:cs typeface="+mn-cs"/>
                </a:endParaRPr>
              </a:p>
              <a:p>
                <a:r>
                  <a:rPr lang="es-ES" sz="1200" kern="1200" dirty="0">
                    <a:solidFill>
                      <a:schemeClr val="tx1"/>
                    </a:solidFill>
                    <a:effectLst/>
                    <a:latin typeface="+mn-lt"/>
                    <a:ea typeface="+mn-ea"/>
                    <a:cs typeface="+mn-cs"/>
                  </a:rPr>
                  <a:t>vamos a tener estos parámetros que forman parte de esta estructura y estos parámetros son los que vamos a ir moviendo por toda la secuencia hasta calcular este número que desconocemos. </a:t>
                </a:r>
              </a:p>
              <a:p>
                <a:endParaRPr lang="es-ES" sz="1200" kern="1200" dirty="0">
                  <a:solidFill>
                    <a:schemeClr val="tx1"/>
                  </a:solidFill>
                  <a:effectLst/>
                  <a:latin typeface="+mn-lt"/>
                  <a:ea typeface="+mn-ea"/>
                  <a:cs typeface="+mn-cs"/>
                </a:endParaRPr>
              </a:p>
              <a:p>
                <a:r>
                  <a:rPr lang="es-ES" sz="1200" kern="1200" dirty="0">
                    <a:solidFill>
                      <a:schemeClr val="tx1"/>
                    </a:solidFill>
                    <a:effectLst/>
                    <a:latin typeface="+mn-lt"/>
                    <a:ea typeface="+mn-ea"/>
                    <a:cs typeface="+mn-cs"/>
                  </a:rPr>
                  <a:t>¿Cómo vamos a hacer eso y cómo eso influye en el cálculo del error y en el entrenamiento? </a:t>
                </a:r>
              </a:p>
              <a:p>
                <a:r>
                  <a:rPr lang="es-ES" sz="1200" kern="1200" dirty="0">
                    <a:solidFill>
                      <a:schemeClr val="tx1"/>
                    </a:solidFill>
                    <a:effectLst/>
                    <a:latin typeface="+mn-lt"/>
                    <a:ea typeface="+mn-ea"/>
                    <a:cs typeface="+mn-cs"/>
                  </a:rPr>
                  <a:t>va a ser un entrenamiento supervisado en el sentido de que vamos a tener un input y una etiqueta</a:t>
                </a:r>
              </a:p>
              <a:p>
                <a:r>
                  <a:rPr lang="es-ES" sz="1200" kern="1200" dirty="0">
                    <a:solidFill>
                      <a:schemeClr val="tx1"/>
                    </a:solidFill>
                    <a:effectLst/>
                    <a:latin typeface="+mn-lt"/>
                    <a:ea typeface="+mn-ea"/>
                    <a:cs typeface="+mn-cs"/>
                  </a:rPr>
                  <a:t>El input va a ser la secuencia conocida y la etiqueta va a ser el último elemento de la secuencia, </a:t>
                </a:r>
              </a:p>
              <a:p>
                <a:r>
                  <a:rPr lang="es-ES" sz="1200" kern="1200" dirty="0">
                    <a:solidFill>
                      <a:schemeClr val="tx1"/>
                    </a:solidFill>
                    <a:effectLst/>
                    <a:latin typeface="+mn-lt"/>
                    <a:ea typeface="+mn-ea"/>
                    <a:cs typeface="+mn-cs"/>
                  </a:rPr>
                  <a:t>pues en este caso tendríamos x1, x2 secuencia conocida, etiqueta el último elemento de la secuencia que en este caso es conocido pero lo vamos a utilizar como etiqueta para poder entrenar la red, encontrando el patrón oculto que hay aquí podemos averiguar el siguiente número de la secuencia y eso lo vamos a hacer con el bloque (x1, x2, x3) que es este bloque de aquí donde tenemos aquí esta serie de pesos y de secos y calculamos con esta información y esta cuánto sería x3, lo comparamos con el x3 y esto sería la pérdida de este trozo, 	</a:t>
                </a:r>
              </a:p>
              <a:p>
                <a:endParaRPr lang="es-ES" sz="1200" kern="1200" dirty="0">
                  <a:solidFill>
                    <a:schemeClr val="tx1"/>
                  </a:solidFill>
                  <a:effectLst/>
                  <a:latin typeface="+mn-lt"/>
                  <a:ea typeface="+mn-ea"/>
                  <a:cs typeface="+mn-cs"/>
                </a:endParaRPr>
              </a:p>
              <a:p>
                <a:endParaRPr lang="es-ES" sz="1200" kern="1200" dirty="0">
                  <a:solidFill>
                    <a:schemeClr val="tx1"/>
                  </a:solidFill>
                  <a:effectLst/>
                  <a:latin typeface="+mn-lt"/>
                  <a:ea typeface="+mn-ea"/>
                  <a:cs typeface="+mn-cs"/>
                </a:endParaRPr>
              </a:p>
              <a:p>
                <a:endParaRPr lang="es-ES" dirty="0"/>
              </a:p>
              <a:p>
                <a:endParaRPr lang="en-US" dirty="0"/>
              </a:p>
            </p:txBody>
          </p:sp>
        </mc:Fallback>
      </mc:AlternateContent>
      <p:sp>
        <p:nvSpPr>
          <p:cNvPr id="4" name="Marcador de número de diapositiva 3">
            <a:extLst>
              <a:ext uri="{FF2B5EF4-FFF2-40B4-BE49-F238E27FC236}">
                <a16:creationId xmlns:a16="http://schemas.microsoft.com/office/drawing/2014/main" id="{F8F2DA82-18E3-C2FF-DDD4-9947E21E3648}"/>
              </a:ext>
            </a:extLst>
          </p:cNvPr>
          <p:cNvSpPr>
            <a:spLocks noGrp="1"/>
          </p:cNvSpPr>
          <p:nvPr>
            <p:ph type="sldNum" sz="quarter" idx="5"/>
          </p:nvPr>
        </p:nvSpPr>
        <p:spPr/>
        <p:txBody>
          <a:bodyPr/>
          <a:lstStyle/>
          <a:p>
            <a:fld id="{19C9EB4C-06C7-441F-9B0A-620A2ACB834C}" type="slidenum">
              <a:rPr lang="es-ES" smtClean="0"/>
              <a:t>19</a:t>
            </a:fld>
            <a:endParaRPr lang="es-ES"/>
          </a:p>
        </p:txBody>
      </p:sp>
    </p:spTree>
    <p:extLst>
      <p:ext uri="{BB962C8B-B14F-4D97-AF65-F5344CB8AC3E}">
        <p14:creationId xmlns:p14="http://schemas.microsoft.com/office/powerpoint/2010/main" val="10363047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67607-7ADB-A249-C3C9-0286FCEEAB3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7A8EBE9-EBA5-9C90-ECED-814A052AA47B}"/>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Marcador de notas 2">
                <a:extLst>
                  <a:ext uri="{FF2B5EF4-FFF2-40B4-BE49-F238E27FC236}">
                    <a16:creationId xmlns:a16="http://schemas.microsoft.com/office/drawing/2014/main" id="{5D6B2AC6-F207-DC23-B2DF-C5E2881691FE}"/>
                  </a:ext>
                </a:extLst>
              </p:cNvPr>
              <p:cNvSpPr>
                <a:spLocks noGrp="1"/>
              </p:cNvSpPr>
              <p:nvPr>
                <p:ph type="body" idx="1"/>
              </p:nvPr>
            </p:nvSpPr>
            <p:spPr/>
            <p:txBody>
              <a:bodyPr/>
              <a:lstStyle/>
              <a:p>
                <a:endParaRPr lang="es-E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s-ES" sz="1200" dirty="0"/>
                  <a:t>Cuando se desplazan todos los caracteres hasta input 5, 6 para sacar el valor final de x7 tenemos las perdidas totales y eso corresponde a una etapa de entrenamiento</a:t>
                </a:r>
              </a:p>
              <a:p>
                <a:endParaRPr lang="es-ES" sz="1200" kern="1200" dirty="0">
                  <a:solidFill>
                    <a:schemeClr val="tx1"/>
                  </a:solidFill>
                  <a:effectLst/>
                  <a:latin typeface="+mn-lt"/>
                  <a:ea typeface="+mn-ea"/>
                  <a:cs typeface="+mn-cs"/>
                </a:endParaRPr>
              </a:p>
              <a:p>
                <a:r>
                  <a:rPr lang="es-ES" sz="1200" kern="1200" dirty="0">
                    <a:solidFill>
                      <a:schemeClr val="tx1"/>
                    </a:solidFill>
                    <a:effectLst/>
                    <a:latin typeface="+mn-lt"/>
                    <a:ea typeface="+mn-ea"/>
                    <a:cs typeface="+mn-cs"/>
                  </a:rPr>
                  <a:t>la pérdida total va a tener esta expresión va a ser el sumatorio de todas estas pérdidas pequeñas y una época de entrenamiento va a consistir en calcular todas estas pérdidas pequeñas sumarlas y calcular la pérdida grande </a:t>
                </a:r>
              </a:p>
              <a:p>
                <a:endParaRPr lang="es-E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s-ES" sz="1200" kern="1200" dirty="0">
                    <a:solidFill>
                      <a:schemeClr val="tx1"/>
                    </a:solidFill>
                    <a:effectLst/>
                    <a:latin typeface="+mn-lt"/>
                    <a:ea typeface="+mn-ea"/>
                    <a:cs typeface="+mn-cs"/>
                  </a:rPr>
                  <a:t>con esa pérdida grande hacemos el </a:t>
                </a:r>
                <a:r>
                  <a:rPr lang="es-ES" sz="1200" kern="1200" dirty="0" err="1">
                    <a:solidFill>
                      <a:schemeClr val="tx1"/>
                    </a:solidFill>
                    <a:effectLst/>
                    <a:latin typeface="+mn-lt"/>
                    <a:ea typeface="+mn-ea"/>
                    <a:cs typeface="+mn-cs"/>
                  </a:rPr>
                  <a:t>backpropagation</a:t>
                </a:r>
                <a:r>
                  <a:rPr lang="es-ES" sz="1200" kern="1200" dirty="0">
                    <a:solidFill>
                      <a:schemeClr val="tx1"/>
                    </a:solidFill>
                    <a:effectLst/>
                    <a:latin typeface="+mn-lt"/>
                    <a:ea typeface="+mn-ea"/>
                    <a:cs typeface="+mn-cs"/>
                  </a:rPr>
                  <a:t> y calculamos los nuevos pesos y sesgos que son los de siempre </a:t>
                </a:r>
                <a14:m>
                  <m:oMath xmlns:m="http://schemas.openxmlformats.org/officeDocument/2006/math">
                    <m:r>
                      <a:rPr lang="es-ES" sz="1200" b="1" i="1" kern="1200" smtClean="0">
                        <a:solidFill>
                          <a:schemeClr val="tx1"/>
                        </a:solidFill>
                        <a:latin typeface="Cambria Math" panose="02040503050406030204" pitchFamily="18" charset="0"/>
                      </a:rPr>
                      <m:t>(</m:t>
                    </m:r>
                    <m:sSub>
                      <m:sSubPr>
                        <m:ctrlPr>
                          <a:rPr lang="ar-AE" sz="1200" i="1" kern="1200" smtClean="0">
                            <a:solidFill>
                              <a:schemeClr val="tx1"/>
                            </a:solidFill>
                            <a:latin typeface="Cambria Math" panose="02040503050406030204" pitchFamily="18" charset="0"/>
                          </a:rPr>
                        </m:ctrlPr>
                      </m:sSubPr>
                      <m:e>
                        <m:r>
                          <a:rPr lang="ar-AE" sz="1200" i="1" kern="1200">
                            <a:solidFill>
                              <a:schemeClr val="tx1"/>
                            </a:solidFill>
                            <a:latin typeface="Cambria Math" panose="02040503050406030204" pitchFamily="18" charset="0"/>
                          </a:rPr>
                          <m:t>𝑊</m:t>
                        </m:r>
                      </m:e>
                      <m:sub>
                        <m:r>
                          <a:rPr lang="ar-AE" sz="1200" i="1" kern="1200">
                            <a:solidFill>
                              <a:schemeClr val="tx1"/>
                            </a:solidFill>
                            <a:latin typeface="Cambria Math" panose="02040503050406030204" pitchFamily="18" charset="0"/>
                          </a:rPr>
                          <m:t>𝑥</m:t>
                        </m:r>
                        <m:r>
                          <a:rPr lang="ar-AE" sz="1200" i="1" kern="1200">
                            <a:solidFill>
                              <a:schemeClr val="tx1"/>
                            </a:solidFill>
                            <a:latin typeface="Cambria Math" panose="02040503050406030204" pitchFamily="18" charset="0"/>
                          </a:rPr>
                          <m:t>h</m:t>
                        </m:r>
                      </m:sub>
                    </m:sSub>
                    <m:r>
                      <a:rPr lang="es-ES" sz="1200" b="1" i="1" kern="1200" smtClean="0">
                        <a:solidFill>
                          <a:schemeClr val="tx1"/>
                        </a:solidFill>
                        <a:latin typeface="Cambria Math" panose="02040503050406030204" pitchFamily="18" charset="0"/>
                      </a:rPr>
                      <m:t>, </m:t>
                    </m:r>
                    <m:sSub>
                      <m:sSubPr>
                        <m:ctrlPr>
                          <a:rPr lang="ar-AE" sz="1200" i="1" kern="1200">
                            <a:solidFill>
                              <a:schemeClr val="tx1"/>
                            </a:solidFill>
                            <a:latin typeface="Cambria Math" panose="02040503050406030204" pitchFamily="18" charset="0"/>
                          </a:rPr>
                        </m:ctrlPr>
                      </m:sSubPr>
                      <m:e>
                        <m:r>
                          <a:rPr lang="ar-AE" sz="1200" i="1" kern="1200">
                            <a:solidFill>
                              <a:schemeClr val="tx1"/>
                            </a:solidFill>
                            <a:latin typeface="Cambria Math" panose="02040503050406030204" pitchFamily="18" charset="0"/>
                          </a:rPr>
                          <m:t>𝑊</m:t>
                        </m:r>
                      </m:e>
                      <m:sub>
                        <m:r>
                          <a:rPr lang="ar-AE" sz="1200" i="1" kern="1200">
                            <a:solidFill>
                              <a:schemeClr val="tx1"/>
                            </a:solidFill>
                            <a:latin typeface="Cambria Math" panose="02040503050406030204" pitchFamily="18" charset="0"/>
                          </a:rPr>
                          <m:t>hh</m:t>
                        </m:r>
                      </m:sub>
                    </m:sSub>
                    <m:r>
                      <a:rPr lang="es-ES" sz="1200" b="1" i="1" kern="1200" smtClean="0">
                        <a:solidFill>
                          <a:schemeClr val="tx1"/>
                        </a:solidFill>
                        <a:latin typeface="Cambria Math" panose="02040503050406030204" pitchFamily="18" charset="0"/>
                      </a:rPr>
                      <m:t>, </m:t>
                    </m:r>
                    <m:sSub>
                      <m:sSubPr>
                        <m:ctrlPr>
                          <a:rPr lang="ar-AE" i="1">
                            <a:solidFill>
                              <a:schemeClr val="tx1"/>
                            </a:solidFill>
                            <a:latin typeface="Cambria Math" panose="02040503050406030204" pitchFamily="18" charset="0"/>
                          </a:rPr>
                        </m:ctrlPr>
                      </m:sSubPr>
                      <m:e>
                        <m:r>
                          <a:rPr lang="ar-AE" i="1">
                            <a:solidFill>
                              <a:schemeClr val="tx1"/>
                            </a:solidFill>
                            <a:latin typeface="Cambria Math" panose="02040503050406030204" pitchFamily="18" charset="0"/>
                          </a:rPr>
                          <m:t>𝑊</m:t>
                        </m:r>
                      </m:e>
                      <m:sub>
                        <m:r>
                          <a:rPr lang="ar-AE" i="1">
                            <a:solidFill>
                              <a:schemeClr val="tx1"/>
                            </a:solidFill>
                            <a:latin typeface="Cambria Math" panose="02040503050406030204" pitchFamily="18" charset="0"/>
                          </a:rPr>
                          <m:t>h</m:t>
                        </m:r>
                        <m:r>
                          <a:rPr lang="es-ES" b="1" i="1" smtClean="0">
                            <a:solidFill>
                              <a:schemeClr val="tx1"/>
                            </a:solidFill>
                            <a:latin typeface="Cambria Math" panose="02040503050406030204" pitchFamily="18" charset="0"/>
                          </a:rPr>
                          <m:t>𝒚</m:t>
                        </m:r>
                      </m:sub>
                    </m:sSub>
                    <m:r>
                      <a:rPr lang="es-ES" b="1" i="1" smtClean="0">
                        <a:solidFill>
                          <a:schemeClr val="tx1"/>
                        </a:solidFill>
                        <a:latin typeface="Cambria Math" panose="02040503050406030204" pitchFamily="18" charset="0"/>
                      </a:rPr>
                      <m:t>,</m:t>
                    </m:r>
                    <m:sSub>
                      <m:sSubPr>
                        <m:ctrlPr>
                          <a:rPr lang="ar-AE" i="1">
                            <a:solidFill>
                              <a:schemeClr val="tx1"/>
                            </a:solidFill>
                            <a:latin typeface="Cambria Math" panose="02040503050406030204" pitchFamily="18" charset="0"/>
                          </a:rPr>
                        </m:ctrlPr>
                      </m:sSubPr>
                      <m:e>
                        <m:r>
                          <a:rPr lang="ar-AE" i="1">
                            <a:solidFill>
                              <a:schemeClr val="tx1"/>
                            </a:solidFill>
                            <a:latin typeface="Cambria Math" panose="02040503050406030204" pitchFamily="18" charset="0"/>
                          </a:rPr>
                          <m:t>𝑏</m:t>
                        </m:r>
                      </m:e>
                      <m:sub>
                        <m:r>
                          <a:rPr lang="ar-AE" i="1">
                            <a:solidFill>
                              <a:schemeClr val="tx1"/>
                            </a:solidFill>
                            <a:latin typeface="Cambria Math" panose="02040503050406030204" pitchFamily="18" charset="0"/>
                          </a:rPr>
                          <m:t>h</m:t>
                        </m:r>
                      </m:sub>
                    </m:sSub>
                    <m:r>
                      <a:rPr lang="es-ES">
                        <a:solidFill>
                          <a:schemeClr val="tx1"/>
                        </a:solidFill>
                        <a:latin typeface="Cambria Math" panose="02040503050406030204" pitchFamily="18" charset="0"/>
                      </a:rPr>
                      <m:t>,</m:t>
                    </m:r>
                    <m:sSub>
                      <m:sSubPr>
                        <m:ctrlPr>
                          <a:rPr lang="ar-AE" i="1">
                            <a:solidFill>
                              <a:schemeClr val="tx1"/>
                            </a:solidFill>
                            <a:latin typeface="Cambria Math" panose="02040503050406030204" pitchFamily="18" charset="0"/>
                          </a:rPr>
                        </m:ctrlPr>
                      </m:sSubPr>
                      <m:e>
                        <m:r>
                          <a:rPr lang="ar-AE" i="1">
                            <a:solidFill>
                              <a:schemeClr val="tx1"/>
                            </a:solidFill>
                            <a:latin typeface="Cambria Math" panose="02040503050406030204" pitchFamily="18" charset="0"/>
                          </a:rPr>
                          <m:t>𝑏</m:t>
                        </m:r>
                      </m:e>
                      <m:sub>
                        <m:r>
                          <a:rPr lang="es-ES" b="0" i="1">
                            <a:solidFill>
                              <a:schemeClr val="tx1"/>
                            </a:solidFill>
                            <a:latin typeface="Cambria Math" panose="02040503050406030204" pitchFamily="18" charset="0"/>
                          </a:rPr>
                          <m:t>𝑦</m:t>
                        </m:r>
                      </m:sub>
                    </m:sSub>
                    <m:r>
                      <a:rPr lang="es-ES" b="0" i="1" smtClean="0">
                        <a:solidFill>
                          <a:schemeClr val="tx1"/>
                        </a:solidFill>
                        <a:latin typeface="Cambria Math" panose="02040503050406030204" pitchFamily="18" charset="0"/>
                      </a:rPr>
                      <m:t>)</m:t>
                    </m:r>
                  </m:oMath>
                </a14:m>
                <a:r>
                  <a:rPr lang="es-ES" sz="1200" kern="1200" dirty="0">
                    <a:solidFill>
                      <a:schemeClr val="tx1"/>
                    </a:solidFill>
                    <a:effectLst/>
                    <a:latin typeface="+mn-lt"/>
                    <a:ea typeface="+mn-ea"/>
                    <a:cs typeface="+mn-cs"/>
                  </a:rPr>
                  <a:t> y de nuevo vuelta a empezar, </a:t>
                </a:r>
              </a:p>
              <a:p>
                <a:endParaRPr lang="es-ES" sz="1200" kern="1200" dirty="0">
                  <a:solidFill>
                    <a:schemeClr val="tx1"/>
                  </a:solidFill>
                  <a:effectLst/>
                  <a:latin typeface="+mn-lt"/>
                  <a:ea typeface="+mn-ea"/>
                  <a:cs typeface="+mn-cs"/>
                </a:endParaRPr>
              </a:p>
              <a:p>
                <a:r>
                  <a:rPr lang="es-ES" sz="1200" kern="1200" dirty="0">
                    <a:solidFill>
                      <a:schemeClr val="tx1"/>
                    </a:solidFill>
                    <a:effectLst/>
                    <a:latin typeface="+mn-lt"/>
                    <a:ea typeface="+mn-ea"/>
                    <a:cs typeface="+mn-cs"/>
                  </a:rPr>
                  <a:t>volvemos a hacer todo el recorrido desde X1 hasta X7 y volvemos a calcular este error grande que volvemos a minimizar, hasta que este error sea el mínimo posible o sea cero</a:t>
                </a:r>
              </a:p>
              <a:p>
                <a:r>
                  <a:rPr lang="es-ES" sz="1200" kern="1200" dirty="0">
                    <a:solidFill>
                      <a:schemeClr val="tx1"/>
                    </a:solidFill>
                    <a:effectLst/>
                    <a:latin typeface="+mn-lt"/>
                    <a:ea typeface="+mn-ea"/>
                    <a:cs typeface="+mn-cs"/>
                  </a:rPr>
                  <a:t>Y ahí empezaríamos a tener una red completamente entrenada</a:t>
                </a:r>
              </a:p>
              <a:p>
                <a:endParaRPr lang="es-ES" sz="1200" kern="1200" dirty="0">
                  <a:solidFill>
                    <a:schemeClr val="tx1"/>
                  </a:solidFill>
                  <a:effectLst/>
                  <a:latin typeface="+mn-lt"/>
                  <a:ea typeface="+mn-ea"/>
                  <a:cs typeface="+mn-cs"/>
                </a:endParaRPr>
              </a:p>
              <a:p>
                <a:r>
                  <a:rPr lang="es-ES" sz="1200" kern="1200" dirty="0">
                    <a:solidFill>
                      <a:schemeClr val="tx1"/>
                    </a:solidFill>
                    <a:effectLst/>
                    <a:latin typeface="+mn-lt"/>
                    <a:ea typeface="+mn-ea"/>
                    <a:cs typeface="+mn-cs"/>
                  </a:rPr>
                  <a:t>y a partir de x5 y x6 podríamos calcular el x7 (que este sí que no conocemos) </a:t>
                </a:r>
              </a:p>
              <a:p>
                <a:endParaRPr lang="es-ES" sz="1200" kern="1200" dirty="0">
                  <a:solidFill>
                    <a:schemeClr val="tx1"/>
                  </a:solidFill>
                  <a:effectLst/>
                  <a:latin typeface="+mn-lt"/>
                  <a:ea typeface="+mn-ea"/>
                  <a:cs typeface="+mn-cs"/>
                </a:endParaRPr>
              </a:p>
              <a:p>
                <a:r>
                  <a:rPr lang="es-ES" sz="1200" kern="1200" dirty="0">
                    <a:solidFill>
                      <a:schemeClr val="tx1"/>
                    </a:solidFill>
                    <a:effectLst/>
                    <a:latin typeface="+mn-lt"/>
                    <a:ea typeface="+mn-ea"/>
                    <a:cs typeface="+mn-cs"/>
                  </a:rPr>
                  <a:t>y así da igual el tamaño que tengamos de la secuencia que lo único que vamos a hacer es crear este tipo de estructura básica (como vemos en la figura), pasarlo por la secuencia en cuestión, calcular el número de errores y luego predecir el último paso de la secuencia </a:t>
                </a:r>
              </a:p>
              <a:p>
                <a:endParaRPr lang="es-ES" sz="1200" kern="1200" dirty="0">
                  <a:solidFill>
                    <a:schemeClr val="tx1"/>
                  </a:solidFill>
                  <a:effectLst/>
                  <a:latin typeface="+mn-lt"/>
                  <a:ea typeface="+mn-ea"/>
                  <a:cs typeface="+mn-cs"/>
                </a:endParaRPr>
              </a:p>
              <a:p>
                <a:r>
                  <a:rPr lang="es-ES" sz="1200" kern="1200" dirty="0">
                    <a:solidFill>
                      <a:schemeClr val="tx1"/>
                    </a:solidFill>
                    <a:effectLst/>
                    <a:latin typeface="+mn-lt"/>
                    <a:ea typeface="+mn-ea"/>
                    <a:cs typeface="+mn-cs"/>
                  </a:rPr>
                  <a:t>Importante, como estos pesos y sesgos </a:t>
                </a:r>
                <a14:m>
                  <m:oMath xmlns:m="http://schemas.openxmlformats.org/officeDocument/2006/math">
                    <m:r>
                      <a:rPr lang="es-ES" sz="1200" b="1" i="1" kern="1200" smtClean="0">
                        <a:solidFill>
                          <a:schemeClr val="tx1"/>
                        </a:solidFill>
                        <a:latin typeface="Cambria Math" panose="02040503050406030204" pitchFamily="18" charset="0"/>
                      </a:rPr>
                      <m:t>(</m:t>
                    </m:r>
                    <m:sSub>
                      <m:sSubPr>
                        <m:ctrlPr>
                          <a:rPr lang="ar-AE" sz="1200" i="1" kern="1200" smtClean="0">
                            <a:solidFill>
                              <a:schemeClr val="tx1"/>
                            </a:solidFill>
                            <a:latin typeface="Cambria Math" panose="02040503050406030204" pitchFamily="18" charset="0"/>
                          </a:rPr>
                        </m:ctrlPr>
                      </m:sSubPr>
                      <m:e>
                        <m:r>
                          <a:rPr lang="ar-AE" sz="1200" i="1" kern="1200">
                            <a:solidFill>
                              <a:schemeClr val="tx1"/>
                            </a:solidFill>
                            <a:latin typeface="Cambria Math" panose="02040503050406030204" pitchFamily="18" charset="0"/>
                          </a:rPr>
                          <m:t>𝑊</m:t>
                        </m:r>
                      </m:e>
                      <m:sub>
                        <m:r>
                          <a:rPr lang="ar-AE" sz="1200" i="1" kern="1200">
                            <a:solidFill>
                              <a:schemeClr val="tx1"/>
                            </a:solidFill>
                            <a:latin typeface="Cambria Math" panose="02040503050406030204" pitchFamily="18" charset="0"/>
                          </a:rPr>
                          <m:t>𝑥</m:t>
                        </m:r>
                        <m:r>
                          <a:rPr lang="ar-AE" sz="1200" i="1" kern="1200">
                            <a:solidFill>
                              <a:schemeClr val="tx1"/>
                            </a:solidFill>
                            <a:latin typeface="Cambria Math" panose="02040503050406030204" pitchFamily="18" charset="0"/>
                          </a:rPr>
                          <m:t>h</m:t>
                        </m:r>
                      </m:sub>
                    </m:sSub>
                    <m:r>
                      <a:rPr lang="es-ES" sz="1200" b="1" i="1" kern="1200" smtClean="0">
                        <a:solidFill>
                          <a:schemeClr val="tx1"/>
                        </a:solidFill>
                        <a:latin typeface="Cambria Math" panose="02040503050406030204" pitchFamily="18" charset="0"/>
                      </a:rPr>
                      <m:t>, </m:t>
                    </m:r>
                    <m:sSub>
                      <m:sSubPr>
                        <m:ctrlPr>
                          <a:rPr lang="ar-AE" sz="1200" i="1" kern="1200">
                            <a:solidFill>
                              <a:schemeClr val="tx1"/>
                            </a:solidFill>
                            <a:latin typeface="Cambria Math" panose="02040503050406030204" pitchFamily="18" charset="0"/>
                          </a:rPr>
                        </m:ctrlPr>
                      </m:sSubPr>
                      <m:e>
                        <m:r>
                          <a:rPr lang="ar-AE" sz="1200" i="1" kern="1200">
                            <a:solidFill>
                              <a:schemeClr val="tx1"/>
                            </a:solidFill>
                            <a:latin typeface="Cambria Math" panose="02040503050406030204" pitchFamily="18" charset="0"/>
                          </a:rPr>
                          <m:t>𝑊</m:t>
                        </m:r>
                      </m:e>
                      <m:sub>
                        <m:r>
                          <a:rPr lang="ar-AE" sz="1200" i="1" kern="1200">
                            <a:solidFill>
                              <a:schemeClr val="tx1"/>
                            </a:solidFill>
                            <a:latin typeface="Cambria Math" panose="02040503050406030204" pitchFamily="18" charset="0"/>
                          </a:rPr>
                          <m:t>hh</m:t>
                        </m:r>
                      </m:sub>
                    </m:sSub>
                    <m:r>
                      <a:rPr lang="es-ES" sz="1200" b="1" i="1" kern="1200" smtClean="0">
                        <a:solidFill>
                          <a:schemeClr val="tx1"/>
                        </a:solidFill>
                        <a:latin typeface="Cambria Math" panose="02040503050406030204" pitchFamily="18" charset="0"/>
                      </a:rPr>
                      <m:t>, </m:t>
                    </m:r>
                    <m:sSub>
                      <m:sSubPr>
                        <m:ctrlPr>
                          <a:rPr lang="ar-AE" i="1">
                            <a:solidFill>
                              <a:schemeClr val="tx1"/>
                            </a:solidFill>
                            <a:latin typeface="Cambria Math" panose="02040503050406030204" pitchFamily="18" charset="0"/>
                          </a:rPr>
                        </m:ctrlPr>
                      </m:sSubPr>
                      <m:e>
                        <m:r>
                          <a:rPr lang="ar-AE" i="1">
                            <a:solidFill>
                              <a:schemeClr val="tx1"/>
                            </a:solidFill>
                            <a:latin typeface="Cambria Math" panose="02040503050406030204" pitchFamily="18" charset="0"/>
                          </a:rPr>
                          <m:t>𝑊</m:t>
                        </m:r>
                      </m:e>
                      <m:sub>
                        <m:r>
                          <a:rPr lang="ar-AE" i="1">
                            <a:solidFill>
                              <a:schemeClr val="tx1"/>
                            </a:solidFill>
                            <a:latin typeface="Cambria Math" panose="02040503050406030204" pitchFamily="18" charset="0"/>
                          </a:rPr>
                          <m:t>h</m:t>
                        </m:r>
                        <m:r>
                          <a:rPr lang="es-ES" b="1" i="1" smtClean="0">
                            <a:solidFill>
                              <a:schemeClr val="tx1"/>
                            </a:solidFill>
                            <a:latin typeface="Cambria Math" panose="02040503050406030204" pitchFamily="18" charset="0"/>
                          </a:rPr>
                          <m:t>𝒚</m:t>
                        </m:r>
                      </m:sub>
                    </m:sSub>
                    <m:r>
                      <a:rPr lang="es-ES" b="1" i="1" smtClean="0">
                        <a:solidFill>
                          <a:schemeClr val="tx1"/>
                        </a:solidFill>
                        <a:latin typeface="Cambria Math" panose="02040503050406030204" pitchFamily="18" charset="0"/>
                      </a:rPr>
                      <m:t>,</m:t>
                    </m:r>
                    <m:sSub>
                      <m:sSubPr>
                        <m:ctrlPr>
                          <a:rPr lang="ar-AE" i="1">
                            <a:solidFill>
                              <a:schemeClr val="tx1"/>
                            </a:solidFill>
                            <a:latin typeface="Cambria Math" panose="02040503050406030204" pitchFamily="18" charset="0"/>
                          </a:rPr>
                        </m:ctrlPr>
                      </m:sSubPr>
                      <m:e>
                        <m:r>
                          <a:rPr lang="ar-AE" i="1">
                            <a:solidFill>
                              <a:schemeClr val="tx1"/>
                            </a:solidFill>
                            <a:latin typeface="Cambria Math" panose="02040503050406030204" pitchFamily="18" charset="0"/>
                          </a:rPr>
                          <m:t>𝑏</m:t>
                        </m:r>
                      </m:e>
                      <m:sub>
                        <m:r>
                          <a:rPr lang="ar-AE" i="1">
                            <a:solidFill>
                              <a:schemeClr val="tx1"/>
                            </a:solidFill>
                            <a:latin typeface="Cambria Math" panose="02040503050406030204" pitchFamily="18" charset="0"/>
                          </a:rPr>
                          <m:t>h</m:t>
                        </m:r>
                      </m:sub>
                    </m:sSub>
                    <m:r>
                      <a:rPr lang="es-ES">
                        <a:solidFill>
                          <a:schemeClr val="tx1"/>
                        </a:solidFill>
                        <a:latin typeface="Cambria Math" panose="02040503050406030204" pitchFamily="18" charset="0"/>
                      </a:rPr>
                      <m:t>,</m:t>
                    </m:r>
                    <m:sSub>
                      <m:sSubPr>
                        <m:ctrlPr>
                          <a:rPr lang="ar-AE" i="1">
                            <a:solidFill>
                              <a:schemeClr val="tx1"/>
                            </a:solidFill>
                            <a:latin typeface="Cambria Math" panose="02040503050406030204" pitchFamily="18" charset="0"/>
                          </a:rPr>
                        </m:ctrlPr>
                      </m:sSubPr>
                      <m:e>
                        <m:r>
                          <a:rPr lang="ar-AE" i="1">
                            <a:solidFill>
                              <a:schemeClr val="tx1"/>
                            </a:solidFill>
                            <a:latin typeface="Cambria Math" panose="02040503050406030204" pitchFamily="18" charset="0"/>
                          </a:rPr>
                          <m:t>𝑏</m:t>
                        </m:r>
                      </m:e>
                      <m:sub>
                        <m:r>
                          <a:rPr lang="es-ES" b="0" i="1">
                            <a:solidFill>
                              <a:schemeClr val="tx1"/>
                            </a:solidFill>
                            <a:latin typeface="Cambria Math" panose="02040503050406030204" pitchFamily="18" charset="0"/>
                          </a:rPr>
                          <m:t>𝑦</m:t>
                        </m:r>
                      </m:sub>
                    </m:sSub>
                    <m:r>
                      <a:rPr lang="es-ES" b="0" i="1" smtClean="0">
                        <a:solidFill>
                          <a:schemeClr val="tx1"/>
                        </a:solidFill>
                        <a:latin typeface="Cambria Math" panose="02040503050406030204" pitchFamily="18" charset="0"/>
                      </a:rPr>
                      <m:t>)</m:t>
                    </m:r>
                  </m:oMath>
                </a14:m>
                <a:r>
                  <a:rPr lang="es-ES" sz="1200" kern="1200" dirty="0">
                    <a:solidFill>
                      <a:schemeClr val="tx1"/>
                    </a:solidFill>
                    <a:effectLst/>
                    <a:latin typeface="+mn-lt"/>
                    <a:ea typeface="+mn-ea"/>
                    <a:cs typeface="+mn-cs"/>
                  </a:rPr>
                  <a:t> simplemente son esta estructura básica de la figura que se va moviendo (como vemos en la transparencia a partir de la secuencia desde X1 y X2 hasta X5 y X6, da igual cuánto tengamos aquí, si tenemos 7 o tenemos 70 lo único que va a cambiar es que tendremos que sumar más </a:t>
                </a:r>
                <a:r>
                  <a:rPr lang="es-ES" sz="1200" kern="1200" dirty="0" err="1">
                    <a:solidFill>
                      <a:schemeClr val="tx1"/>
                    </a:solidFill>
                    <a:effectLst/>
                    <a:latin typeface="+mn-lt"/>
                    <a:ea typeface="+mn-ea"/>
                    <a:cs typeface="+mn-cs"/>
                  </a:rPr>
                  <a:t>minierrores</a:t>
                </a:r>
                <a:r>
                  <a:rPr lang="es-ES" sz="1200" kern="1200" dirty="0">
                    <a:solidFill>
                      <a:schemeClr val="tx1"/>
                    </a:solidFill>
                    <a:effectLst/>
                    <a:latin typeface="+mn-lt"/>
                    <a:ea typeface="+mn-ea"/>
                    <a:cs typeface="+mn-cs"/>
                  </a:rPr>
                  <a:t>, pero el resto no cambia </a:t>
                </a:r>
                <a:r>
                  <a:rPr lang="es-ES" sz="1200" kern="1200" dirty="0">
                    <a:solidFill>
                      <a:schemeClr val="tx1"/>
                    </a:solidFill>
                    <a:effectLst/>
                    <a:latin typeface="+mn-lt"/>
                    <a:ea typeface="+mn-ea"/>
                    <a:cs typeface="+mn-cs"/>
                    <a:sym typeface="Wingdings" panose="05000000000000000000" pitchFamily="2" charset="2"/>
                  </a:rPr>
                  <a:t> </a:t>
                </a:r>
              </a:p>
              <a:p>
                <a:r>
                  <a:rPr lang="es-ES" sz="1200" kern="1200" dirty="0">
                    <a:solidFill>
                      <a:schemeClr val="tx1"/>
                    </a:solidFill>
                    <a:effectLst/>
                    <a:latin typeface="+mn-lt"/>
                    <a:ea typeface="+mn-ea"/>
                    <a:cs typeface="+mn-cs"/>
                  </a:rPr>
                  <a:t>por eso se dice que este tipo de estructura es independiente a la dimensión del input, a la dimensión de la secuencia lo único que va a averiguar es el patrón oculto con el que a través de x1 y de x2 se calcula el siguiente paso de la secuencia y por supuesto no tenemos por qué tener solamente 5 pesos y sesgos, podemos cambiar la estructura a arquitecturas típicas donde vamos a tener un input, una capa oculta y un output, </a:t>
                </a:r>
              </a:p>
              <a:p>
                <a:endParaRPr lang="es-ES" sz="1200" kern="1200" dirty="0">
                  <a:solidFill>
                    <a:schemeClr val="tx1"/>
                  </a:solidFill>
                  <a:effectLst/>
                  <a:latin typeface="+mn-lt"/>
                  <a:ea typeface="+mn-ea"/>
                  <a:cs typeface="+mn-cs"/>
                </a:endParaRPr>
              </a:p>
              <a:p>
                <a:endParaRPr lang="es-ES" sz="1200" kern="1200" dirty="0">
                  <a:solidFill>
                    <a:schemeClr val="tx1"/>
                  </a:solidFill>
                  <a:effectLst/>
                  <a:latin typeface="+mn-lt"/>
                  <a:ea typeface="+mn-ea"/>
                  <a:cs typeface="+mn-cs"/>
                </a:endParaRPr>
              </a:p>
              <a:p>
                <a:endParaRPr lang="es-ES" dirty="0"/>
              </a:p>
              <a:p>
                <a:endParaRPr lang="en-US" dirty="0"/>
              </a:p>
            </p:txBody>
          </p:sp>
        </mc:Choice>
        <mc:Fallback xmlns="">
          <p:sp>
            <p:nvSpPr>
              <p:cNvPr id="3" name="Marcador de notas 2">
                <a:extLst>
                  <a:ext uri="{FF2B5EF4-FFF2-40B4-BE49-F238E27FC236}">
                    <a16:creationId xmlns:a16="http://schemas.microsoft.com/office/drawing/2014/main" id="{5D6B2AC6-F207-DC23-B2DF-C5E2881691FE}"/>
                  </a:ext>
                </a:extLst>
              </p:cNvPr>
              <p:cNvSpPr>
                <a:spLocks noGrp="1"/>
              </p:cNvSpPr>
              <p:nvPr>
                <p:ph type="body" idx="1"/>
              </p:nvPr>
            </p:nvSpPr>
            <p:spPr/>
            <p:txBody>
              <a:bodyPr/>
              <a:lstStyle/>
              <a:p>
                <a:endParaRPr lang="es-E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s-ES" sz="1200" dirty="0"/>
                  <a:t>Cuando se desplazan todos los caracteres hasta input 5, 6 para sacar el valor final de x7 tenemos las perdidas totales y eso corresponde a una etapa de entrenamiento</a:t>
                </a:r>
              </a:p>
              <a:p>
                <a:endParaRPr lang="es-ES" sz="1200" kern="1200" dirty="0">
                  <a:solidFill>
                    <a:schemeClr val="tx1"/>
                  </a:solidFill>
                  <a:effectLst/>
                  <a:latin typeface="+mn-lt"/>
                  <a:ea typeface="+mn-ea"/>
                  <a:cs typeface="+mn-cs"/>
                </a:endParaRPr>
              </a:p>
              <a:p>
                <a:r>
                  <a:rPr lang="es-ES" sz="1200" kern="1200" dirty="0">
                    <a:solidFill>
                      <a:schemeClr val="tx1"/>
                    </a:solidFill>
                    <a:effectLst/>
                    <a:latin typeface="+mn-lt"/>
                    <a:ea typeface="+mn-ea"/>
                    <a:cs typeface="+mn-cs"/>
                  </a:rPr>
                  <a:t>la pérdida total va a tener esta expresión va a ser el sumatorio de todas estas pérdidas pequeñas y una época de entrenamiento va a consistir en calcular todas estas pérdidas pequeñas sumarlas y calcular la pérdida grande </a:t>
                </a:r>
              </a:p>
              <a:p>
                <a:endParaRPr lang="es-E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s-ES" sz="1200" kern="1200" dirty="0">
                    <a:solidFill>
                      <a:schemeClr val="tx1"/>
                    </a:solidFill>
                    <a:effectLst/>
                    <a:latin typeface="+mn-lt"/>
                    <a:ea typeface="+mn-ea"/>
                    <a:cs typeface="+mn-cs"/>
                  </a:rPr>
                  <a:t>con esa pérdida grande hacemos el </a:t>
                </a:r>
                <a:r>
                  <a:rPr lang="es-ES" sz="1200" kern="1200" dirty="0" err="1">
                    <a:solidFill>
                      <a:schemeClr val="tx1"/>
                    </a:solidFill>
                    <a:effectLst/>
                    <a:latin typeface="+mn-lt"/>
                    <a:ea typeface="+mn-ea"/>
                    <a:cs typeface="+mn-cs"/>
                  </a:rPr>
                  <a:t>backpropagation</a:t>
                </a:r>
                <a:r>
                  <a:rPr lang="es-ES" sz="1200" kern="1200" dirty="0">
                    <a:solidFill>
                      <a:schemeClr val="tx1"/>
                    </a:solidFill>
                    <a:effectLst/>
                    <a:latin typeface="+mn-lt"/>
                    <a:ea typeface="+mn-ea"/>
                    <a:cs typeface="+mn-cs"/>
                  </a:rPr>
                  <a:t> y calculamos los nuevos pesos y sesgos que son los de siempre </a:t>
                </a:r>
                <a:r>
                  <a:rPr lang="es-ES" sz="1200" b="1" i="0" kern="1200">
                    <a:solidFill>
                      <a:schemeClr val="tx1"/>
                    </a:solidFill>
                    <a:latin typeface="Cambria Math" panose="02040503050406030204" pitchFamily="18" charset="0"/>
                  </a:rPr>
                  <a:t>(</a:t>
                </a:r>
                <a:r>
                  <a:rPr lang="ar-AE" sz="1200" i="0" kern="1200">
                    <a:solidFill>
                      <a:schemeClr val="tx1"/>
                    </a:solidFill>
                    <a:latin typeface="Cambria Math" panose="02040503050406030204" pitchFamily="18" charset="0"/>
                  </a:rPr>
                  <a:t>𝑊_𝑥ℎ</a:t>
                </a:r>
                <a:r>
                  <a:rPr lang="es-ES" sz="1200" b="1" i="0" kern="1200">
                    <a:solidFill>
                      <a:schemeClr val="tx1"/>
                    </a:solidFill>
                    <a:latin typeface="Cambria Math" panose="02040503050406030204" pitchFamily="18" charset="0"/>
                  </a:rPr>
                  <a:t>, </a:t>
                </a:r>
                <a:r>
                  <a:rPr lang="ar-AE" sz="1200" i="0" kern="1200">
                    <a:solidFill>
                      <a:schemeClr val="tx1"/>
                    </a:solidFill>
                    <a:latin typeface="Cambria Math" panose="02040503050406030204" pitchFamily="18" charset="0"/>
                  </a:rPr>
                  <a:t>𝑊_ℎℎ</a:t>
                </a:r>
                <a:r>
                  <a:rPr lang="es-ES" sz="1200" b="1" i="0" kern="1200">
                    <a:solidFill>
                      <a:schemeClr val="tx1"/>
                    </a:solidFill>
                    <a:latin typeface="Cambria Math" panose="02040503050406030204" pitchFamily="18" charset="0"/>
                  </a:rPr>
                  <a:t>, </a:t>
                </a:r>
                <a:r>
                  <a:rPr lang="ar-AE" i="0">
                    <a:solidFill>
                      <a:schemeClr val="tx1"/>
                    </a:solidFill>
                    <a:latin typeface="Cambria Math" panose="02040503050406030204" pitchFamily="18" charset="0"/>
                  </a:rPr>
                  <a:t>𝑊_ℎ</a:t>
                </a:r>
                <a:r>
                  <a:rPr lang="es-ES" b="1" i="0">
                    <a:solidFill>
                      <a:schemeClr val="tx1"/>
                    </a:solidFill>
                    <a:latin typeface="Cambria Math" panose="02040503050406030204" pitchFamily="18" charset="0"/>
                  </a:rPr>
                  <a:t>𝒚,</a:t>
                </a:r>
                <a:r>
                  <a:rPr lang="ar-AE" i="0">
                    <a:solidFill>
                      <a:schemeClr val="tx1"/>
                    </a:solidFill>
                    <a:latin typeface="Cambria Math" panose="02040503050406030204" pitchFamily="18" charset="0"/>
                  </a:rPr>
                  <a:t>𝑏_ℎ</a:t>
                </a:r>
                <a:r>
                  <a:rPr lang="es-ES" i="0">
                    <a:solidFill>
                      <a:schemeClr val="tx1"/>
                    </a:solidFill>
                    <a:latin typeface="Cambria Math" panose="02040503050406030204" pitchFamily="18" charset="0"/>
                  </a:rPr>
                  <a:t>,</a:t>
                </a:r>
                <a:r>
                  <a:rPr lang="ar-AE" i="0">
                    <a:solidFill>
                      <a:schemeClr val="tx1"/>
                    </a:solidFill>
                    <a:latin typeface="Cambria Math" panose="02040503050406030204" pitchFamily="18" charset="0"/>
                  </a:rPr>
                  <a:t>𝑏_</a:t>
                </a:r>
                <a:r>
                  <a:rPr lang="es-ES" b="0" i="0">
                    <a:solidFill>
                      <a:schemeClr val="tx1"/>
                    </a:solidFill>
                    <a:latin typeface="Cambria Math" panose="02040503050406030204" pitchFamily="18" charset="0"/>
                  </a:rPr>
                  <a:t>𝑦)</a:t>
                </a:r>
                <a:r>
                  <a:rPr lang="es-ES" sz="1200" kern="1200" dirty="0">
                    <a:solidFill>
                      <a:schemeClr val="tx1"/>
                    </a:solidFill>
                    <a:effectLst/>
                    <a:latin typeface="+mn-lt"/>
                    <a:ea typeface="+mn-ea"/>
                    <a:cs typeface="+mn-cs"/>
                  </a:rPr>
                  <a:t> y de nuevo vuelta a empezar, </a:t>
                </a:r>
              </a:p>
              <a:p>
                <a:endParaRPr lang="es-ES" sz="1200" kern="1200" dirty="0">
                  <a:solidFill>
                    <a:schemeClr val="tx1"/>
                  </a:solidFill>
                  <a:effectLst/>
                  <a:latin typeface="+mn-lt"/>
                  <a:ea typeface="+mn-ea"/>
                  <a:cs typeface="+mn-cs"/>
                </a:endParaRPr>
              </a:p>
              <a:p>
                <a:r>
                  <a:rPr lang="es-ES" sz="1200" kern="1200" dirty="0">
                    <a:solidFill>
                      <a:schemeClr val="tx1"/>
                    </a:solidFill>
                    <a:effectLst/>
                    <a:latin typeface="+mn-lt"/>
                    <a:ea typeface="+mn-ea"/>
                    <a:cs typeface="+mn-cs"/>
                  </a:rPr>
                  <a:t>volvemos a hacer todo el recorrido desde X1 hasta X7 y volvemos a calcular este error grande que volvemos a minimizar, hasta que este error sea el mínimo posible o sea cero</a:t>
                </a:r>
              </a:p>
              <a:p>
                <a:r>
                  <a:rPr lang="es-ES" sz="1200" kern="1200" dirty="0">
                    <a:solidFill>
                      <a:schemeClr val="tx1"/>
                    </a:solidFill>
                    <a:effectLst/>
                    <a:latin typeface="+mn-lt"/>
                    <a:ea typeface="+mn-ea"/>
                    <a:cs typeface="+mn-cs"/>
                  </a:rPr>
                  <a:t>Y ahí empezaríamos a tener una red completamente entrenada</a:t>
                </a:r>
              </a:p>
              <a:p>
                <a:endParaRPr lang="es-ES" sz="1200" kern="1200" dirty="0">
                  <a:solidFill>
                    <a:schemeClr val="tx1"/>
                  </a:solidFill>
                  <a:effectLst/>
                  <a:latin typeface="+mn-lt"/>
                  <a:ea typeface="+mn-ea"/>
                  <a:cs typeface="+mn-cs"/>
                </a:endParaRPr>
              </a:p>
              <a:p>
                <a:r>
                  <a:rPr lang="es-ES" sz="1200" kern="1200" dirty="0">
                    <a:solidFill>
                      <a:schemeClr val="tx1"/>
                    </a:solidFill>
                    <a:effectLst/>
                    <a:latin typeface="+mn-lt"/>
                    <a:ea typeface="+mn-ea"/>
                    <a:cs typeface="+mn-cs"/>
                  </a:rPr>
                  <a:t>y a partir de x5 y x6 podríamos calcular el x7 (que este sí que no conocemos) </a:t>
                </a:r>
              </a:p>
              <a:p>
                <a:endParaRPr lang="es-ES" sz="1200" kern="1200" dirty="0">
                  <a:solidFill>
                    <a:schemeClr val="tx1"/>
                  </a:solidFill>
                  <a:effectLst/>
                  <a:latin typeface="+mn-lt"/>
                  <a:ea typeface="+mn-ea"/>
                  <a:cs typeface="+mn-cs"/>
                </a:endParaRPr>
              </a:p>
              <a:p>
                <a:r>
                  <a:rPr lang="es-ES" sz="1200" kern="1200" dirty="0">
                    <a:solidFill>
                      <a:schemeClr val="tx1"/>
                    </a:solidFill>
                    <a:effectLst/>
                    <a:latin typeface="+mn-lt"/>
                    <a:ea typeface="+mn-ea"/>
                    <a:cs typeface="+mn-cs"/>
                  </a:rPr>
                  <a:t>y así da igual el tamaño que tengamos de la secuencia que lo único que vamos a hacer es crear este tipo de estructura básica (como vemos en la figura), pasarlo por la secuencia en cuestión, calcular el número de errores y luego predecir el último paso de la secuencia </a:t>
                </a:r>
              </a:p>
              <a:p>
                <a:endParaRPr lang="es-ES" sz="1200" kern="1200" dirty="0">
                  <a:solidFill>
                    <a:schemeClr val="tx1"/>
                  </a:solidFill>
                  <a:effectLst/>
                  <a:latin typeface="+mn-lt"/>
                  <a:ea typeface="+mn-ea"/>
                  <a:cs typeface="+mn-cs"/>
                </a:endParaRPr>
              </a:p>
              <a:p>
                <a:r>
                  <a:rPr lang="es-ES" sz="1200" kern="1200" dirty="0">
                    <a:solidFill>
                      <a:schemeClr val="tx1"/>
                    </a:solidFill>
                    <a:effectLst/>
                    <a:latin typeface="+mn-lt"/>
                    <a:ea typeface="+mn-ea"/>
                    <a:cs typeface="+mn-cs"/>
                  </a:rPr>
                  <a:t>Importante, como estos pesos y sesgos </a:t>
                </a:r>
                <a:r>
                  <a:rPr lang="es-ES" sz="1200" b="1" i="0" kern="1200">
                    <a:solidFill>
                      <a:schemeClr val="tx1"/>
                    </a:solidFill>
                    <a:latin typeface="Cambria Math" panose="02040503050406030204" pitchFamily="18" charset="0"/>
                  </a:rPr>
                  <a:t>(</a:t>
                </a:r>
                <a:r>
                  <a:rPr lang="ar-AE" sz="1200" i="0" kern="1200">
                    <a:solidFill>
                      <a:schemeClr val="tx1"/>
                    </a:solidFill>
                    <a:latin typeface="Cambria Math" panose="02040503050406030204" pitchFamily="18" charset="0"/>
                  </a:rPr>
                  <a:t>𝑊_𝑥ℎ</a:t>
                </a:r>
                <a:r>
                  <a:rPr lang="es-ES" sz="1200" b="1" i="0" kern="1200">
                    <a:solidFill>
                      <a:schemeClr val="tx1"/>
                    </a:solidFill>
                    <a:latin typeface="Cambria Math" panose="02040503050406030204" pitchFamily="18" charset="0"/>
                  </a:rPr>
                  <a:t>, </a:t>
                </a:r>
                <a:r>
                  <a:rPr lang="ar-AE" sz="1200" i="0" kern="1200">
                    <a:solidFill>
                      <a:schemeClr val="tx1"/>
                    </a:solidFill>
                    <a:latin typeface="Cambria Math" panose="02040503050406030204" pitchFamily="18" charset="0"/>
                  </a:rPr>
                  <a:t>𝑊_ℎℎ</a:t>
                </a:r>
                <a:r>
                  <a:rPr lang="es-ES" sz="1200" b="1" i="0" kern="1200">
                    <a:solidFill>
                      <a:schemeClr val="tx1"/>
                    </a:solidFill>
                    <a:latin typeface="Cambria Math" panose="02040503050406030204" pitchFamily="18" charset="0"/>
                  </a:rPr>
                  <a:t>, </a:t>
                </a:r>
                <a:r>
                  <a:rPr lang="ar-AE" i="0">
                    <a:solidFill>
                      <a:schemeClr val="tx1"/>
                    </a:solidFill>
                    <a:latin typeface="Cambria Math" panose="02040503050406030204" pitchFamily="18" charset="0"/>
                  </a:rPr>
                  <a:t>𝑊_ℎ</a:t>
                </a:r>
                <a:r>
                  <a:rPr lang="es-ES" b="1" i="0">
                    <a:solidFill>
                      <a:schemeClr val="tx1"/>
                    </a:solidFill>
                    <a:latin typeface="Cambria Math" panose="02040503050406030204" pitchFamily="18" charset="0"/>
                  </a:rPr>
                  <a:t>𝒚,</a:t>
                </a:r>
                <a:r>
                  <a:rPr lang="ar-AE" i="0">
                    <a:solidFill>
                      <a:schemeClr val="tx1"/>
                    </a:solidFill>
                    <a:latin typeface="Cambria Math" panose="02040503050406030204" pitchFamily="18" charset="0"/>
                  </a:rPr>
                  <a:t>𝑏_ℎ</a:t>
                </a:r>
                <a:r>
                  <a:rPr lang="es-ES" i="0">
                    <a:solidFill>
                      <a:schemeClr val="tx1"/>
                    </a:solidFill>
                    <a:latin typeface="Cambria Math" panose="02040503050406030204" pitchFamily="18" charset="0"/>
                  </a:rPr>
                  <a:t>,</a:t>
                </a:r>
                <a:r>
                  <a:rPr lang="ar-AE" i="0">
                    <a:solidFill>
                      <a:schemeClr val="tx1"/>
                    </a:solidFill>
                    <a:latin typeface="Cambria Math" panose="02040503050406030204" pitchFamily="18" charset="0"/>
                  </a:rPr>
                  <a:t>𝑏_</a:t>
                </a:r>
                <a:r>
                  <a:rPr lang="es-ES" b="0" i="0">
                    <a:solidFill>
                      <a:schemeClr val="tx1"/>
                    </a:solidFill>
                    <a:latin typeface="Cambria Math" panose="02040503050406030204" pitchFamily="18" charset="0"/>
                  </a:rPr>
                  <a:t>𝑦)</a:t>
                </a:r>
                <a:r>
                  <a:rPr lang="es-ES" sz="1200" kern="1200" dirty="0">
                    <a:solidFill>
                      <a:schemeClr val="tx1"/>
                    </a:solidFill>
                    <a:effectLst/>
                    <a:latin typeface="+mn-lt"/>
                    <a:ea typeface="+mn-ea"/>
                    <a:cs typeface="+mn-cs"/>
                  </a:rPr>
                  <a:t> simplemente son esta estructura básica de la figura que se va moviendo (como vemos en la transparencia a partir de la secuencia desde X1 y X2 hasta X5 y X6, da igual cuánto tengamos aquí, si tenemos 7 o tenemos 70 lo único que va a cambiar es que tendremos que sumar más </a:t>
                </a:r>
                <a:r>
                  <a:rPr lang="es-ES" sz="1200" kern="1200" dirty="0" err="1">
                    <a:solidFill>
                      <a:schemeClr val="tx1"/>
                    </a:solidFill>
                    <a:effectLst/>
                    <a:latin typeface="+mn-lt"/>
                    <a:ea typeface="+mn-ea"/>
                    <a:cs typeface="+mn-cs"/>
                  </a:rPr>
                  <a:t>minierrores</a:t>
                </a:r>
                <a:r>
                  <a:rPr lang="es-ES" sz="1200" kern="1200" dirty="0">
                    <a:solidFill>
                      <a:schemeClr val="tx1"/>
                    </a:solidFill>
                    <a:effectLst/>
                    <a:latin typeface="+mn-lt"/>
                    <a:ea typeface="+mn-ea"/>
                    <a:cs typeface="+mn-cs"/>
                  </a:rPr>
                  <a:t>, pero el resto no cambia </a:t>
                </a:r>
                <a:r>
                  <a:rPr lang="es-ES" sz="1200" kern="1200" dirty="0">
                    <a:solidFill>
                      <a:schemeClr val="tx1"/>
                    </a:solidFill>
                    <a:effectLst/>
                    <a:latin typeface="+mn-lt"/>
                    <a:ea typeface="+mn-ea"/>
                    <a:cs typeface="+mn-cs"/>
                    <a:sym typeface="Wingdings" panose="05000000000000000000" pitchFamily="2" charset="2"/>
                  </a:rPr>
                  <a:t> </a:t>
                </a:r>
              </a:p>
              <a:p>
                <a:r>
                  <a:rPr lang="es-ES" sz="1200" kern="1200" dirty="0">
                    <a:solidFill>
                      <a:schemeClr val="tx1"/>
                    </a:solidFill>
                    <a:effectLst/>
                    <a:latin typeface="+mn-lt"/>
                    <a:ea typeface="+mn-ea"/>
                    <a:cs typeface="+mn-cs"/>
                  </a:rPr>
                  <a:t>por eso se dice que este tipo de estructura es independiente a la dimensión del input, a la dimensión de la secuencia lo único que va a averiguar es el patrón oculto con el que a través de x1 y de x2 se calcula el siguiente paso de la secuencia y por supuesto no tenemos por qué tener solamente 5 pesos y sesgos, podemos cambiar la estructura a arquitecturas típicas donde vamos a tener un input, una capa oculta y un output, </a:t>
                </a:r>
              </a:p>
              <a:p>
                <a:endParaRPr lang="es-ES" sz="1200" kern="1200" dirty="0">
                  <a:solidFill>
                    <a:schemeClr val="tx1"/>
                  </a:solidFill>
                  <a:effectLst/>
                  <a:latin typeface="+mn-lt"/>
                  <a:ea typeface="+mn-ea"/>
                  <a:cs typeface="+mn-cs"/>
                </a:endParaRPr>
              </a:p>
              <a:p>
                <a:endParaRPr lang="es-ES" sz="1200" kern="1200" dirty="0">
                  <a:solidFill>
                    <a:schemeClr val="tx1"/>
                  </a:solidFill>
                  <a:effectLst/>
                  <a:latin typeface="+mn-lt"/>
                  <a:ea typeface="+mn-ea"/>
                  <a:cs typeface="+mn-cs"/>
                </a:endParaRPr>
              </a:p>
              <a:p>
                <a:endParaRPr lang="es-ES" dirty="0"/>
              </a:p>
              <a:p>
                <a:endParaRPr lang="en-US" dirty="0"/>
              </a:p>
            </p:txBody>
          </p:sp>
        </mc:Fallback>
      </mc:AlternateContent>
      <p:sp>
        <p:nvSpPr>
          <p:cNvPr id="4" name="Marcador de número de diapositiva 3">
            <a:extLst>
              <a:ext uri="{FF2B5EF4-FFF2-40B4-BE49-F238E27FC236}">
                <a16:creationId xmlns:a16="http://schemas.microsoft.com/office/drawing/2014/main" id="{BCC2DBDC-3460-33FA-3251-0FB8EDD169AC}"/>
              </a:ext>
            </a:extLst>
          </p:cNvPr>
          <p:cNvSpPr>
            <a:spLocks noGrp="1"/>
          </p:cNvSpPr>
          <p:nvPr>
            <p:ph type="sldNum" sz="quarter" idx="5"/>
          </p:nvPr>
        </p:nvSpPr>
        <p:spPr/>
        <p:txBody>
          <a:bodyPr/>
          <a:lstStyle/>
          <a:p>
            <a:fld id="{19C9EB4C-06C7-441F-9B0A-620A2ACB834C}" type="slidenum">
              <a:rPr lang="es-ES" smtClean="0"/>
              <a:t>20</a:t>
            </a:fld>
            <a:endParaRPr lang="es-ES"/>
          </a:p>
        </p:txBody>
      </p:sp>
    </p:spTree>
    <p:extLst>
      <p:ext uri="{BB962C8B-B14F-4D97-AF65-F5344CB8AC3E}">
        <p14:creationId xmlns:p14="http://schemas.microsoft.com/office/powerpoint/2010/main" val="28701523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kern="1200" dirty="0">
                <a:solidFill>
                  <a:schemeClr val="tx1"/>
                </a:solidFill>
                <a:effectLst/>
                <a:latin typeface="+mn-lt"/>
                <a:ea typeface="+mn-ea"/>
                <a:cs typeface="+mn-cs"/>
              </a:rPr>
              <a:t>parecido a un </a:t>
            </a:r>
            <a:r>
              <a:rPr lang="es-ES" sz="1200" kern="1200" dirty="0" err="1">
                <a:solidFill>
                  <a:schemeClr val="tx1"/>
                </a:solidFill>
                <a:effectLst/>
                <a:latin typeface="+mn-lt"/>
                <a:ea typeface="+mn-ea"/>
                <a:cs typeface="+mn-cs"/>
              </a:rPr>
              <a:t>multilayer</a:t>
            </a:r>
            <a:r>
              <a:rPr lang="es-ES" sz="1200" kern="1200" dirty="0">
                <a:solidFill>
                  <a:schemeClr val="tx1"/>
                </a:solidFill>
                <a:effectLst/>
                <a:latin typeface="+mn-lt"/>
                <a:ea typeface="+mn-ea"/>
                <a:cs typeface="+mn-cs"/>
              </a:rPr>
              <a:t> </a:t>
            </a:r>
            <a:r>
              <a:rPr lang="es-ES" sz="1200" kern="1200" dirty="0" err="1">
                <a:solidFill>
                  <a:schemeClr val="tx1"/>
                </a:solidFill>
                <a:effectLst/>
                <a:latin typeface="+mn-lt"/>
                <a:ea typeface="+mn-ea"/>
                <a:cs typeface="+mn-cs"/>
              </a:rPr>
              <a:t>perceptro</a:t>
            </a:r>
            <a:r>
              <a:rPr lang="es-ES" sz="1200" kern="1200" dirty="0">
                <a:solidFill>
                  <a:schemeClr val="tx1"/>
                </a:solidFill>
                <a:effectLst/>
                <a:latin typeface="+mn-lt"/>
                <a:ea typeface="+mn-ea"/>
                <a:cs typeface="+mn-cs"/>
              </a:rPr>
              <a:t>, </a:t>
            </a:r>
          </a:p>
          <a:p>
            <a:endParaRPr lang="es-ES" sz="1200" kern="1200" dirty="0">
              <a:solidFill>
                <a:schemeClr val="tx1"/>
              </a:solidFill>
              <a:effectLst/>
              <a:latin typeface="+mn-lt"/>
              <a:ea typeface="+mn-ea"/>
              <a:cs typeface="+mn-cs"/>
            </a:endParaRPr>
          </a:p>
          <a:p>
            <a:r>
              <a:rPr lang="es-ES" sz="1200" kern="1200" dirty="0">
                <a:solidFill>
                  <a:schemeClr val="tx1"/>
                </a:solidFill>
                <a:effectLst/>
                <a:latin typeface="+mn-lt"/>
                <a:ea typeface="+mn-ea"/>
                <a:cs typeface="+mn-cs"/>
              </a:rPr>
              <a:t>podríamos tener esta estructura a partir de un número calcular los siguientes </a:t>
            </a:r>
          </a:p>
          <a:p>
            <a:endParaRPr lang="es-ES" sz="1200" kern="1200" dirty="0">
              <a:solidFill>
                <a:schemeClr val="tx1"/>
              </a:solidFill>
              <a:effectLst/>
              <a:latin typeface="+mn-lt"/>
              <a:ea typeface="+mn-ea"/>
              <a:cs typeface="+mn-cs"/>
            </a:endParaRPr>
          </a:p>
          <a:p>
            <a:r>
              <a:rPr lang="es-ES" sz="1200" kern="1200" dirty="0">
                <a:solidFill>
                  <a:schemeClr val="tx1"/>
                </a:solidFill>
                <a:effectLst/>
                <a:latin typeface="+mn-lt"/>
                <a:ea typeface="+mn-ea"/>
                <a:cs typeface="+mn-cs"/>
              </a:rPr>
              <a:t>a partir de 3 calculamos el siguiente, </a:t>
            </a:r>
          </a:p>
          <a:p>
            <a:endParaRPr lang="es-ES" sz="1200" kern="1200" dirty="0">
              <a:solidFill>
                <a:schemeClr val="tx1"/>
              </a:solidFill>
              <a:effectLst/>
              <a:latin typeface="+mn-lt"/>
              <a:ea typeface="+mn-ea"/>
              <a:cs typeface="+mn-cs"/>
            </a:endParaRPr>
          </a:p>
        </p:txBody>
      </p:sp>
      <p:sp>
        <p:nvSpPr>
          <p:cNvPr id="4" name="Marcador de número de diapositiva 3"/>
          <p:cNvSpPr>
            <a:spLocks noGrp="1"/>
          </p:cNvSpPr>
          <p:nvPr>
            <p:ph type="sldNum" sz="quarter" idx="5"/>
          </p:nvPr>
        </p:nvSpPr>
        <p:spPr/>
        <p:txBody>
          <a:bodyPr/>
          <a:lstStyle/>
          <a:p>
            <a:fld id="{19C9EB4C-06C7-441F-9B0A-620A2ACB834C}" type="slidenum">
              <a:rPr lang="es-ES" smtClean="0"/>
              <a:t>21</a:t>
            </a:fld>
            <a:endParaRPr lang="es-ES"/>
          </a:p>
        </p:txBody>
      </p:sp>
    </p:spTree>
    <p:extLst>
      <p:ext uri="{BB962C8B-B14F-4D97-AF65-F5344CB8AC3E}">
        <p14:creationId xmlns:p14="http://schemas.microsoft.com/office/powerpoint/2010/main" val="14625073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Marcador de notas 2"/>
              <p:cNvSpPr>
                <a:spLocks noGrp="1"/>
              </p:cNvSpPr>
              <p:nvPr>
                <p:ph type="body" idx="1"/>
              </p:nvPr>
            </p:nvSpPr>
            <p:spPr/>
            <p:txBody>
              <a:bodyPr/>
              <a:lstStyle/>
              <a:p>
                <a:r>
                  <a:rPr lang="es-ES" b="1" dirty="0" err="1"/>
                  <a:t>Slide</a:t>
                </a:r>
                <a:r>
                  <a:rPr lang="es-ES" b="1" dirty="0"/>
                  <a:t> 11 – </a:t>
                </a:r>
                <a:r>
                  <a:rPr lang="es-ES" b="1" dirty="0" err="1"/>
                  <a:t>Backpropagation</a:t>
                </a:r>
                <a:r>
                  <a:rPr lang="es-ES" b="1" dirty="0"/>
                  <a:t> </a:t>
                </a:r>
                <a:r>
                  <a:rPr lang="es-ES" b="1" dirty="0" err="1"/>
                  <a:t>Through</a:t>
                </a:r>
                <a:r>
                  <a:rPr lang="es-ES" b="1" dirty="0"/>
                  <a:t> Time</a:t>
                </a:r>
              </a:p>
              <a:p>
                <a:pPr/>
                <a14:m>
                  <m:oMathPara xmlns:m="http://schemas.openxmlformats.org/officeDocument/2006/math">
                    <m:oMathParaPr>
                      <m:jc m:val="centerGroup"/>
                    </m:oMathParaPr>
                    <m:oMath xmlns:m="http://schemas.openxmlformats.org/officeDocument/2006/math">
                      <m:f>
                        <m:fPr>
                          <m:ctrlPr>
                            <a:rPr lang="ar-AE" sz="1200" i="1" kern="1200">
                              <a:solidFill>
                                <a:schemeClr val="tx1"/>
                              </a:solidFill>
                              <a:latin typeface="Cambria Math" panose="02040503050406030204" pitchFamily="18" charset="0"/>
                              <a:ea typeface="+mn-ea"/>
                              <a:cs typeface="+mn-cs"/>
                            </a:rPr>
                          </m:ctrlPr>
                        </m:fPr>
                        <m:num>
                          <m:r>
                            <a:rPr lang="ar-AE" sz="120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𝐿</m:t>
                          </m:r>
                        </m:num>
                        <m:den>
                          <m:r>
                            <a:rPr lang="ar-AE" sz="1200" i="0" kern="1200">
                              <a:solidFill>
                                <a:schemeClr val="tx1"/>
                              </a:solidFill>
                              <a:latin typeface="Cambria Math" panose="02040503050406030204" pitchFamily="18" charset="0"/>
                              <a:ea typeface="+mn-ea"/>
                              <a:cs typeface="+mn-cs"/>
                            </a:rPr>
                            <m:t>𝜕</m:t>
                          </m:r>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𝑊</m:t>
                              </m:r>
                            </m:e>
                            <m:sub>
                              <m:r>
                                <a:rPr lang="ar-AE" sz="1200" i="1" kern="1200">
                                  <a:solidFill>
                                    <a:schemeClr val="tx1"/>
                                  </a:solidFill>
                                  <a:latin typeface="Cambria Math" panose="02040503050406030204" pitchFamily="18" charset="0"/>
                                  <a:ea typeface="+mn-ea"/>
                                  <a:cs typeface="+mn-cs"/>
                                </a:rPr>
                                <m:t>h</m:t>
                              </m:r>
                            </m:sub>
                          </m:sSub>
                        </m:den>
                      </m:f>
                      <m:r>
                        <a:rPr lang="ar-AE" sz="1200" i="0" kern="1200">
                          <a:solidFill>
                            <a:schemeClr val="tx1"/>
                          </a:solidFill>
                          <a:latin typeface="Cambria Math" panose="02040503050406030204" pitchFamily="18" charset="0"/>
                          <a:ea typeface="+mn-ea"/>
                          <a:cs typeface="+mn-cs"/>
                        </a:rPr>
                        <m:t>=</m:t>
                      </m:r>
                      <m:nary>
                        <m:naryPr>
                          <m:chr m:val="∑"/>
                          <m:grow m:val="on"/>
                          <m:ctrlPr>
                            <a:rPr lang="ar-AE" sz="1200" i="1" kern="1200">
                              <a:solidFill>
                                <a:schemeClr val="tx1"/>
                              </a:solidFill>
                              <a:latin typeface="Cambria Math" panose="02040503050406030204" pitchFamily="18" charset="0"/>
                              <a:ea typeface="+mn-ea"/>
                              <a:cs typeface="+mn-cs"/>
                            </a:rPr>
                          </m:ctrlPr>
                        </m:naryPr>
                        <m:sub>
                          <m:r>
                            <a:rPr lang="ar-AE" sz="1200" i="1" kern="1200">
                              <a:solidFill>
                                <a:schemeClr val="tx1"/>
                              </a:solidFill>
                              <a:latin typeface="Cambria Math" panose="02040503050406030204" pitchFamily="18" charset="0"/>
                              <a:ea typeface="+mn-ea"/>
                              <a:cs typeface="+mn-cs"/>
                            </a:rPr>
                            <m:t>𝑡</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1</m:t>
                          </m:r>
                        </m:sub>
                        <m:sup>
                          <m:r>
                            <a:rPr lang="ar-AE" sz="1200" i="1" kern="1200">
                              <a:solidFill>
                                <a:schemeClr val="tx1"/>
                              </a:solidFill>
                              <a:latin typeface="Cambria Math" panose="02040503050406030204" pitchFamily="18" charset="0"/>
                              <a:ea typeface="+mn-ea"/>
                              <a:cs typeface="+mn-cs"/>
                            </a:rPr>
                            <m:t>𝑇</m:t>
                          </m:r>
                        </m:sup>
                        <m:e>
                          <m:f>
                            <m:fPr>
                              <m:ctrlPr>
                                <a:rPr lang="ar-AE" sz="1200" i="1" kern="1200">
                                  <a:solidFill>
                                    <a:schemeClr val="tx1"/>
                                  </a:solidFill>
                                  <a:latin typeface="Cambria Math" panose="02040503050406030204" pitchFamily="18" charset="0"/>
                                  <a:ea typeface="+mn-ea"/>
                                  <a:cs typeface="+mn-cs"/>
                                </a:rPr>
                              </m:ctrlPr>
                            </m:fPr>
                            <m:num>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𝐿</m:t>
                              </m:r>
                            </m:num>
                            <m:den>
                              <m:r>
                                <a:rPr lang="ar-AE" sz="1200" i="0" kern="1200">
                                  <a:solidFill>
                                    <a:schemeClr val="tx1"/>
                                  </a:solidFill>
                                  <a:latin typeface="Cambria Math" panose="02040503050406030204" pitchFamily="18" charset="0"/>
                                  <a:ea typeface="+mn-ea"/>
                                  <a:cs typeface="+mn-cs"/>
                                </a:rPr>
                                <m:t>𝜕</m:t>
                              </m:r>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h</m:t>
                                  </m:r>
                                </m:e>
                                <m:sub>
                                  <m:r>
                                    <a:rPr lang="ar-AE" sz="1200" i="1" kern="1200">
                                      <a:solidFill>
                                        <a:schemeClr val="tx1"/>
                                      </a:solidFill>
                                      <a:latin typeface="Cambria Math" panose="02040503050406030204" pitchFamily="18" charset="0"/>
                                      <a:ea typeface="+mn-ea"/>
                                      <a:cs typeface="+mn-cs"/>
                                    </a:rPr>
                                    <m:t>𝑡</m:t>
                                  </m:r>
                                </m:sub>
                              </m:sSub>
                            </m:den>
                          </m:f>
                        </m:e>
                      </m:nary>
                      <m:f>
                        <m:fPr>
                          <m:ctrlPr>
                            <a:rPr lang="ar-AE" sz="1200" i="1" kern="1200">
                              <a:solidFill>
                                <a:schemeClr val="tx1"/>
                              </a:solidFill>
                              <a:latin typeface="Cambria Math" panose="02040503050406030204" pitchFamily="18" charset="0"/>
                              <a:ea typeface="+mn-ea"/>
                              <a:cs typeface="+mn-cs"/>
                            </a:rPr>
                          </m:ctrlPr>
                        </m:fPr>
                        <m:num>
                          <m:r>
                            <a:rPr lang="ar-AE" sz="1200" i="0" kern="1200">
                              <a:solidFill>
                                <a:schemeClr val="tx1"/>
                              </a:solidFill>
                              <a:latin typeface="Cambria Math" panose="02040503050406030204" pitchFamily="18" charset="0"/>
                              <a:ea typeface="+mn-ea"/>
                              <a:cs typeface="+mn-cs"/>
                            </a:rPr>
                            <m:t>𝜕</m:t>
                          </m:r>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h</m:t>
                              </m:r>
                            </m:e>
                            <m:sub>
                              <m:r>
                                <a:rPr lang="ar-AE" sz="1200" i="1" kern="1200">
                                  <a:solidFill>
                                    <a:schemeClr val="tx1"/>
                                  </a:solidFill>
                                  <a:latin typeface="Cambria Math" panose="02040503050406030204" pitchFamily="18" charset="0"/>
                                  <a:ea typeface="+mn-ea"/>
                                  <a:cs typeface="+mn-cs"/>
                                </a:rPr>
                                <m:t>𝑡</m:t>
                              </m:r>
                            </m:sub>
                          </m:sSub>
                        </m:num>
                        <m:den>
                          <m:r>
                            <a:rPr lang="ar-AE" sz="1200" i="0" kern="1200">
                              <a:solidFill>
                                <a:schemeClr val="tx1"/>
                              </a:solidFill>
                              <a:latin typeface="Cambria Math" panose="02040503050406030204" pitchFamily="18" charset="0"/>
                              <a:ea typeface="+mn-ea"/>
                              <a:cs typeface="+mn-cs"/>
                            </a:rPr>
                            <m:t>𝜕</m:t>
                          </m:r>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𝑊</m:t>
                              </m:r>
                            </m:e>
                            <m:sub>
                              <m:r>
                                <a:rPr lang="ar-AE" sz="1200" i="1" kern="1200">
                                  <a:solidFill>
                                    <a:schemeClr val="tx1"/>
                                  </a:solidFill>
                                  <a:latin typeface="Cambria Math" panose="02040503050406030204" pitchFamily="18" charset="0"/>
                                  <a:ea typeface="+mn-ea"/>
                                  <a:cs typeface="+mn-cs"/>
                                </a:rPr>
                                <m:t>h</m:t>
                              </m:r>
                            </m:sub>
                          </m:sSub>
                        </m:den>
                      </m:f>
                    </m:oMath>
                  </m:oMathPara>
                </a14:m>
                <a:endParaRPr lang="ar-AE" dirty="0"/>
              </a:p>
              <a:p>
                <a:endParaRPr lang="es-ES" dirty="0"/>
              </a:p>
            </p:txBody>
          </p:sp>
        </mc:Choice>
        <mc:Fallback xmlns="">
          <p:sp>
            <p:nvSpPr>
              <p:cNvPr id="3" name="Marcador de notas 2"/>
              <p:cNvSpPr>
                <a:spLocks noGrp="1"/>
              </p:cNvSpPr>
              <p:nvPr>
                <p:ph type="body" idx="1"/>
              </p:nvPr>
            </p:nvSpPr>
            <p:spPr/>
            <p:txBody>
              <a:bodyPr/>
              <a:lstStyle/>
              <a:p>
                <a:r>
                  <a:rPr lang="es-ES" b="1" dirty="0" err="1"/>
                  <a:t>Slide</a:t>
                </a:r>
                <a:r>
                  <a:rPr lang="es-ES" b="1" dirty="0"/>
                  <a:t> 11 – </a:t>
                </a:r>
                <a:r>
                  <a:rPr lang="es-ES" b="1" dirty="0" err="1"/>
                  <a:t>Backpropagation</a:t>
                </a:r>
                <a:r>
                  <a:rPr lang="es-ES" b="1" dirty="0"/>
                  <a:t> </a:t>
                </a:r>
                <a:r>
                  <a:rPr lang="es-ES" b="1" dirty="0" err="1"/>
                  <a:t>Through</a:t>
                </a:r>
                <a:r>
                  <a:rPr lang="es-ES" b="1" dirty="0"/>
                  <a:t> Time</a:t>
                </a:r>
              </a:p>
              <a:p>
                <a:r>
                  <a:rPr lang="ar-AE" sz="1200" i="0" kern="1200">
                    <a:solidFill>
                      <a:schemeClr val="tx1"/>
                    </a:solidFill>
                    <a:latin typeface="+mn-lt"/>
                    <a:ea typeface="+mn-ea"/>
                    <a:cs typeface="+mn-cs"/>
                  </a:rPr>
                  <a:t>∂𝐿/(∂𝑊_ℎ )=∑128_(𝑡=1)^𝑇▒∂𝐿/(∂ℎ_𝑡 )  (∂ℎ_𝑡)/(∂𝑊_ℎ )</a:t>
                </a:r>
                <a:endParaRPr lang="ar-AE" dirty="0"/>
              </a:p>
              <a:p>
                <a:r>
                  <a:rPr lang="es-ES" b="1" dirty="0"/>
                  <a:t>🎤 Qué decir</a:t>
                </a:r>
              </a:p>
              <a:p>
                <a:endParaRPr lang="es-ES" dirty="0"/>
              </a:p>
            </p:txBody>
          </p:sp>
        </mc:Fallback>
      </mc:AlternateContent>
      <p:sp>
        <p:nvSpPr>
          <p:cNvPr id="4" name="Marcador de número de diapositiva 3"/>
          <p:cNvSpPr>
            <a:spLocks noGrp="1"/>
          </p:cNvSpPr>
          <p:nvPr>
            <p:ph type="sldNum" sz="quarter" idx="5"/>
          </p:nvPr>
        </p:nvSpPr>
        <p:spPr/>
        <p:txBody>
          <a:bodyPr/>
          <a:lstStyle/>
          <a:p>
            <a:fld id="{19C9EB4C-06C7-441F-9B0A-620A2ACB834C}" type="slidenum">
              <a:rPr lang="es-ES" smtClean="0"/>
              <a:t>22</a:t>
            </a:fld>
            <a:endParaRPr lang="es-ES"/>
          </a:p>
        </p:txBody>
      </p:sp>
    </p:spTree>
    <p:extLst>
      <p:ext uri="{BB962C8B-B14F-4D97-AF65-F5344CB8AC3E}">
        <p14:creationId xmlns:p14="http://schemas.microsoft.com/office/powerpoint/2010/main" val="198487954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48895-E33D-76A6-0CBF-3042543E6C8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A5AC289-F9FC-B11D-52D0-F5DD999C8B0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74CF808-E4EC-D189-5EE0-3A543141669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57566012-8419-063A-998C-B7FEB5EC3890}"/>
              </a:ext>
            </a:extLst>
          </p:cNvPr>
          <p:cNvSpPr>
            <a:spLocks noGrp="1"/>
          </p:cNvSpPr>
          <p:nvPr>
            <p:ph type="sldNum" sz="quarter" idx="5"/>
          </p:nvPr>
        </p:nvSpPr>
        <p:spPr/>
        <p:txBody>
          <a:bodyPr/>
          <a:lstStyle/>
          <a:p>
            <a:fld id="{19C9EB4C-06C7-441F-9B0A-620A2ACB834C}" type="slidenum">
              <a:rPr lang="es-ES" smtClean="0"/>
              <a:t>23</a:t>
            </a:fld>
            <a:endParaRPr lang="es-ES"/>
          </a:p>
        </p:txBody>
      </p:sp>
    </p:spTree>
    <p:extLst>
      <p:ext uri="{BB962C8B-B14F-4D97-AF65-F5344CB8AC3E}">
        <p14:creationId xmlns:p14="http://schemas.microsoft.com/office/powerpoint/2010/main" val="22573081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3228D-0D0F-E57B-34B7-57670D5A32F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73FE43F-D87D-5B83-B06D-1E0095482F4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E5C3B8E-9669-CA9B-16D1-2016E5F4FDC3}"/>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6005F972-1C78-4499-7C5C-BE1607223F93}"/>
              </a:ext>
            </a:extLst>
          </p:cNvPr>
          <p:cNvSpPr>
            <a:spLocks noGrp="1"/>
          </p:cNvSpPr>
          <p:nvPr>
            <p:ph type="sldNum" sz="quarter" idx="5"/>
          </p:nvPr>
        </p:nvSpPr>
        <p:spPr/>
        <p:txBody>
          <a:bodyPr/>
          <a:lstStyle/>
          <a:p>
            <a:fld id="{19C9EB4C-06C7-441F-9B0A-620A2ACB834C}" type="slidenum">
              <a:rPr lang="es-ES" smtClean="0"/>
              <a:t>24</a:t>
            </a:fld>
            <a:endParaRPr lang="es-ES"/>
          </a:p>
        </p:txBody>
      </p:sp>
    </p:spTree>
    <p:extLst>
      <p:ext uri="{BB962C8B-B14F-4D97-AF65-F5344CB8AC3E}">
        <p14:creationId xmlns:p14="http://schemas.microsoft.com/office/powerpoint/2010/main" val="33710536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EB724-B797-EF03-2DF6-A8F1758FFE6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6C56FD9-AF68-B918-AABA-0151F195086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F711D5A-5230-EF8B-EF40-2744FC4ADD28}"/>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75B1DFC-C962-D7FE-6F5A-96B0F870064C}"/>
              </a:ext>
            </a:extLst>
          </p:cNvPr>
          <p:cNvSpPr>
            <a:spLocks noGrp="1"/>
          </p:cNvSpPr>
          <p:nvPr>
            <p:ph type="sldNum" sz="quarter" idx="5"/>
          </p:nvPr>
        </p:nvSpPr>
        <p:spPr/>
        <p:txBody>
          <a:bodyPr/>
          <a:lstStyle/>
          <a:p>
            <a:fld id="{19C9EB4C-06C7-441F-9B0A-620A2ACB834C}" type="slidenum">
              <a:rPr lang="es-ES" smtClean="0"/>
              <a:t>25</a:t>
            </a:fld>
            <a:endParaRPr lang="es-ES"/>
          </a:p>
        </p:txBody>
      </p:sp>
    </p:spTree>
    <p:extLst>
      <p:ext uri="{BB962C8B-B14F-4D97-AF65-F5344CB8AC3E}">
        <p14:creationId xmlns:p14="http://schemas.microsoft.com/office/powerpoint/2010/main" val="31888087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501B5-1DFD-981C-5623-CBF0A62FF7E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408C63C-F240-6638-5113-4FF22C04B01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F6EEA71-22B7-56A5-D15B-18DFD9C3975B}"/>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DCB1383-776C-7531-65FF-389A11B6EDD8}"/>
              </a:ext>
            </a:extLst>
          </p:cNvPr>
          <p:cNvSpPr>
            <a:spLocks noGrp="1"/>
          </p:cNvSpPr>
          <p:nvPr>
            <p:ph type="sldNum" sz="quarter" idx="5"/>
          </p:nvPr>
        </p:nvSpPr>
        <p:spPr/>
        <p:txBody>
          <a:bodyPr/>
          <a:lstStyle/>
          <a:p>
            <a:fld id="{19C9EB4C-06C7-441F-9B0A-620A2ACB834C}" type="slidenum">
              <a:rPr lang="es-ES" smtClean="0"/>
              <a:t>26</a:t>
            </a:fld>
            <a:endParaRPr lang="es-ES"/>
          </a:p>
        </p:txBody>
      </p:sp>
    </p:spTree>
    <p:extLst>
      <p:ext uri="{BB962C8B-B14F-4D97-AF65-F5344CB8AC3E}">
        <p14:creationId xmlns:p14="http://schemas.microsoft.com/office/powerpoint/2010/main" val="200816741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B8D5E-EA4A-1411-D77A-1C9DB229FF4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7E8BEDA-D054-A848-1DE0-682BDFE3A23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E2C05B5-8C26-72D3-050C-8A98FFE20490}"/>
              </a:ext>
            </a:extLst>
          </p:cNvPr>
          <p:cNvSpPr>
            <a:spLocks noGrp="1"/>
          </p:cNvSpPr>
          <p:nvPr>
            <p:ph type="body" idx="1"/>
          </p:nvPr>
        </p:nvSpPr>
        <p:spPr/>
        <p:txBody>
          <a:bodyPr/>
          <a:lstStyle/>
          <a:p>
            <a:r>
              <a:rPr lang="es-ES" sz="1200" b="1" kern="1200" dirty="0">
                <a:solidFill>
                  <a:schemeClr val="tx1"/>
                </a:solidFill>
                <a:effectLst/>
                <a:latin typeface="+mn-lt"/>
                <a:ea typeface="+mn-ea"/>
                <a:cs typeface="+mn-cs"/>
              </a:rPr>
              <a:t>Paso 4 – Intuición del problema</a:t>
            </a:r>
            <a:endParaRPr lang="es-ES" sz="1200" kern="1200" dirty="0">
              <a:solidFill>
                <a:schemeClr val="tx1"/>
              </a:solidFill>
              <a:effectLst/>
              <a:latin typeface="+mn-lt"/>
              <a:ea typeface="+mn-ea"/>
              <a:cs typeface="+mn-cs"/>
            </a:endParaRPr>
          </a:p>
          <a:p>
            <a:r>
              <a:rPr lang="es-ES" sz="1200" kern="1200" dirty="0">
                <a:solidFill>
                  <a:schemeClr val="tx1"/>
                </a:solidFill>
                <a:effectLst/>
                <a:latin typeface="+mn-lt"/>
                <a:ea typeface="+mn-ea"/>
                <a:cs typeface="+mn-cs"/>
              </a:rPr>
              <a:t>Imagina que cada multiplicación reduce la magnitud un poco.</a:t>
            </a:r>
          </a:p>
          <a:p>
            <a:r>
              <a:rPr lang="es-ES" sz="1200" kern="1200" dirty="0">
                <a:solidFill>
                  <a:schemeClr val="tx1"/>
                </a:solidFill>
                <a:effectLst/>
                <a:latin typeface="+mn-lt"/>
                <a:ea typeface="+mn-ea"/>
                <a:cs typeface="+mn-cs"/>
              </a:rPr>
              <a:t>Ejemplo simple:</a:t>
            </a:r>
          </a:p>
          <a:p>
            <a:pPr lvl="0"/>
            <a:r>
              <a:rPr lang="es-ES" sz="1200" kern="1200" dirty="0">
                <a:solidFill>
                  <a:schemeClr val="tx1"/>
                </a:solidFill>
                <a:effectLst/>
                <a:latin typeface="+mn-lt"/>
                <a:ea typeface="+mn-ea"/>
                <a:cs typeface="+mn-cs"/>
              </a:rPr>
              <a:t>Cada paso multiplica por 0.5</a:t>
            </a:r>
          </a:p>
          <a:p>
            <a:r>
              <a:rPr lang="es-ES" sz="1200" kern="1200" dirty="0">
                <a:solidFill>
                  <a:schemeClr val="tx1"/>
                </a:solidFill>
                <a:effectLst/>
                <a:latin typeface="+mn-lt"/>
                <a:ea typeface="+mn-ea"/>
                <a:cs typeface="+mn-cs"/>
              </a:rPr>
              <a:t>Entonces:</a:t>
            </a:r>
          </a:p>
          <a:p>
            <a:pPr lvl="0"/>
            <a:r>
              <a:rPr lang="es-ES" sz="1200" kern="1200" dirty="0">
                <a:solidFill>
                  <a:schemeClr val="tx1"/>
                </a:solidFill>
                <a:effectLst/>
                <a:latin typeface="+mn-lt"/>
                <a:ea typeface="+mn-ea"/>
                <a:cs typeface="+mn-cs"/>
              </a:rPr>
              <a:t>1 paso atrás → 0.5</a:t>
            </a:r>
          </a:p>
          <a:p>
            <a:pPr lvl="0"/>
            <a:r>
              <a:rPr lang="es-ES" sz="1200" kern="1200" dirty="0">
                <a:solidFill>
                  <a:schemeClr val="tx1"/>
                </a:solidFill>
                <a:effectLst/>
                <a:latin typeface="+mn-lt"/>
                <a:ea typeface="+mn-ea"/>
                <a:cs typeface="+mn-cs"/>
              </a:rPr>
              <a:t>2 pasos atrás → 0.25</a:t>
            </a:r>
          </a:p>
          <a:p>
            <a:pPr lvl="0"/>
            <a:r>
              <a:rPr lang="es-ES" sz="1200" kern="1200" dirty="0">
                <a:solidFill>
                  <a:schemeClr val="tx1"/>
                </a:solidFill>
                <a:effectLst/>
                <a:latin typeface="+mn-lt"/>
                <a:ea typeface="+mn-ea"/>
                <a:cs typeface="+mn-cs"/>
              </a:rPr>
              <a:t>3 pasos atrás → 0.125</a:t>
            </a:r>
          </a:p>
          <a:p>
            <a:pPr lvl="0"/>
            <a:r>
              <a:rPr lang="es-ES" sz="1200" kern="1200" dirty="0">
                <a:solidFill>
                  <a:schemeClr val="tx1"/>
                </a:solidFill>
                <a:effectLst/>
                <a:latin typeface="+mn-lt"/>
                <a:ea typeface="+mn-ea"/>
                <a:cs typeface="+mn-cs"/>
              </a:rPr>
              <a:t>10 pasos atrás → casi 0</a:t>
            </a:r>
          </a:p>
          <a:p>
            <a:r>
              <a:rPr lang="es-ES" sz="1200" kern="1200" dirty="0">
                <a:solidFill>
                  <a:schemeClr val="tx1"/>
                </a:solidFill>
                <a:effectLst/>
                <a:latin typeface="+mn-lt"/>
                <a:ea typeface="+mn-ea"/>
                <a:cs typeface="+mn-cs"/>
              </a:rPr>
              <a:t>El gradiente desaparece.</a:t>
            </a:r>
          </a:p>
          <a:p>
            <a:r>
              <a:rPr lang="es-ES" sz="1200" kern="1200" dirty="0">
                <a:solidFill>
                  <a:schemeClr val="tx1"/>
                </a:solidFill>
                <a:effectLst/>
                <a:latin typeface="+mn-lt"/>
                <a:ea typeface="+mn-ea"/>
                <a:cs typeface="+mn-cs"/>
              </a:rPr>
              <a:t>Eso es el </a:t>
            </a:r>
            <a:r>
              <a:rPr lang="es-ES" sz="1200" b="1" kern="1200" dirty="0" err="1">
                <a:solidFill>
                  <a:schemeClr val="tx1"/>
                </a:solidFill>
                <a:effectLst/>
                <a:latin typeface="+mn-lt"/>
                <a:ea typeface="+mn-ea"/>
                <a:cs typeface="+mn-cs"/>
              </a:rPr>
              <a:t>vanishing</a:t>
            </a:r>
            <a:r>
              <a:rPr lang="es-ES" sz="1200" b="1" kern="1200" dirty="0">
                <a:solidFill>
                  <a:schemeClr val="tx1"/>
                </a:solidFill>
                <a:effectLst/>
                <a:latin typeface="+mn-lt"/>
                <a:ea typeface="+mn-ea"/>
                <a:cs typeface="+mn-cs"/>
              </a:rPr>
              <a:t> </a:t>
            </a:r>
            <a:r>
              <a:rPr lang="es-ES" sz="1200" b="1" kern="1200" dirty="0" err="1">
                <a:solidFill>
                  <a:schemeClr val="tx1"/>
                </a:solidFill>
                <a:effectLst/>
                <a:latin typeface="+mn-lt"/>
                <a:ea typeface="+mn-ea"/>
                <a:cs typeface="+mn-cs"/>
              </a:rPr>
              <a:t>gradient</a:t>
            </a:r>
            <a:r>
              <a:rPr lang="es-ES" sz="1200" kern="1200" dirty="0">
                <a:solidFill>
                  <a:schemeClr val="tx1"/>
                </a:solidFill>
                <a:effectLst/>
                <a:latin typeface="+mn-lt"/>
                <a:ea typeface="+mn-ea"/>
                <a:cs typeface="+mn-cs"/>
              </a:rPr>
              <a:t>.</a:t>
            </a:r>
          </a:p>
          <a:p>
            <a:endParaRPr lang="es-ES" dirty="0"/>
          </a:p>
        </p:txBody>
      </p:sp>
      <p:sp>
        <p:nvSpPr>
          <p:cNvPr id="4" name="Marcador de número de diapositiva 3">
            <a:extLst>
              <a:ext uri="{FF2B5EF4-FFF2-40B4-BE49-F238E27FC236}">
                <a16:creationId xmlns:a16="http://schemas.microsoft.com/office/drawing/2014/main" id="{838B3D7D-7900-8F52-B789-0E593314A4C5}"/>
              </a:ext>
            </a:extLst>
          </p:cNvPr>
          <p:cNvSpPr>
            <a:spLocks noGrp="1"/>
          </p:cNvSpPr>
          <p:nvPr>
            <p:ph type="sldNum" sz="quarter" idx="5"/>
          </p:nvPr>
        </p:nvSpPr>
        <p:spPr/>
        <p:txBody>
          <a:bodyPr/>
          <a:lstStyle/>
          <a:p>
            <a:fld id="{19C9EB4C-06C7-441F-9B0A-620A2ACB834C}" type="slidenum">
              <a:rPr lang="es-ES" smtClean="0"/>
              <a:t>27</a:t>
            </a:fld>
            <a:endParaRPr lang="es-ES"/>
          </a:p>
        </p:txBody>
      </p:sp>
    </p:spTree>
    <p:extLst>
      <p:ext uri="{BB962C8B-B14F-4D97-AF65-F5344CB8AC3E}">
        <p14:creationId xmlns:p14="http://schemas.microsoft.com/office/powerpoint/2010/main" val="113893022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DBCCF-36C4-4833-4B80-CC5675A1603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25BE085-F0A6-4C69-1A0B-1CC775EBBFC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B1F97D3-84EB-9635-69AE-C111B00E2150}"/>
              </a:ext>
            </a:extLst>
          </p:cNvPr>
          <p:cNvSpPr>
            <a:spLocks noGrp="1"/>
          </p:cNvSpPr>
          <p:nvPr>
            <p:ph type="body" idx="1"/>
          </p:nvPr>
        </p:nvSpPr>
        <p:spPr/>
        <p:txBody>
          <a:bodyPr/>
          <a:lstStyle/>
          <a:p>
            <a:r>
              <a:rPr lang="es-ES" sz="1200" b="1" kern="1200" dirty="0">
                <a:solidFill>
                  <a:schemeClr val="tx1"/>
                </a:solidFill>
                <a:effectLst/>
                <a:latin typeface="+mn-lt"/>
                <a:ea typeface="+mn-ea"/>
                <a:cs typeface="+mn-cs"/>
              </a:rPr>
              <a:t>Paso 5 – O al revés</a:t>
            </a:r>
            <a:endParaRPr lang="es-ES" sz="1200" kern="1200" dirty="0">
              <a:solidFill>
                <a:schemeClr val="tx1"/>
              </a:solidFill>
              <a:effectLst/>
              <a:latin typeface="+mn-lt"/>
              <a:ea typeface="+mn-ea"/>
              <a:cs typeface="+mn-cs"/>
            </a:endParaRPr>
          </a:p>
          <a:p>
            <a:r>
              <a:rPr lang="es-ES" sz="1200" kern="1200" dirty="0">
                <a:solidFill>
                  <a:schemeClr val="tx1"/>
                </a:solidFill>
                <a:effectLst/>
                <a:latin typeface="+mn-lt"/>
                <a:ea typeface="+mn-ea"/>
                <a:cs typeface="+mn-cs"/>
              </a:rPr>
              <a:t>Si cada paso multiplica por 1.5:</a:t>
            </a:r>
          </a:p>
          <a:p>
            <a:pPr lvl="0"/>
            <a:r>
              <a:rPr lang="es-ES" sz="1200" kern="1200" dirty="0">
                <a:solidFill>
                  <a:schemeClr val="tx1"/>
                </a:solidFill>
                <a:effectLst/>
                <a:latin typeface="+mn-lt"/>
                <a:ea typeface="+mn-ea"/>
                <a:cs typeface="+mn-cs"/>
              </a:rPr>
              <a:t>1 paso → 1.5</a:t>
            </a:r>
          </a:p>
          <a:p>
            <a:pPr lvl="0"/>
            <a:r>
              <a:rPr lang="es-ES" sz="1200" kern="1200" dirty="0">
                <a:solidFill>
                  <a:schemeClr val="tx1"/>
                </a:solidFill>
                <a:effectLst/>
                <a:latin typeface="+mn-lt"/>
                <a:ea typeface="+mn-ea"/>
                <a:cs typeface="+mn-cs"/>
              </a:rPr>
              <a:t>2 pasos → 2.25</a:t>
            </a:r>
          </a:p>
          <a:p>
            <a:pPr lvl="0"/>
            <a:r>
              <a:rPr lang="es-ES" sz="1200" kern="1200" dirty="0">
                <a:solidFill>
                  <a:schemeClr val="tx1"/>
                </a:solidFill>
                <a:effectLst/>
                <a:latin typeface="+mn-lt"/>
                <a:ea typeface="+mn-ea"/>
                <a:cs typeface="+mn-cs"/>
              </a:rPr>
              <a:t>3 pasos → 3.37</a:t>
            </a:r>
          </a:p>
          <a:p>
            <a:pPr lvl="0"/>
            <a:r>
              <a:rPr lang="es-ES" sz="1200" kern="1200" dirty="0">
                <a:solidFill>
                  <a:schemeClr val="tx1"/>
                </a:solidFill>
                <a:effectLst/>
                <a:latin typeface="+mn-lt"/>
                <a:ea typeface="+mn-ea"/>
                <a:cs typeface="+mn-cs"/>
              </a:rPr>
              <a:t>10 pasos → enorme</a:t>
            </a:r>
          </a:p>
          <a:p>
            <a:r>
              <a:rPr lang="es-ES" sz="1200" kern="1200" dirty="0">
                <a:solidFill>
                  <a:schemeClr val="tx1"/>
                </a:solidFill>
                <a:effectLst/>
                <a:latin typeface="+mn-lt"/>
                <a:ea typeface="+mn-ea"/>
                <a:cs typeface="+mn-cs"/>
              </a:rPr>
              <a:t>Eso es el </a:t>
            </a:r>
            <a:r>
              <a:rPr lang="es-ES" sz="1200" b="1" kern="1200" dirty="0" err="1">
                <a:solidFill>
                  <a:schemeClr val="tx1"/>
                </a:solidFill>
                <a:effectLst/>
                <a:latin typeface="+mn-lt"/>
                <a:ea typeface="+mn-ea"/>
                <a:cs typeface="+mn-cs"/>
              </a:rPr>
              <a:t>exploding</a:t>
            </a:r>
            <a:r>
              <a:rPr lang="es-ES" sz="1200" b="1" kern="1200" dirty="0">
                <a:solidFill>
                  <a:schemeClr val="tx1"/>
                </a:solidFill>
                <a:effectLst/>
                <a:latin typeface="+mn-lt"/>
                <a:ea typeface="+mn-ea"/>
                <a:cs typeface="+mn-cs"/>
              </a:rPr>
              <a:t> </a:t>
            </a:r>
            <a:r>
              <a:rPr lang="es-ES" sz="1200" b="1" kern="1200" dirty="0" err="1">
                <a:solidFill>
                  <a:schemeClr val="tx1"/>
                </a:solidFill>
                <a:effectLst/>
                <a:latin typeface="+mn-lt"/>
                <a:ea typeface="+mn-ea"/>
                <a:cs typeface="+mn-cs"/>
              </a:rPr>
              <a:t>gradient</a:t>
            </a:r>
            <a:r>
              <a:rPr lang="es-ES" sz="1200" kern="1200" dirty="0">
                <a:solidFill>
                  <a:schemeClr val="tx1"/>
                </a:solidFill>
                <a:effectLst/>
                <a:latin typeface="+mn-lt"/>
                <a:ea typeface="+mn-ea"/>
                <a:cs typeface="+mn-cs"/>
              </a:rPr>
              <a:t>.</a:t>
            </a:r>
          </a:p>
          <a:p>
            <a:endParaRPr lang="es-ES" dirty="0"/>
          </a:p>
          <a:p>
            <a:r>
              <a:rPr lang="es-ES" dirty="0"/>
              <a:t>Cada vez que retrocedemos un paso en el tiempo, multiplicamos por la misma transformación recurrente.</a:t>
            </a:r>
          </a:p>
          <a:p>
            <a:endParaRPr lang="es-ES" dirty="0"/>
          </a:p>
          <a:p>
            <a:r>
              <a:rPr lang="es-ES" dirty="0"/>
              <a:t>Si esa transformación reduce los valores, los gradientes desaparecen.</a:t>
            </a:r>
          </a:p>
          <a:p>
            <a:r>
              <a:rPr lang="es-ES" dirty="0"/>
              <a:t>Si amplifica los valores, los gradientes se disparan.</a:t>
            </a:r>
          </a:p>
          <a:p>
            <a:endParaRPr lang="es-ES" dirty="0"/>
          </a:p>
        </p:txBody>
      </p:sp>
      <p:sp>
        <p:nvSpPr>
          <p:cNvPr id="4" name="Marcador de número de diapositiva 3">
            <a:extLst>
              <a:ext uri="{FF2B5EF4-FFF2-40B4-BE49-F238E27FC236}">
                <a16:creationId xmlns:a16="http://schemas.microsoft.com/office/drawing/2014/main" id="{F867E3EF-E808-D3D8-A002-A2922C60262D}"/>
              </a:ext>
            </a:extLst>
          </p:cNvPr>
          <p:cNvSpPr>
            <a:spLocks noGrp="1"/>
          </p:cNvSpPr>
          <p:nvPr>
            <p:ph type="sldNum" sz="quarter" idx="5"/>
          </p:nvPr>
        </p:nvSpPr>
        <p:spPr/>
        <p:txBody>
          <a:bodyPr/>
          <a:lstStyle/>
          <a:p>
            <a:fld id="{19C9EB4C-06C7-441F-9B0A-620A2ACB834C}" type="slidenum">
              <a:rPr lang="es-ES" smtClean="0"/>
              <a:t>28</a:t>
            </a:fld>
            <a:endParaRPr lang="es-ES"/>
          </a:p>
        </p:txBody>
      </p:sp>
    </p:spTree>
    <p:extLst>
      <p:ext uri="{BB962C8B-B14F-4D97-AF65-F5344CB8AC3E}">
        <p14:creationId xmlns:p14="http://schemas.microsoft.com/office/powerpoint/2010/main" val="15225479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Marcador de notas 2"/>
              <p:cNvSpPr>
                <a:spLocks noGrp="1"/>
              </p:cNvSpPr>
              <p:nvPr>
                <p:ph type="body" idx="1"/>
              </p:nvPr>
            </p:nvSpPr>
            <p:spPr/>
            <p:txBody>
              <a:bodyPr/>
              <a:lstStyle/>
              <a:p>
                <a:endParaRPr lang="en-US" dirty="0"/>
              </a:p>
              <a:p>
                <a:r>
                  <a:rPr lang="es-ES" dirty="0"/>
                  <a:t>Los gradientes que desaparecen y explotan surgen de la multiplicación repetida al propagar errores a lo largo del tiempo.</a:t>
                </a:r>
              </a:p>
              <a:p>
                <a:endParaRPr lang="es-ES" dirty="0"/>
              </a:p>
              <a:p>
                <a:r>
                  <a:rPr lang="es-ES" b="1" dirty="0"/>
                  <a:t>¿Qué es un gradiente?</a:t>
                </a:r>
              </a:p>
              <a:p>
                <a:r>
                  <a:rPr lang="es-ES" dirty="0"/>
                  <a:t>Antes de hablar de que “desaparece”, hay que definirlo bien.</a:t>
                </a:r>
              </a:p>
              <a:p>
                <a:r>
                  <a:rPr lang="es-ES" dirty="0"/>
                  <a:t>El </a:t>
                </a:r>
                <a:r>
                  <a:rPr lang="es-ES" b="1" dirty="0"/>
                  <a:t>gradiente</a:t>
                </a:r>
                <a:r>
                  <a:rPr lang="es-ES" dirty="0"/>
                  <a:t> es:</a:t>
                </a:r>
              </a:p>
              <a:p>
                <a:r>
                  <a:rPr lang="es-ES" dirty="0"/>
                  <a:t>La cantidad que nos dice cuánto cambia el error cuando cambiamos ligeramente un parámetro.</a:t>
                </a:r>
              </a:p>
              <a:p>
                <a:r>
                  <a:rPr lang="es-ES" dirty="0"/>
                  <a:t>Formalmente:</a:t>
                </a:r>
              </a:p>
              <a:p>
                <a:pPr/>
                <a14:m>
                  <m:oMathPara xmlns:m="http://schemas.openxmlformats.org/officeDocument/2006/math">
                    <m:oMathParaPr>
                      <m:jc m:val="centerGroup"/>
                    </m:oMathParaPr>
                    <m:oMath xmlns:m="http://schemas.openxmlformats.org/officeDocument/2006/math">
                      <m:f>
                        <m:fPr>
                          <m:ctrlPr>
                            <a:rPr lang="ar-AE" sz="1200" i="1" kern="1200">
                              <a:solidFill>
                                <a:schemeClr val="tx1"/>
                              </a:solidFill>
                              <a:latin typeface="Cambria Math" panose="02040503050406030204" pitchFamily="18" charset="0"/>
                              <a:ea typeface="+mn-ea"/>
                              <a:cs typeface="+mn-cs"/>
                            </a:rPr>
                          </m:ctrlPr>
                        </m:fPr>
                        <m:num>
                          <m:r>
                            <a:rPr lang="ar-AE" sz="120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ℒ</m:t>
                          </m:r>
                        </m:num>
                        <m:den>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𝑊</m:t>
                          </m:r>
                        </m:den>
                      </m:f>
                    </m:oMath>
                  </m:oMathPara>
                </a14:m>
                <a:endParaRPr lang="es-ES" sz="1200" kern="1200" dirty="0">
                  <a:solidFill>
                    <a:schemeClr val="tx1"/>
                  </a:solidFill>
                  <a:ea typeface="+mn-ea"/>
                  <a:cs typeface="+mn-cs"/>
                </a:endParaRPr>
              </a:p>
              <a:p>
                <a:endParaRPr lang="ar-AE" dirty="0"/>
              </a:p>
              <a:p>
                <a:r>
                  <a:rPr lang="es-ES" dirty="0"/>
                  <a:t>Si modifico el peso </a:t>
                </a:r>
                <a14:m>
                  <m:oMath xmlns:m="http://schemas.openxmlformats.org/officeDocument/2006/math">
                    <m:r>
                      <a:rPr lang="es-ES" sz="1200" i="1" kern="1200">
                        <a:solidFill>
                          <a:schemeClr val="tx1"/>
                        </a:solidFill>
                        <a:latin typeface="Cambria Math" panose="02040503050406030204" pitchFamily="18" charset="0"/>
                        <a:ea typeface="+mn-ea"/>
                        <a:cs typeface="+mn-cs"/>
                      </a:rPr>
                      <m:t>𝑊</m:t>
                    </m:r>
                  </m:oMath>
                </a14:m>
                <a:r>
                  <a:rPr lang="es-ES" dirty="0"/>
                  <a:t>un poco, ¿cuánto cambia la pérdida?</a:t>
                </a:r>
              </a:p>
              <a:p>
                <a:endParaRPr lang="en-US" dirty="0"/>
              </a:p>
              <a:p>
                <a:r>
                  <a:rPr lang="es-ES" dirty="0"/>
                  <a:t>Es literalmente la pendiente.</a:t>
                </a:r>
              </a:p>
              <a:p>
                <a:r>
                  <a:rPr lang="es-ES" dirty="0"/>
                  <a:t>Si el gradiente es:</a:t>
                </a:r>
              </a:p>
              <a:p>
                <a:pPr marL="171450" indent="-171450">
                  <a:buFont typeface="Arial" panose="020B0604020202020204" pitchFamily="34" charset="0"/>
                  <a:buChar char="•"/>
                </a:pPr>
                <a:r>
                  <a:rPr lang="es-ES" dirty="0"/>
                  <a:t>Grande → el error cambia mucho → aprendizaje fuerte</a:t>
                </a:r>
              </a:p>
              <a:p>
                <a:pPr marL="171450" indent="-171450">
                  <a:buFont typeface="Arial" panose="020B0604020202020204" pitchFamily="34" charset="0"/>
                  <a:buChar char="•"/>
                </a:pPr>
                <a:r>
                  <a:rPr lang="es-ES" dirty="0"/>
                  <a:t>Muy pequeño → el error casi no cambia → aprendizaje casi nulo</a:t>
                </a:r>
              </a:p>
              <a:p>
                <a:endParaRPr lang="en-US" dirty="0"/>
              </a:p>
              <a:p>
                <a:endParaRPr lang="en-US" dirty="0"/>
              </a:p>
            </p:txBody>
          </p:sp>
        </mc:Choice>
        <mc:Fallback xmlns="">
          <p:sp>
            <p:nvSpPr>
              <p:cNvPr id="3" name="Marcador de notas 2"/>
              <p:cNvSpPr>
                <a:spLocks noGrp="1"/>
              </p:cNvSpPr>
              <p:nvPr>
                <p:ph type="body" idx="1"/>
              </p:nvPr>
            </p:nvSpPr>
            <p:spPr/>
            <p:txBody>
              <a:bodyPr/>
              <a:lstStyle/>
              <a:p>
                <a:endParaRPr lang="en-US" dirty="0"/>
              </a:p>
              <a:p>
                <a:r>
                  <a:rPr lang="es-ES" dirty="0"/>
                  <a:t>Los gradientes que desaparecen y explotan surgen de la multiplicación repetida al propagar errores a lo largo del tiempo.</a:t>
                </a:r>
              </a:p>
              <a:p>
                <a:endParaRPr lang="es-ES" dirty="0"/>
              </a:p>
              <a:p>
                <a:r>
                  <a:rPr lang="es-ES" b="1" dirty="0"/>
                  <a:t>¿Qué es un gradiente?</a:t>
                </a:r>
              </a:p>
              <a:p>
                <a:r>
                  <a:rPr lang="es-ES" dirty="0"/>
                  <a:t>Antes de hablar de que “desaparece”, hay que definirlo bien.</a:t>
                </a:r>
              </a:p>
              <a:p>
                <a:r>
                  <a:rPr lang="es-ES" dirty="0"/>
                  <a:t>El </a:t>
                </a:r>
                <a:r>
                  <a:rPr lang="es-ES" b="1" dirty="0"/>
                  <a:t>gradiente</a:t>
                </a:r>
                <a:r>
                  <a:rPr lang="es-ES" dirty="0"/>
                  <a:t> es:</a:t>
                </a:r>
              </a:p>
              <a:p>
                <a:r>
                  <a:rPr lang="es-ES" dirty="0"/>
                  <a:t>La cantidad que nos dice cuánto cambia el error cuando cambiamos ligeramente un parámetro.</a:t>
                </a:r>
              </a:p>
              <a:p>
                <a:r>
                  <a:rPr lang="es-ES" dirty="0"/>
                  <a:t>Formalmente:</a:t>
                </a:r>
              </a:p>
              <a:p>
                <a:r>
                  <a:rPr lang="ar-AE" sz="1200" i="0" kern="1200">
                    <a:solidFill>
                      <a:schemeClr val="tx1"/>
                    </a:solidFill>
                    <a:latin typeface="+mn-lt"/>
                    <a:ea typeface="+mn-ea"/>
                    <a:cs typeface="+mn-cs"/>
                  </a:rPr>
                  <a:t>∂ℒ/∂𝑊</a:t>
                </a:r>
                <a:endParaRPr lang="es-ES" sz="1200" kern="1200" dirty="0">
                  <a:solidFill>
                    <a:schemeClr val="tx1"/>
                  </a:solidFill>
                  <a:ea typeface="+mn-ea"/>
                  <a:cs typeface="+mn-cs"/>
                </a:endParaRPr>
              </a:p>
              <a:p>
                <a:endParaRPr lang="ar-AE" dirty="0"/>
              </a:p>
              <a:p>
                <a:r>
                  <a:rPr lang="es-ES" dirty="0"/>
                  <a:t>Si modifico el peso </a:t>
                </a:r>
                <a:r>
                  <a:rPr lang="es-ES" sz="1200" i="0" kern="1200">
                    <a:solidFill>
                      <a:schemeClr val="tx1"/>
                    </a:solidFill>
                    <a:latin typeface="+mn-lt"/>
                    <a:ea typeface="+mn-ea"/>
                    <a:cs typeface="+mn-cs"/>
                  </a:rPr>
                  <a:t>𝑊</a:t>
                </a:r>
                <a:r>
                  <a:rPr lang="es-ES" dirty="0"/>
                  <a:t>un poco, ¿cuánto cambia la pérdida?</a:t>
                </a:r>
              </a:p>
              <a:p>
                <a:endParaRPr lang="en-US" dirty="0"/>
              </a:p>
              <a:p>
                <a:r>
                  <a:rPr lang="es-ES" dirty="0"/>
                  <a:t>Es literalmente la pendiente.</a:t>
                </a:r>
              </a:p>
              <a:p>
                <a:r>
                  <a:rPr lang="es-ES" dirty="0"/>
                  <a:t>Si el gradiente es:</a:t>
                </a:r>
              </a:p>
              <a:p>
                <a:pPr marL="171450" indent="-171450">
                  <a:buFont typeface="Arial" panose="020B0604020202020204" pitchFamily="34" charset="0"/>
                  <a:buChar char="•"/>
                </a:pPr>
                <a:r>
                  <a:rPr lang="es-ES" dirty="0"/>
                  <a:t>Grande → el error cambia mucho → aprendizaje fuerte</a:t>
                </a:r>
              </a:p>
              <a:p>
                <a:pPr marL="171450" indent="-171450">
                  <a:buFont typeface="Arial" panose="020B0604020202020204" pitchFamily="34" charset="0"/>
                  <a:buChar char="•"/>
                </a:pPr>
                <a:r>
                  <a:rPr lang="es-ES" dirty="0"/>
                  <a:t>Muy pequeño → el error casi no cambia → aprendizaje casi nulo</a:t>
                </a:r>
              </a:p>
              <a:p>
                <a:endParaRPr lang="en-US" dirty="0"/>
              </a:p>
              <a:p>
                <a:endParaRPr lang="en-US" dirty="0"/>
              </a:p>
            </p:txBody>
          </p:sp>
        </mc:Fallback>
      </mc:AlternateContent>
      <p:sp>
        <p:nvSpPr>
          <p:cNvPr id="4" name="Marcador de número de diapositiva 3"/>
          <p:cNvSpPr>
            <a:spLocks noGrp="1"/>
          </p:cNvSpPr>
          <p:nvPr>
            <p:ph type="sldNum" sz="quarter" idx="5"/>
          </p:nvPr>
        </p:nvSpPr>
        <p:spPr/>
        <p:txBody>
          <a:bodyPr/>
          <a:lstStyle/>
          <a:p>
            <a:fld id="{19C9EB4C-06C7-441F-9B0A-620A2ACB834C}" type="slidenum">
              <a:rPr lang="es-ES" smtClean="0"/>
              <a:t>29</a:t>
            </a:fld>
            <a:endParaRPr lang="es-ES"/>
          </a:p>
        </p:txBody>
      </p:sp>
    </p:spTree>
    <p:extLst>
      <p:ext uri="{BB962C8B-B14F-4D97-AF65-F5344CB8AC3E}">
        <p14:creationId xmlns:p14="http://schemas.microsoft.com/office/powerpoint/2010/main" val="97021252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4E05E0-E132-8CA0-CA91-C9CD934BC5D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85CE3BA-DC52-AE9E-AB7A-95E4BDF26E6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2C7DED0-76D0-B93D-1366-A74993B2E423}"/>
              </a:ext>
            </a:extLst>
          </p:cNvPr>
          <p:cNvSpPr>
            <a:spLocks noGrp="1"/>
          </p:cNvSpPr>
          <p:nvPr>
            <p:ph type="body" idx="1"/>
          </p:nvPr>
        </p:nvSpPr>
        <p:spPr/>
        <p:txBody>
          <a:bodyPr/>
          <a:lstStyle/>
          <a:p>
            <a:endParaRPr lang="en-US" dirty="0"/>
          </a:p>
          <a:p>
            <a:r>
              <a:rPr lang="es-ES" dirty="0"/>
              <a:t>Gran pendiente → gran actualización </a:t>
            </a:r>
          </a:p>
          <a:p>
            <a:r>
              <a:rPr lang="es-ES" dirty="0"/>
              <a:t>Pequeña pendiente → pequeña actualización </a:t>
            </a:r>
          </a:p>
          <a:p>
            <a:endParaRPr lang="es-ES" dirty="0"/>
          </a:p>
          <a:p>
            <a:r>
              <a:rPr lang="es-ES" dirty="0"/>
              <a:t>Si la pendiente ≈ 0 → casi ningún aprendizaje.</a:t>
            </a:r>
            <a:endParaRPr lang="en-US" dirty="0"/>
          </a:p>
        </p:txBody>
      </p:sp>
      <p:sp>
        <p:nvSpPr>
          <p:cNvPr id="4" name="Marcador de número de diapositiva 3">
            <a:extLst>
              <a:ext uri="{FF2B5EF4-FFF2-40B4-BE49-F238E27FC236}">
                <a16:creationId xmlns:a16="http://schemas.microsoft.com/office/drawing/2014/main" id="{B736B77E-AEC8-6DA7-9732-8D3312065FC7}"/>
              </a:ext>
            </a:extLst>
          </p:cNvPr>
          <p:cNvSpPr>
            <a:spLocks noGrp="1"/>
          </p:cNvSpPr>
          <p:nvPr>
            <p:ph type="sldNum" sz="quarter" idx="5"/>
          </p:nvPr>
        </p:nvSpPr>
        <p:spPr/>
        <p:txBody>
          <a:bodyPr/>
          <a:lstStyle/>
          <a:p>
            <a:fld id="{19C9EB4C-06C7-441F-9B0A-620A2ACB834C}" type="slidenum">
              <a:rPr lang="es-ES" smtClean="0"/>
              <a:t>30</a:t>
            </a:fld>
            <a:endParaRPr lang="es-ES"/>
          </a:p>
        </p:txBody>
      </p:sp>
    </p:spTree>
    <p:extLst>
      <p:ext uri="{BB962C8B-B14F-4D97-AF65-F5344CB8AC3E}">
        <p14:creationId xmlns:p14="http://schemas.microsoft.com/office/powerpoint/2010/main" val="277866356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BBD55-2581-E22B-DA19-75830BFE7DA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AAED58A-C1D0-2EFC-406E-BC711207E54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CB17BF-A3E7-5CB7-8A10-6672667C2038}"/>
              </a:ext>
            </a:extLst>
          </p:cNvPr>
          <p:cNvSpPr>
            <a:spLocks noGrp="1"/>
          </p:cNvSpPr>
          <p:nvPr>
            <p:ph type="body" idx="1"/>
          </p:nvPr>
        </p:nvSpPr>
        <p:spPr/>
        <p:txBody>
          <a:bodyPr/>
          <a:lstStyle/>
          <a:p>
            <a:r>
              <a:rPr lang="es-ES" dirty="0"/>
              <a:t>Supongamos: cada paso hacia atrás multiplica el gradiente por 0,8. Comenzamos con el gradiente en el paso final: 1,0.</a:t>
            </a:r>
          </a:p>
          <a:p>
            <a:endParaRPr lang="es-ES" dirty="0"/>
          </a:p>
          <a:p>
            <a:r>
              <a:rPr lang="es-ES" dirty="0"/>
              <a:t>Supongamos que el gradiente en el último paso vale 1 (para simplificar el ejemplo).</a:t>
            </a:r>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Estamos hablando del </a:t>
            </a:r>
            <a:r>
              <a:rPr lang="es-ES" b="1" dirty="0"/>
              <a:t>valor del gradiente al empezar a </a:t>
            </a:r>
            <a:r>
              <a:rPr lang="es-ES" b="1" dirty="0" err="1"/>
              <a:t>retropropagar</a:t>
            </a:r>
            <a:r>
              <a:rPr lang="es-ES" dirty="0"/>
              <a:t>.</a:t>
            </a:r>
          </a:p>
          <a:p>
            <a:endParaRPr lang="en-US" dirty="0"/>
          </a:p>
        </p:txBody>
      </p:sp>
      <p:sp>
        <p:nvSpPr>
          <p:cNvPr id="4" name="Marcador de número de diapositiva 3">
            <a:extLst>
              <a:ext uri="{FF2B5EF4-FFF2-40B4-BE49-F238E27FC236}">
                <a16:creationId xmlns:a16="http://schemas.microsoft.com/office/drawing/2014/main" id="{02F9D64E-3AF8-F018-2DC4-B78B62AD5518}"/>
              </a:ext>
            </a:extLst>
          </p:cNvPr>
          <p:cNvSpPr>
            <a:spLocks noGrp="1"/>
          </p:cNvSpPr>
          <p:nvPr>
            <p:ph type="sldNum" sz="quarter" idx="5"/>
          </p:nvPr>
        </p:nvSpPr>
        <p:spPr/>
        <p:txBody>
          <a:bodyPr/>
          <a:lstStyle/>
          <a:p>
            <a:fld id="{19C9EB4C-06C7-441F-9B0A-620A2ACB834C}" type="slidenum">
              <a:rPr lang="es-ES" smtClean="0"/>
              <a:t>31</a:t>
            </a:fld>
            <a:endParaRPr lang="es-ES"/>
          </a:p>
        </p:txBody>
      </p:sp>
    </p:spTree>
    <p:extLst>
      <p:ext uri="{BB962C8B-B14F-4D97-AF65-F5344CB8AC3E}">
        <p14:creationId xmlns:p14="http://schemas.microsoft.com/office/powerpoint/2010/main" val="26447486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24DF51-4689-584F-E31D-3C14284C443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7DEE183-5877-73F6-743B-ADF8E74A797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C991388-07C9-A121-CFAD-8D3FD65C18BA}"/>
              </a:ext>
            </a:extLst>
          </p:cNvPr>
          <p:cNvSpPr>
            <a:spLocks noGrp="1"/>
          </p:cNvSpPr>
          <p:nvPr>
            <p:ph type="body" idx="1"/>
          </p:nvPr>
        </p:nvSpPr>
        <p:spPr/>
        <p:txBody>
          <a:bodyPr/>
          <a:lstStyle/>
          <a:p>
            <a:endParaRPr lang="en-US" dirty="0"/>
          </a:p>
        </p:txBody>
      </p:sp>
      <p:sp>
        <p:nvSpPr>
          <p:cNvPr id="4" name="Marcador de número de diapositiva 3">
            <a:extLst>
              <a:ext uri="{FF2B5EF4-FFF2-40B4-BE49-F238E27FC236}">
                <a16:creationId xmlns:a16="http://schemas.microsoft.com/office/drawing/2014/main" id="{6AD9D8D9-4089-9CD8-D67B-324548E3DC47}"/>
              </a:ext>
            </a:extLst>
          </p:cNvPr>
          <p:cNvSpPr>
            <a:spLocks noGrp="1"/>
          </p:cNvSpPr>
          <p:nvPr>
            <p:ph type="sldNum" sz="quarter" idx="5"/>
          </p:nvPr>
        </p:nvSpPr>
        <p:spPr/>
        <p:txBody>
          <a:bodyPr/>
          <a:lstStyle/>
          <a:p>
            <a:fld id="{19C9EB4C-06C7-441F-9B0A-620A2ACB834C}" type="slidenum">
              <a:rPr lang="es-ES" smtClean="0"/>
              <a:t>32</a:t>
            </a:fld>
            <a:endParaRPr lang="es-ES"/>
          </a:p>
        </p:txBody>
      </p:sp>
    </p:spTree>
    <p:extLst>
      <p:ext uri="{BB962C8B-B14F-4D97-AF65-F5344CB8AC3E}">
        <p14:creationId xmlns:p14="http://schemas.microsoft.com/office/powerpoint/2010/main" val="161853019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EAD7C-6179-CB41-F589-CD2079104E5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4363800-C6F4-D198-A576-9DF180E2300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4942A53-9003-C300-3F10-29EE34472C07}"/>
              </a:ext>
            </a:extLst>
          </p:cNvPr>
          <p:cNvSpPr>
            <a:spLocks noGrp="1"/>
          </p:cNvSpPr>
          <p:nvPr>
            <p:ph type="body" idx="1"/>
          </p:nvPr>
        </p:nvSpPr>
        <p:spPr/>
        <p:txBody>
          <a:bodyPr/>
          <a:lstStyle/>
          <a:p>
            <a:r>
              <a:rPr lang="es-ES" dirty="0"/>
              <a:t>Paso hacia adelante: la información fluye. </a:t>
            </a:r>
          </a:p>
          <a:p>
            <a:r>
              <a:rPr lang="es-ES" dirty="0"/>
              <a:t>Paso hacia atrás: la señal de aprendizaje puede desaparecer. </a:t>
            </a:r>
          </a:p>
          <a:p>
            <a:endParaRPr lang="es-ES" dirty="0"/>
          </a:p>
          <a:p>
            <a:r>
              <a:rPr lang="es-ES" dirty="0"/>
              <a:t>La memoria no es el problema. El problema es la propagación estable del gradiente.</a:t>
            </a:r>
          </a:p>
          <a:p>
            <a:endParaRPr lang="es-ES" dirty="0"/>
          </a:p>
          <a:p>
            <a:r>
              <a:rPr lang="es-ES" b="1" dirty="0"/>
              <a:t>Existe un caso “ideal” donde el gradiente no ni desaparece ni explota?</a:t>
            </a:r>
            <a:br>
              <a:rPr lang="es-ES" dirty="0"/>
            </a:br>
            <a:r>
              <a:rPr lang="es-ES" dirty="0"/>
              <a:t> ¿Qué valor debería tener la transformación recurrente?</a:t>
            </a:r>
            <a:endParaRPr lang="en-US" dirty="0"/>
          </a:p>
        </p:txBody>
      </p:sp>
      <p:sp>
        <p:nvSpPr>
          <p:cNvPr id="4" name="Marcador de número de diapositiva 3">
            <a:extLst>
              <a:ext uri="{FF2B5EF4-FFF2-40B4-BE49-F238E27FC236}">
                <a16:creationId xmlns:a16="http://schemas.microsoft.com/office/drawing/2014/main" id="{C2051114-3375-AECE-3A63-F8A08A8ED929}"/>
              </a:ext>
            </a:extLst>
          </p:cNvPr>
          <p:cNvSpPr>
            <a:spLocks noGrp="1"/>
          </p:cNvSpPr>
          <p:nvPr>
            <p:ph type="sldNum" sz="quarter" idx="5"/>
          </p:nvPr>
        </p:nvSpPr>
        <p:spPr/>
        <p:txBody>
          <a:bodyPr/>
          <a:lstStyle/>
          <a:p>
            <a:fld id="{19C9EB4C-06C7-441F-9B0A-620A2ACB834C}" type="slidenum">
              <a:rPr lang="es-ES" smtClean="0"/>
              <a:t>33</a:t>
            </a:fld>
            <a:endParaRPr lang="es-ES"/>
          </a:p>
        </p:txBody>
      </p:sp>
    </p:spTree>
    <p:extLst>
      <p:ext uri="{BB962C8B-B14F-4D97-AF65-F5344CB8AC3E}">
        <p14:creationId xmlns:p14="http://schemas.microsoft.com/office/powerpoint/2010/main" val="84622777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1BBCE-0864-4BF7-2043-7025FB1541C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9DF4745-204F-8701-EFB4-638D9ADFFA9F}"/>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Marcador de notas 2">
                <a:extLst>
                  <a:ext uri="{FF2B5EF4-FFF2-40B4-BE49-F238E27FC236}">
                    <a16:creationId xmlns:a16="http://schemas.microsoft.com/office/drawing/2014/main" id="{1EBF3CD3-10FD-0ACC-DC1B-0933D95B0160}"/>
                  </a:ext>
                </a:extLst>
              </p:cNvPr>
              <p:cNvSpPr>
                <a:spLocks noGrp="1"/>
              </p:cNvSpPr>
              <p:nvPr>
                <p:ph type="body" idx="1"/>
              </p:nvPr>
            </p:nvSpPr>
            <p:spPr/>
            <p:txBody>
              <a:bodyPr/>
              <a:lstStyle/>
              <a:p>
                <a:r>
                  <a:rPr lang="es-ES" dirty="0"/>
                  <a:t>Durante </a:t>
                </a:r>
                <a:r>
                  <a:rPr lang="es-ES" dirty="0" err="1"/>
                  <a:t>backpropagation</a:t>
                </a:r>
                <a:r>
                  <a:rPr lang="es-ES" dirty="0"/>
                  <a:t>:</a:t>
                </a:r>
              </a:p>
              <a:p>
                <a:pPr/>
                <a14:m>
                  <m:oMathPara xmlns:m="http://schemas.openxmlformats.org/officeDocument/2006/math">
                    <m:oMathParaPr>
                      <m:jc m:val="centerGroup"/>
                    </m:oMathParaPr>
                    <m:oMath xmlns:m="http://schemas.openxmlformats.org/officeDocument/2006/math">
                      <m:r>
                        <m:rPr>
                          <m:nor/>
                        </m:rPr>
                        <a:rPr lang="es-ES" b="0"/>
                        <m:t>Gradient</m:t>
                      </m:r>
                      <m:r>
                        <a:rPr lang="es-ES" sz="1200" b="0" i="0" kern="1200">
                          <a:solidFill>
                            <a:schemeClr val="tx1"/>
                          </a:solidFill>
                          <a:latin typeface="Cambria Math" panose="02040503050406030204" pitchFamily="18" charset="0"/>
                          <a:ea typeface="+mn-ea"/>
                          <a:cs typeface="+mn-cs"/>
                        </a:rPr>
                        <m:t>∼</m:t>
                      </m:r>
                      <m:d>
                        <m:dPr>
                          <m:endChr m:val=""/>
                          <m:ctrlPr>
                            <a:rPr lang="ar-AE" sz="1200" b="0" i="1" kern="1200">
                              <a:solidFill>
                                <a:schemeClr val="tx1"/>
                              </a:solidFill>
                              <a:latin typeface="Cambria Math" panose="02040503050406030204" pitchFamily="18" charset="0"/>
                              <a:ea typeface="+mn-ea"/>
                              <a:cs typeface="+mn-cs"/>
                            </a:rPr>
                          </m:ctrlPr>
                        </m:dPr>
                        <m:e>
                          <m:sSub>
                            <m:sSubPr>
                              <m:ctrlPr>
                                <a:rPr lang="ar-AE" sz="1200" b="0" i="1" kern="1200">
                                  <a:solidFill>
                                    <a:schemeClr val="tx1"/>
                                  </a:solidFill>
                                  <a:latin typeface="Cambria Math" panose="02040503050406030204" pitchFamily="18" charset="0"/>
                                  <a:ea typeface="+mn-ea"/>
                                  <a:cs typeface="+mn-cs"/>
                                </a:rPr>
                              </m:ctrlPr>
                            </m:sSubPr>
                            <m:e>
                              <m:r>
                                <a:rPr lang="ar-AE" sz="1200" b="0" i="1" kern="1200">
                                  <a:solidFill>
                                    <a:schemeClr val="tx1"/>
                                  </a:solidFill>
                                  <a:latin typeface="Cambria Math" panose="02040503050406030204" pitchFamily="18" charset="0"/>
                                  <a:ea typeface="+mn-ea"/>
                                  <a:cs typeface="+mn-cs"/>
                                </a:rPr>
                                <m:t>𝑊</m:t>
                              </m:r>
                            </m:e>
                            <m:sub>
                              <m:r>
                                <a:rPr lang="ar-AE" sz="1200" b="0" i="1" kern="1200">
                                  <a:solidFill>
                                    <a:schemeClr val="tx1"/>
                                  </a:solidFill>
                                  <a:latin typeface="Cambria Math" panose="02040503050406030204" pitchFamily="18" charset="0"/>
                                  <a:ea typeface="+mn-ea"/>
                                  <a:cs typeface="+mn-cs"/>
                                </a:rPr>
                                <m:t>h</m:t>
                              </m:r>
                            </m:sub>
                          </m:sSub>
                          <m:sSup>
                            <m:sSupPr>
                              <m:ctrlPr>
                                <a:rPr lang="ar-AE" sz="1200" b="0" i="1" kern="1200">
                                  <a:solidFill>
                                    <a:schemeClr val="tx1"/>
                                  </a:solidFill>
                                  <a:latin typeface="Cambria Math" panose="02040503050406030204" pitchFamily="18" charset="0"/>
                                  <a:ea typeface="+mn-ea"/>
                                  <a:cs typeface="+mn-cs"/>
                                </a:rPr>
                              </m:ctrlPr>
                            </m:sSupPr>
                            <m:e>
                              <m:d>
                                <m:dPr>
                                  <m:begChr m:val=""/>
                                  <m:endChr m:val=""/>
                                  <m:ctrlPr>
                                    <a:rPr lang="ar-AE" sz="1200" b="0" i="1" kern="1200">
                                      <a:solidFill>
                                        <a:schemeClr val="tx1"/>
                                      </a:solidFill>
                                      <a:latin typeface="Cambria Math" panose="02040503050406030204" pitchFamily="18" charset="0"/>
                                      <a:ea typeface="+mn-ea"/>
                                      <a:cs typeface="+mn-cs"/>
                                    </a:rPr>
                                  </m:ctrlPr>
                                </m:dPr>
                                <m:e>
                                  <m:r>
                                    <a:rPr lang="ar-AE" sz="1200" b="0" i="0" kern="1200">
                                      <a:solidFill>
                                        <a:schemeClr val="tx1"/>
                                      </a:solidFill>
                                      <a:latin typeface="Cambria Math" panose="02040503050406030204" pitchFamily="18" charset="0"/>
                                      <a:ea typeface="+mn-ea"/>
                                      <a:cs typeface="+mn-cs"/>
                                    </a:rPr>
                                    <m:t>)</m:t>
                                  </m:r>
                                </m:e>
                              </m:d>
                            </m:e>
                            <m:sup>
                              <m:r>
                                <a:rPr lang="ar-AE" sz="1200" b="0" i="1" kern="1200">
                                  <a:solidFill>
                                    <a:schemeClr val="tx1"/>
                                  </a:solidFill>
                                  <a:latin typeface="Cambria Math" panose="02040503050406030204" pitchFamily="18" charset="0"/>
                                  <a:ea typeface="+mn-ea"/>
                                  <a:cs typeface="+mn-cs"/>
                                </a:rPr>
                                <m:t>𝑘</m:t>
                              </m:r>
                            </m:sup>
                          </m:sSup>
                        </m:e>
                      </m:d>
                    </m:oMath>
                  </m:oMathPara>
                </a14:m>
                <a:endParaRPr lang="ar-AE" b="0" dirty="0"/>
              </a:p>
              <a:p>
                <a:r>
                  <a:rPr lang="es-ES" dirty="0"/>
                  <a:t>donde:</a:t>
                </a:r>
              </a:p>
              <a:p>
                <a14:m>
                  <m:oMath xmlns:m="http://schemas.openxmlformats.org/officeDocument/2006/math">
                    <m:r>
                      <a:rPr lang="es-ES" sz="1200" i="1" kern="1200">
                        <a:solidFill>
                          <a:schemeClr val="tx1"/>
                        </a:solidFill>
                        <a:latin typeface="Cambria Math" panose="02040503050406030204" pitchFamily="18" charset="0"/>
                        <a:ea typeface="+mn-ea"/>
                        <a:cs typeface="+mn-cs"/>
                      </a:rPr>
                      <m:t>𝑘</m:t>
                    </m:r>
                  </m:oMath>
                </a14:m>
                <a:r>
                  <a:rPr lang="es-ES" dirty="0"/>
                  <a:t>= número de pasos hacia atrás</a:t>
                </a:r>
              </a:p>
              <a:p>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𝑊</m:t>
                        </m:r>
                      </m:e>
                      <m:sub>
                        <m:r>
                          <a:rPr lang="ar-AE" sz="1200" i="1" kern="1200">
                            <a:solidFill>
                              <a:schemeClr val="tx1"/>
                            </a:solidFill>
                            <a:latin typeface="Cambria Math" panose="02040503050406030204" pitchFamily="18" charset="0"/>
                            <a:ea typeface="+mn-ea"/>
                            <a:cs typeface="+mn-cs"/>
                          </a:rPr>
                          <m:t>h</m:t>
                        </m:r>
                      </m:sub>
                    </m:sSub>
                  </m:oMath>
                </a14:m>
                <a:r>
                  <a:rPr lang="ar-AE" dirty="0"/>
                  <a:t>= </a:t>
                </a:r>
                <a:r>
                  <a:rPr lang="es-ES" dirty="0"/>
                  <a:t>transformación recurrente</a:t>
                </a:r>
              </a:p>
              <a:p>
                <a:r>
                  <a:rPr lang="es-ES" dirty="0"/>
                  <a:t>En los ejemplos anteriores:</a:t>
                </a:r>
              </a:p>
              <a:p>
                <a:r>
                  <a:rPr lang="es-ES" dirty="0"/>
                  <a:t>Si multiplicábamos por 0.8 → desaparecía</a:t>
                </a:r>
              </a:p>
              <a:p>
                <a:r>
                  <a:rPr lang="es-ES" dirty="0"/>
                  <a:t>Si multiplicábamos por 1.2 → explotaba</a:t>
                </a:r>
              </a:p>
            </p:txBody>
          </p:sp>
        </mc:Choice>
        <mc:Fallback xmlns="">
          <p:sp>
            <p:nvSpPr>
              <p:cNvPr id="3" name="Marcador de notas 2">
                <a:extLst>
                  <a:ext uri="{FF2B5EF4-FFF2-40B4-BE49-F238E27FC236}">
                    <a16:creationId xmlns:a16="http://schemas.microsoft.com/office/drawing/2014/main" id="{1EBF3CD3-10FD-0ACC-DC1B-0933D95B0160}"/>
                  </a:ext>
                </a:extLst>
              </p:cNvPr>
              <p:cNvSpPr>
                <a:spLocks noGrp="1"/>
              </p:cNvSpPr>
              <p:nvPr>
                <p:ph type="body" idx="1"/>
              </p:nvPr>
            </p:nvSpPr>
            <p:spPr/>
            <p:txBody>
              <a:bodyPr/>
              <a:lstStyle/>
              <a:p>
                <a:r>
                  <a:rPr lang="es-ES" dirty="0"/>
                  <a:t>Durante </a:t>
                </a:r>
                <a:r>
                  <a:rPr lang="es-ES" dirty="0" err="1"/>
                  <a:t>backpropagation</a:t>
                </a:r>
                <a:r>
                  <a:rPr lang="es-ES" dirty="0"/>
                  <a:t>:</a:t>
                </a:r>
              </a:p>
              <a:p>
                <a:r>
                  <a:rPr lang="es-ES" b="0" i="0">
                    <a:latin typeface="Cambria Math" panose="02040503050406030204" pitchFamily="18" charset="0"/>
                  </a:rPr>
                  <a:t>"Gradient</a:t>
                </a:r>
                <a:r>
                  <a:rPr lang="es-ES" sz="1200" b="0" i="0" kern="1200">
                    <a:solidFill>
                      <a:schemeClr val="tx1"/>
                    </a:solidFill>
                    <a:latin typeface="+mn-lt"/>
                    <a:ea typeface="+mn-ea"/>
                    <a:cs typeface="+mn-cs"/>
                  </a:rPr>
                  <a:t>"∼</a:t>
                </a:r>
                <a:r>
                  <a:rPr lang="ar-AE" sz="1200" b="0" i="0" kern="1200">
                    <a:solidFill>
                      <a:schemeClr val="tx1"/>
                    </a:solidFill>
                    <a:latin typeface="+mn-lt"/>
                    <a:ea typeface="+mn-ea"/>
                    <a:cs typeface="+mn-cs"/>
                  </a:rPr>
                  <a:t>(𝑊_ℎ ├ )┤^𝑘 ┤</a:t>
                </a:r>
                <a:endParaRPr lang="ar-AE" b="0" dirty="0"/>
              </a:p>
              <a:p>
                <a:r>
                  <a:rPr lang="es-ES" dirty="0"/>
                  <a:t>donde:</a:t>
                </a:r>
              </a:p>
              <a:p>
                <a:r>
                  <a:rPr lang="es-ES" sz="1200" i="0" kern="1200">
                    <a:solidFill>
                      <a:schemeClr val="tx1"/>
                    </a:solidFill>
                    <a:latin typeface="+mn-lt"/>
                    <a:ea typeface="+mn-ea"/>
                    <a:cs typeface="+mn-cs"/>
                  </a:rPr>
                  <a:t>𝑘</a:t>
                </a:r>
                <a:r>
                  <a:rPr lang="es-ES" dirty="0"/>
                  <a:t>= número de pasos hacia atrás</a:t>
                </a:r>
              </a:p>
              <a:p>
                <a:r>
                  <a:rPr lang="ar-AE" sz="1200" i="0" kern="1200">
                    <a:solidFill>
                      <a:schemeClr val="tx1"/>
                    </a:solidFill>
                    <a:latin typeface="+mn-lt"/>
                    <a:ea typeface="+mn-ea"/>
                    <a:cs typeface="+mn-cs"/>
                  </a:rPr>
                  <a:t>𝑊_ℎ</a:t>
                </a:r>
                <a:r>
                  <a:rPr lang="ar-AE" dirty="0"/>
                  <a:t>= </a:t>
                </a:r>
                <a:r>
                  <a:rPr lang="es-ES" dirty="0"/>
                  <a:t>transformación recurrente</a:t>
                </a:r>
              </a:p>
              <a:p>
                <a:r>
                  <a:rPr lang="es-ES" dirty="0"/>
                  <a:t>En los ejemplos anteriores:</a:t>
                </a:r>
              </a:p>
              <a:p>
                <a:r>
                  <a:rPr lang="es-ES" dirty="0"/>
                  <a:t>Si multiplicábamos por 0.8 → desaparecía</a:t>
                </a:r>
              </a:p>
              <a:p>
                <a:r>
                  <a:rPr lang="es-ES" dirty="0"/>
                  <a:t>Si multiplicábamos por 1.2 → explotaba</a:t>
                </a:r>
              </a:p>
            </p:txBody>
          </p:sp>
        </mc:Fallback>
      </mc:AlternateContent>
      <p:sp>
        <p:nvSpPr>
          <p:cNvPr id="4" name="Marcador de número de diapositiva 3">
            <a:extLst>
              <a:ext uri="{FF2B5EF4-FFF2-40B4-BE49-F238E27FC236}">
                <a16:creationId xmlns:a16="http://schemas.microsoft.com/office/drawing/2014/main" id="{6A675048-238A-D2C1-646C-1248FBA89E67}"/>
              </a:ext>
            </a:extLst>
          </p:cNvPr>
          <p:cNvSpPr>
            <a:spLocks noGrp="1"/>
          </p:cNvSpPr>
          <p:nvPr>
            <p:ph type="sldNum" sz="quarter" idx="5"/>
          </p:nvPr>
        </p:nvSpPr>
        <p:spPr/>
        <p:txBody>
          <a:bodyPr/>
          <a:lstStyle/>
          <a:p>
            <a:fld id="{19C9EB4C-06C7-441F-9B0A-620A2ACB834C}" type="slidenum">
              <a:rPr lang="es-ES" smtClean="0"/>
              <a:t>34</a:t>
            </a:fld>
            <a:endParaRPr lang="es-ES"/>
          </a:p>
        </p:txBody>
      </p:sp>
    </p:spTree>
    <p:extLst>
      <p:ext uri="{BB962C8B-B14F-4D97-AF65-F5344CB8AC3E}">
        <p14:creationId xmlns:p14="http://schemas.microsoft.com/office/powerpoint/2010/main" val="242880476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DFC527-DF27-5940-635C-CFEC4E977AF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6103A3E-4AE8-3799-7261-CC508AE46B16}"/>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Marcador de notas 2">
                <a:extLst>
                  <a:ext uri="{FF2B5EF4-FFF2-40B4-BE49-F238E27FC236}">
                    <a16:creationId xmlns:a16="http://schemas.microsoft.com/office/drawing/2014/main" id="{2EBC1D07-27FE-6F93-7BBC-995EDB1D4415}"/>
                  </a:ext>
                </a:extLst>
              </p:cNvPr>
              <p:cNvSpPr>
                <a:spLocks noGrp="1"/>
              </p:cNvSpPr>
              <p:nvPr>
                <p:ph type="body" idx="1"/>
              </p:nvPr>
            </p:nvSpPr>
            <p:spPr/>
            <p:txBody>
              <a:bodyPr/>
              <a:lstStyle/>
              <a:p>
                <a:r>
                  <a:rPr lang="es-ES" b="1" dirty="0"/>
                  <a:t>El caso “perfecto”</a:t>
                </a:r>
              </a:p>
              <a:p>
                <a:r>
                  <a:rPr lang="es-ES" dirty="0"/>
                  <a:t>Imagina que cada paso multiplica exactamente por:</a:t>
                </a:r>
              </a:p>
              <a:p>
                <a:pPr/>
                <a14:m>
                  <m:oMathPara xmlns:m="http://schemas.openxmlformats.org/officeDocument/2006/math">
                    <m:oMathParaPr>
                      <m:jc m:val="centerGroup"/>
                    </m:oMathParaPr>
                    <m:oMath xmlns:m="http://schemas.openxmlformats.org/officeDocument/2006/math">
                      <m:r>
                        <a:rPr lang="es-ES" sz="1200" kern="1200">
                          <a:solidFill>
                            <a:schemeClr val="tx1"/>
                          </a:solidFill>
                          <a:latin typeface="Cambria Math" panose="02040503050406030204" pitchFamily="18" charset="0"/>
                          <a:ea typeface="+mn-ea"/>
                          <a:cs typeface="+mn-cs"/>
                        </a:rPr>
                        <m:t>1</m:t>
                      </m:r>
                      <m:r>
                        <a:rPr lang="es-ES" sz="1200" kern="1200">
                          <a:solidFill>
                            <a:schemeClr val="tx1"/>
                          </a:solidFill>
                          <a:latin typeface="Cambria Math" panose="02040503050406030204" pitchFamily="18" charset="0"/>
                          <a:ea typeface="+mn-ea"/>
                          <a:cs typeface="+mn-cs"/>
                        </a:rPr>
                        <m:t>.</m:t>
                      </m:r>
                      <m:r>
                        <a:rPr lang="es-ES" sz="1200" kern="1200">
                          <a:solidFill>
                            <a:schemeClr val="tx1"/>
                          </a:solidFill>
                          <a:latin typeface="Cambria Math" panose="02040503050406030204" pitchFamily="18" charset="0"/>
                          <a:ea typeface="+mn-ea"/>
                          <a:cs typeface="+mn-cs"/>
                        </a:rPr>
                        <m:t>0</m:t>
                      </m:r>
                    </m:oMath>
                  </m:oMathPara>
                </a14:m>
                <a:endParaRPr lang="es-ES" dirty="0"/>
              </a:p>
              <a:p>
                <a:r>
                  <a:rPr lang="es-ES" dirty="0"/>
                  <a:t>Entonces:</a:t>
                </a:r>
              </a:p>
              <a:p>
                <a:pPr/>
                <a14:m>
                  <m:oMathPara xmlns:m="http://schemas.openxmlformats.org/officeDocument/2006/math">
                    <m:oMathParaPr>
                      <m:jc m:val="centerGroup"/>
                    </m:oMathParaPr>
                    <m:oMath xmlns:m="http://schemas.openxmlformats.org/officeDocument/2006/math">
                      <m:sSup>
                        <m:sSupPr>
                          <m:ctrlPr>
                            <a:rPr lang="ar-AE" sz="1200" i="1" kern="1200">
                              <a:solidFill>
                                <a:schemeClr val="tx1"/>
                              </a:solidFill>
                              <a:latin typeface="Cambria Math" panose="02040503050406030204" pitchFamily="18" charset="0"/>
                              <a:ea typeface="+mn-ea"/>
                              <a:cs typeface="+mn-cs"/>
                            </a:rPr>
                          </m:ctrlPr>
                        </m:sSupPr>
                        <m:e>
                          <m:r>
                            <a:rPr lang="ar-AE" sz="1200" kern="1200">
                              <a:solidFill>
                                <a:schemeClr val="tx1"/>
                              </a:solidFill>
                              <a:latin typeface="Cambria Math" panose="02040503050406030204" pitchFamily="18" charset="0"/>
                              <a:ea typeface="+mn-ea"/>
                              <a:cs typeface="+mn-cs"/>
                            </a:rPr>
                            <m:t>1</m:t>
                          </m:r>
                        </m:e>
                        <m:sup>
                          <m:r>
                            <a:rPr lang="ar-AE" sz="1200" i="1" kern="1200">
                              <a:solidFill>
                                <a:schemeClr val="tx1"/>
                              </a:solidFill>
                              <a:latin typeface="Cambria Math" panose="02040503050406030204" pitchFamily="18" charset="0"/>
                              <a:ea typeface="+mn-ea"/>
                              <a:cs typeface="+mn-cs"/>
                            </a:rPr>
                            <m:t>𝑘</m:t>
                          </m:r>
                        </m:sup>
                      </m:sSup>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1</m:t>
                      </m:r>
                    </m:oMath>
                  </m:oMathPara>
                </a14:m>
                <a:endParaRPr lang="ar-AE" dirty="0"/>
              </a:p>
              <a:p>
                <a:r>
                  <a:rPr lang="es-ES" dirty="0"/>
                  <a:t>Después de:</a:t>
                </a:r>
              </a:p>
              <a:p>
                <a:r>
                  <a:rPr lang="es-ES" dirty="0"/>
                  <a:t>1 paso → 1</a:t>
                </a:r>
              </a:p>
              <a:p>
                <a:r>
                  <a:rPr lang="es-ES" dirty="0"/>
                  <a:t>10 pasos → 1</a:t>
                </a:r>
              </a:p>
              <a:p>
                <a:r>
                  <a:rPr lang="es-ES" dirty="0"/>
                  <a:t>50 pasos → 1</a:t>
                </a:r>
              </a:p>
              <a:p>
                <a:r>
                  <a:rPr lang="es-ES" dirty="0"/>
                  <a:t>100 pasos → 1</a:t>
                </a:r>
              </a:p>
              <a:p>
                <a:r>
                  <a:rPr lang="es-ES" dirty="0"/>
                  <a:t>El gradiente se mantiene estable.</a:t>
                </a:r>
              </a:p>
              <a:p>
                <a:r>
                  <a:rPr lang="es-ES" dirty="0"/>
                  <a:t>Eso sería el caso ideal.</a:t>
                </a:r>
              </a:p>
              <a:p>
                <a:endParaRPr lang="es-ES" dirty="0"/>
              </a:p>
            </p:txBody>
          </p:sp>
        </mc:Choice>
        <mc:Fallback xmlns="">
          <p:sp>
            <p:nvSpPr>
              <p:cNvPr id="3" name="Marcador de notas 2">
                <a:extLst>
                  <a:ext uri="{FF2B5EF4-FFF2-40B4-BE49-F238E27FC236}">
                    <a16:creationId xmlns:a16="http://schemas.microsoft.com/office/drawing/2014/main" id="{2EBC1D07-27FE-6F93-7BBC-995EDB1D4415}"/>
                  </a:ext>
                </a:extLst>
              </p:cNvPr>
              <p:cNvSpPr>
                <a:spLocks noGrp="1"/>
              </p:cNvSpPr>
              <p:nvPr>
                <p:ph type="body" idx="1"/>
              </p:nvPr>
            </p:nvSpPr>
            <p:spPr/>
            <p:txBody>
              <a:bodyPr/>
              <a:lstStyle/>
              <a:p>
                <a:r>
                  <a:rPr lang="es-ES" b="1" dirty="0"/>
                  <a:t>El caso “perfecto”</a:t>
                </a:r>
              </a:p>
              <a:p>
                <a:r>
                  <a:rPr lang="es-ES" dirty="0"/>
                  <a:t>Imagina que cada paso multiplica exactamente por:</a:t>
                </a:r>
              </a:p>
              <a:p>
                <a:pPr/>
                <a:r>
                  <a:rPr lang="es-ES" sz="1200" i="0" kern="1200">
                    <a:solidFill>
                      <a:schemeClr val="tx1"/>
                    </a:solidFill>
                    <a:latin typeface="Cambria Math" panose="02040503050406030204" pitchFamily="18" charset="0"/>
                    <a:ea typeface="+mn-ea"/>
                    <a:cs typeface="+mn-cs"/>
                  </a:rPr>
                  <a:t>1.0</a:t>
                </a:r>
                <a:endParaRPr lang="es-ES" dirty="0"/>
              </a:p>
              <a:p>
                <a:r>
                  <a:rPr lang="es-ES" dirty="0"/>
                  <a:t>Entonces:</a:t>
                </a:r>
              </a:p>
              <a:p>
                <a:pPr/>
                <a:r>
                  <a:rPr lang="ar-AE" sz="1200" i="0" kern="1200">
                    <a:solidFill>
                      <a:schemeClr val="tx1"/>
                    </a:solidFill>
                    <a:latin typeface="Cambria Math" panose="02040503050406030204" pitchFamily="18" charset="0"/>
                    <a:ea typeface="+mn-ea"/>
                    <a:cs typeface="+mn-cs"/>
                  </a:rPr>
                  <a:t>1^𝑘=1</a:t>
                </a:r>
                <a:endParaRPr lang="ar-AE" dirty="0"/>
              </a:p>
              <a:p>
                <a:r>
                  <a:rPr lang="es-ES" dirty="0"/>
                  <a:t>Después de:</a:t>
                </a:r>
              </a:p>
              <a:p>
                <a:r>
                  <a:rPr lang="es-ES" dirty="0"/>
                  <a:t>1 paso → 1</a:t>
                </a:r>
              </a:p>
              <a:p>
                <a:r>
                  <a:rPr lang="es-ES" dirty="0"/>
                  <a:t>10 pasos → 1</a:t>
                </a:r>
              </a:p>
              <a:p>
                <a:r>
                  <a:rPr lang="es-ES" dirty="0"/>
                  <a:t>50 pasos → 1</a:t>
                </a:r>
              </a:p>
              <a:p>
                <a:r>
                  <a:rPr lang="es-ES" dirty="0"/>
                  <a:t>100 pasos → 1</a:t>
                </a:r>
              </a:p>
              <a:p>
                <a:r>
                  <a:rPr lang="es-ES" dirty="0"/>
                  <a:t>El gradiente se mantiene estable.</a:t>
                </a:r>
              </a:p>
              <a:p>
                <a:r>
                  <a:rPr lang="es-ES" dirty="0"/>
                  <a:t>Eso sería el caso ideal.</a:t>
                </a:r>
              </a:p>
              <a:p>
                <a:endParaRPr lang="es-ES" dirty="0"/>
              </a:p>
            </p:txBody>
          </p:sp>
        </mc:Fallback>
      </mc:AlternateContent>
      <p:sp>
        <p:nvSpPr>
          <p:cNvPr id="4" name="Marcador de número de diapositiva 3">
            <a:extLst>
              <a:ext uri="{FF2B5EF4-FFF2-40B4-BE49-F238E27FC236}">
                <a16:creationId xmlns:a16="http://schemas.microsoft.com/office/drawing/2014/main" id="{FD7FB6A7-AAED-AC50-7E4B-B40B5F378C0B}"/>
              </a:ext>
            </a:extLst>
          </p:cNvPr>
          <p:cNvSpPr>
            <a:spLocks noGrp="1"/>
          </p:cNvSpPr>
          <p:nvPr>
            <p:ph type="sldNum" sz="quarter" idx="5"/>
          </p:nvPr>
        </p:nvSpPr>
        <p:spPr/>
        <p:txBody>
          <a:bodyPr/>
          <a:lstStyle/>
          <a:p>
            <a:fld id="{19C9EB4C-06C7-441F-9B0A-620A2ACB834C}" type="slidenum">
              <a:rPr lang="es-ES" smtClean="0"/>
              <a:t>35</a:t>
            </a:fld>
            <a:endParaRPr lang="es-ES"/>
          </a:p>
        </p:txBody>
      </p:sp>
    </p:spTree>
    <p:extLst>
      <p:ext uri="{BB962C8B-B14F-4D97-AF65-F5344CB8AC3E}">
        <p14:creationId xmlns:p14="http://schemas.microsoft.com/office/powerpoint/2010/main" val="90026985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C4B81-7D4D-D6E6-CCBE-B597728150A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5B49382-54E4-9ED9-4151-859583A60A6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F3007E8-E7A6-D244-7A2A-5596BCCD4840}"/>
              </a:ext>
            </a:extLst>
          </p:cNvPr>
          <p:cNvSpPr>
            <a:spLocks noGrp="1"/>
          </p:cNvSpPr>
          <p:nvPr>
            <p:ph type="body" idx="1"/>
          </p:nvPr>
        </p:nvSpPr>
        <p:spPr/>
        <p:txBody>
          <a:bodyPr/>
          <a:lstStyle/>
          <a:p>
            <a:r>
              <a:rPr lang="es-ES" dirty="0"/>
              <a:t>En la práctica:</a:t>
            </a:r>
          </a:p>
          <a:p>
            <a:r>
              <a:rPr lang="es-ES" dirty="0"/>
              <a:t>Es extremadamente difícil mantener exactamente 1.</a:t>
            </a:r>
          </a:p>
          <a:p>
            <a:r>
              <a:rPr lang="es-ES" dirty="0"/>
              <a:t>Porque:</a:t>
            </a:r>
          </a:p>
          <a:p>
            <a:r>
              <a:rPr lang="es-ES" dirty="0"/>
              <a:t>Hay activación (</a:t>
            </a:r>
            <a:r>
              <a:rPr lang="es-ES" dirty="0" err="1"/>
              <a:t>tanh</a:t>
            </a:r>
            <a:r>
              <a:rPr lang="es-ES" dirty="0"/>
              <a:t>, </a:t>
            </a:r>
            <a:r>
              <a:rPr lang="es-ES" dirty="0" err="1"/>
              <a:t>ReLU</a:t>
            </a:r>
            <a:r>
              <a:rPr lang="es-ES" dirty="0"/>
              <a:t>, etc.)</a:t>
            </a:r>
          </a:p>
          <a:p>
            <a:r>
              <a:rPr lang="es-ES" dirty="0"/>
              <a:t>Hay ruido</a:t>
            </a:r>
          </a:p>
          <a:p>
            <a:r>
              <a:rPr lang="es-ES" dirty="0"/>
              <a:t>Hay actualización de pesos</a:t>
            </a:r>
          </a:p>
          <a:p>
            <a:r>
              <a:rPr lang="es-ES" dirty="0"/>
              <a:t>Hay múltiples dimensiones</a:t>
            </a:r>
          </a:p>
          <a:p>
            <a:r>
              <a:rPr lang="es-ES" dirty="0"/>
              <a:t>Basta que sea:</a:t>
            </a:r>
          </a:p>
          <a:p>
            <a:r>
              <a:rPr lang="es-ES" dirty="0"/>
              <a:t>0.99 → se desvanece lentamente</a:t>
            </a:r>
          </a:p>
          <a:p>
            <a:r>
              <a:rPr lang="es-ES" dirty="0"/>
              <a:t>1.01 → explota lentamente</a:t>
            </a:r>
          </a:p>
          <a:p>
            <a:r>
              <a:rPr lang="es-ES" dirty="0"/>
              <a:t>Y tras muchos pasos, el efecto se vuelve grande.</a:t>
            </a:r>
          </a:p>
          <a:p>
            <a:endParaRPr lang="es-ES" dirty="0"/>
          </a:p>
          <a:p>
            <a:r>
              <a:rPr lang="en-US" dirty="0"/>
              <a:t>“The ideal situation for long-term learning is when the recurrent transformation has magnitude exactly equal to one.”</a:t>
            </a:r>
          </a:p>
          <a:p>
            <a:r>
              <a:rPr lang="en-US" dirty="0"/>
              <a:t>Y luego:</a:t>
            </a:r>
          </a:p>
          <a:p>
            <a:r>
              <a:rPr lang="en-US" dirty="0"/>
              <a:t>“In practice, maintaining that condition is extremely unstable.”</a:t>
            </a:r>
          </a:p>
          <a:p>
            <a:endParaRPr lang="es-ES" dirty="0"/>
          </a:p>
        </p:txBody>
      </p:sp>
      <p:sp>
        <p:nvSpPr>
          <p:cNvPr id="4" name="Marcador de número de diapositiva 3">
            <a:extLst>
              <a:ext uri="{FF2B5EF4-FFF2-40B4-BE49-F238E27FC236}">
                <a16:creationId xmlns:a16="http://schemas.microsoft.com/office/drawing/2014/main" id="{BD346F33-221B-5586-EB50-DD55B3702EE0}"/>
              </a:ext>
            </a:extLst>
          </p:cNvPr>
          <p:cNvSpPr>
            <a:spLocks noGrp="1"/>
          </p:cNvSpPr>
          <p:nvPr>
            <p:ph type="sldNum" sz="quarter" idx="5"/>
          </p:nvPr>
        </p:nvSpPr>
        <p:spPr/>
        <p:txBody>
          <a:bodyPr/>
          <a:lstStyle/>
          <a:p>
            <a:fld id="{19C9EB4C-06C7-441F-9B0A-620A2ACB834C}" type="slidenum">
              <a:rPr lang="es-ES" smtClean="0"/>
              <a:t>36</a:t>
            </a:fld>
            <a:endParaRPr lang="es-ES"/>
          </a:p>
        </p:txBody>
      </p:sp>
    </p:spTree>
    <p:extLst>
      <p:ext uri="{BB962C8B-B14F-4D97-AF65-F5344CB8AC3E}">
        <p14:creationId xmlns:p14="http://schemas.microsoft.com/office/powerpoint/2010/main" val="187117616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Introducción de una </a:t>
            </a:r>
            <a:r>
              <a:rPr lang="es-ES" b="1" dirty="0"/>
              <a:t>memoria explícita</a:t>
            </a:r>
            <a:endParaRPr lang="es-ES" dirty="0"/>
          </a:p>
          <a:p>
            <a:r>
              <a:rPr lang="es-ES" dirty="0"/>
              <a:t>Control del flujo de información</a:t>
            </a:r>
          </a:p>
          <a:p>
            <a:endParaRPr lang="es-ES" dirty="0"/>
          </a:p>
          <a:p>
            <a:r>
              <a:rPr lang="es-ES" b="1" dirty="0"/>
              <a:t>Objetivo:</a:t>
            </a:r>
          </a:p>
          <a:p>
            <a:r>
              <a:rPr lang="es-ES" dirty="0"/>
              <a:t>Resolver el problema del gradiente</a:t>
            </a:r>
          </a:p>
          <a:p>
            <a:r>
              <a:rPr lang="es-ES" dirty="0"/>
              <a:t>Introducir memoria a largo plazo</a:t>
            </a:r>
          </a:p>
          <a:p>
            <a:r>
              <a:rPr lang="es-ES" b="1" dirty="0"/>
              <a:t>Idea clave:</a:t>
            </a:r>
          </a:p>
          <a:p>
            <a:r>
              <a:rPr lang="es-ES" dirty="0"/>
              <a:t>“La red aprende qué recordar y qué olvidar”.</a:t>
            </a:r>
          </a:p>
          <a:p>
            <a:endParaRPr lang="es-ES" dirty="0"/>
          </a:p>
          <a:p>
            <a:endParaRPr lang="es-ES" b="1" dirty="0"/>
          </a:p>
          <a:p>
            <a:r>
              <a:rPr lang="es-ES" b="1" dirty="0"/>
              <a:t>LSTM Cell</a:t>
            </a:r>
            <a:endParaRPr lang="es-ES" dirty="0"/>
          </a:p>
          <a:p>
            <a:r>
              <a:rPr lang="es-ES" dirty="0" err="1"/>
              <a:t>Forget</a:t>
            </a:r>
            <a:r>
              <a:rPr lang="es-ES" dirty="0"/>
              <a:t> gate</a:t>
            </a:r>
          </a:p>
          <a:p>
            <a:r>
              <a:rPr lang="es-ES" dirty="0"/>
              <a:t>Input gate</a:t>
            </a:r>
          </a:p>
          <a:p>
            <a:r>
              <a:rPr lang="es-ES" dirty="0"/>
              <a:t>Output gate</a:t>
            </a:r>
          </a:p>
          <a:p>
            <a:r>
              <a:rPr lang="es-ES" dirty="0"/>
              <a:t>Cell </a:t>
            </a:r>
            <a:r>
              <a:rPr lang="es-ES" dirty="0" err="1"/>
              <a:t>state</a:t>
            </a:r>
            <a:endParaRPr lang="es-ES" dirty="0"/>
          </a:p>
          <a:p>
            <a:endParaRPr lang="es-ES" dirty="0"/>
          </a:p>
        </p:txBody>
      </p:sp>
      <p:sp>
        <p:nvSpPr>
          <p:cNvPr id="4" name="Marcador de número de diapositiva 3"/>
          <p:cNvSpPr>
            <a:spLocks noGrp="1"/>
          </p:cNvSpPr>
          <p:nvPr>
            <p:ph type="sldNum" sz="quarter" idx="5"/>
          </p:nvPr>
        </p:nvSpPr>
        <p:spPr/>
        <p:txBody>
          <a:bodyPr/>
          <a:lstStyle/>
          <a:p>
            <a:fld id="{19C9EB4C-06C7-441F-9B0A-620A2ACB834C}" type="slidenum">
              <a:rPr lang="es-ES" smtClean="0"/>
              <a:t>37</a:t>
            </a:fld>
            <a:endParaRPr lang="es-ES"/>
          </a:p>
        </p:txBody>
      </p:sp>
    </p:spTree>
    <p:extLst>
      <p:ext uri="{BB962C8B-B14F-4D97-AF65-F5344CB8AC3E}">
        <p14:creationId xmlns:p14="http://schemas.microsoft.com/office/powerpoint/2010/main" val="8162453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a:prstGeom prst="rect">
            <a:avLst/>
          </a:prstGeom>
        </p:spPr>
        <p:txBody>
          <a:bodyPr/>
          <a:lstStyle>
            <a:lvl1pPr>
              <a:defRPr baseline="0">
                <a:solidFill>
                  <a:srgbClr val="CCCCCC"/>
                </a:solidFill>
                <a:latin typeface="Verdana" panose="020B0604030504040204" pitchFamily="34" charset="0"/>
              </a:defRPr>
            </a:lvl1pPr>
          </a:lstStyle>
          <a:p>
            <a:r>
              <a:rPr lang="es-ES"/>
              <a:t>Haga clic para modificar el estilo de título del patrón</a:t>
            </a:r>
            <a:endParaRPr lang="es-ES" dirty="0"/>
          </a:p>
        </p:txBody>
      </p:sp>
      <p:sp>
        <p:nvSpPr>
          <p:cNvPr id="3" name="2 Subtítulo"/>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s-ES"/>
              <a:t>Haga clic para modificar el estilo de subtítulo del patrón</a:t>
            </a:r>
          </a:p>
        </p:txBody>
      </p:sp>
      <p:sp>
        <p:nvSpPr>
          <p:cNvPr id="4" name="Rectangle 21"/>
          <p:cNvSpPr>
            <a:spLocks noGrp="1" noChangeArrowheads="1"/>
          </p:cNvSpPr>
          <p:nvPr>
            <p:ph type="sldNum" sz="quarter" idx="10"/>
          </p:nvPr>
        </p:nvSpPr>
        <p:spPr>
          <a:ln/>
        </p:spPr>
        <p:txBody>
          <a:bodyPr/>
          <a:lstStyle>
            <a:lvl1pPr>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1579846668"/>
      </p:ext>
    </p:extLst>
  </p:cSld>
  <p:clrMapOvr>
    <a:masterClrMapping/>
  </p:clrMapOvr>
  <p:transition advTm="9200">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a:xfrm>
            <a:off x="457200" y="0"/>
            <a:ext cx="8229600" cy="1143000"/>
          </a:xfrm>
          <a:prstGeom prst="rect">
            <a:avLst/>
          </a:prstGeom>
        </p:spPr>
        <p:txBody>
          <a:bodyPr/>
          <a:lstStyle>
            <a:lvl1pPr>
              <a:defRPr lang="es-ES" sz="2800" baseline="0" dirty="0">
                <a:solidFill>
                  <a:srgbClr val="005682"/>
                </a:solidFill>
                <a:latin typeface="Verdana" panose="020B0604030504040204" pitchFamily="34" charset="0"/>
                <a:ea typeface="+mn-ea"/>
                <a:cs typeface="+mn-cs"/>
              </a:defRPr>
            </a:lvl1pPr>
          </a:lstStyle>
          <a:p>
            <a:r>
              <a:rPr lang="es-ES" dirty="0"/>
              <a:t>Haga clic para modificar el estilo de título del patrón</a:t>
            </a:r>
          </a:p>
        </p:txBody>
      </p:sp>
      <p:sp>
        <p:nvSpPr>
          <p:cNvPr id="3" name="2 Marcador de contenido"/>
          <p:cNvSpPr>
            <a:spLocks noGrp="1"/>
          </p:cNvSpPr>
          <p:nvPr>
            <p:ph idx="1"/>
          </p:nvPr>
        </p:nvSpPr>
        <p:spPr/>
        <p:txBody>
          <a:bodyPr/>
          <a:lstStyle>
            <a:lvl1pPr>
              <a:defRPr sz="2400"/>
            </a:lvl1pPr>
            <a:lvl2pPr>
              <a:defRPr sz="2000"/>
            </a:lvl2pPr>
            <a:lvl3pPr>
              <a:defRPr sz="1800"/>
            </a:lvl3pPr>
            <a:lvl4pPr>
              <a:defRPr sz="1600"/>
            </a:lvl4pPr>
            <a:lvl5pPr>
              <a:defRPr sz="1400"/>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4" name="Rectangle 21"/>
          <p:cNvSpPr>
            <a:spLocks noGrp="1" noChangeArrowheads="1"/>
          </p:cNvSpPr>
          <p:nvPr>
            <p:ph type="sldNum" sz="quarter" idx="10"/>
          </p:nvPr>
        </p:nvSpPr>
        <p:spPr>
          <a:ln/>
        </p:spPr>
        <p:txBody>
          <a:bodyPr/>
          <a:lstStyle>
            <a:lvl1pPr>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50860930"/>
      </p:ext>
    </p:extLst>
  </p:cSld>
  <p:clrMapOvr>
    <a:masterClrMapping/>
  </p:clrMapOvr>
  <p:transition advTm="9200">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s-ES"/>
              <a:t>Haga clic para modificar el estilo de título del patrón</a:t>
            </a:r>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s-ES"/>
              <a:t>Haga clic para modificar los estilos de texto del patrón</a:t>
            </a:r>
          </a:p>
        </p:txBody>
      </p:sp>
      <p:sp>
        <p:nvSpPr>
          <p:cNvPr id="4" name="Rectangle 21"/>
          <p:cNvSpPr>
            <a:spLocks noGrp="1" noChangeArrowheads="1"/>
          </p:cNvSpPr>
          <p:nvPr>
            <p:ph type="sldNum" sz="quarter" idx="10"/>
          </p:nvPr>
        </p:nvSpPr>
        <p:spPr>
          <a:ln/>
        </p:spPr>
        <p:txBody>
          <a:bodyPr/>
          <a:lstStyle>
            <a:lvl1pPr>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3833371513"/>
      </p:ext>
    </p:extLst>
  </p:cSld>
  <p:clrMapOvr>
    <a:masterClrMapping/>
  </p:clrMapOvr>
  <p:transition advTm="9200">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p>
            <a:r>
              <a:rPr lang="es-ES"/>
              <a:t>Haga clic para modificar el estilo de título del patrón</a:t>
            </a:r>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Rectangle 21"/>
          <p:cNvSpPr>
            <a:spLocks noGrp="1" noChangeArrowheads="1"/>
          </p:cNvSpPr>
          <p:nvPr>
            <p:ph type="sldNum" sz="quarter" idx="10"/>
          </p:nvPr>
        </p:nvSpPr>
        <p:spPr>
          <a:ln/>
        </p:spPr>
        <p:txBody>
          <a:bodyPr/>
          <a:lstStyle>
            <a:lvl1pPr>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22185198"/>
      </p:ext>
    </p:extLst>
  </p:cSld>
  <p:clrMapOvr>
    <a:masterClrMapping/>
  </p:clrMapOvr>
  <p:transition advTm="9200">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lvl1pPr>
              <a:defRPr/>
            </a:lvl1pPr>
          </a:lstStyle>
          <a:p>
            <a:r>
              <a:rPr lang="es-ES"/>
              <a:t>Haga clic para modificar el estilo de título del patrón</a:t>
            </a:r>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Rectangle 21"/>
          <p:cNvSpPr>
            <a:spLocks noGrp="1" noChangeArrowheads="1"/>
          </p:cNvSpPr>
          <p:nvPr>
            <p:ph type="sldNum" sz="quarter" idx="10"/>
          </p:nvPr>
        </p:nvSpPr>
        <p:spPr>
          <a:ln/>
        </p:spPr>
        <p:txBody>
          <a:bodyPr/>
          <a:lstStyle>
            <a:lvl1pPr>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3575764213"/>
      </p:ext>
    </p:extLst>
  </p:cSld>
  <p:clrMapOvr>
    <a:masterClrMapping/>
  </p:clrMapOvr>
  <p:transition advTm="9200">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p>
            <a:r>
              <a:rPr lang="es-ES"/>
              <a:t>Haga clic para modificar el estilo de título del patrón</a:t>
            </a:r>
          </a:p>
        </p:txBody>
      </p:sp>
      <p:sp>
        <p:nvSpPr>
          <p:cNvPr id="3" name="Rectangle 21"/>
          <p:cNvSpPr>
            <a:spLocks noGrp="1" noChangeArrowheads="1"/>
          </p:cNvSpPr>
          <p:nvPr>
            <p:ph type="sldNum" sz="quarter" idx="10"/>
          </p:nvPr>
        </p:nvSpPr>
        <p:spPr>
          <a:ln/>
        </p:spPr>
        <p:txBody>
          <a:bodyPr/>
          <a:lstStyle>
            <a:lvl1pPr>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17977564"/>
      </p:ext>
    </p:extLst>
  </p:cSld>
  <p:clrMapOvr>
    <a:masterClrMapping/>
  </p:clrMapOvr>
  <p:transition advTm="9200">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Rectangle 21"/>
          <p:cNvSpPr>
            <a:spLocks noGrp="1" noChangeArrowheads="1"/>
          </p:cNvSpPr>
          <p:nvPr>
            <p:ph type="sldNum" sz="quarter" idx="10"/>
          </p:nvPr>
        </p:nvSpPr>
        <p:spPr>
          <a:ln/>
        </p:spPr>
        <p:txBody>
          <a:bodyPr/>
          <a:lstStyle>
            <a:lvl1pPr>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576990517"/>
      </p:ext>
    </p:extLst>
  </p:cSld>
  <p:clrMapOvr>
    <a:masterClrMapping/>
  </p:clrMapOvr>
  <p:transition advTm="9200">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a:prstGeom prst="rect">
            <a:avLst/>
          </a:prstGeom>
        </p:spPr>
        <p:txBody>
          <a:bodyPr anchor="b"/>
          <a:lstStyle>
            <a:lvl1pPr algn="l">
              <a:defRPr sz="2000" b="1"/>
            </a:lvl1pPr>
          </a:lstStyle>
          <a:p>
            <a:r>
              <a:rPr lang="es-ES"/>
              <a:t>Haga clic para modificar el estilo de título del patrón</a:t>
            </a:r>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Rectangle 21"/>
          <p:cNvSpPr>
            <a:spLocks noGrp="1" noChangeArrowheads="1"/>
          </p:cNvSpPr>
          <p:nvPr>
            <p:ph type="sldNum" sz="quarter" idx="10"/>
          </p:nvPr>
        </p:nvSpPr>
        <p:spPr>
          <a:ln/>
        </p:spPr>
        <p:txBody>
          <a:bodyPr/>
          <a:lstStyle>
            <a:lvl1pPr>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1922289564"/>
      </p:ext>
    </p:extLst>
  </p:cSld>
  <p:clrMapOvr>
    <a:masterClrMapping/>
  </p:clrMapOvr>
  <p:transition advTm="9200">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a:prstGeom prst="rect">
            <a:avLst/>
          </a:prstGeom>
        </p:spPr>
        <p:txBody>
          <a:bodyPr anchor="b"/>
          <a:lstStyle>
            <a:lvl1pPr algn="l">
              <a:defRPr sz="2000" b="1"/>
            </a:lvl1pPr>
          </a:lstStyle>
          <a:p>
            <a:r>
              <a:rPr lang="es-ES"/>
              <a:t>Haga clic para modificar el estilo de título del patrón</a:t>
            </a:r>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s-ES" noProof="0"/>
              <a:t>Haga clic en el icono para agregar una imagen</a:t>
            </a:r>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Rectangle 21"/>
          <p:cNvSpPr>
            <a:spLocks noGrp="1" noChangeArrowheads="1"/>
          </p:cNvSpPr>
          <p:nvPr>
            <p:ph type="sldNum" sz="quarter" idx="10"/>
          </p:nvPr>
        </p:nvSpPr>
        <p:spPr>
          <a:ln/>
        </p:spPr>
        <p:txBody>
          <a:bodyPr/>
          <a:lstStyle>
            <a:lvl1pPr>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3959433347"/>
      </p:ext>
    </p:extLst>
  </p:cSld>
  <p:clrMapOvr>
    <a:masterClrMapping/>
  </p:clrMapOvr>
  <p:transition advTm="9200">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p>
            <a:r>
              <a:rPr lang="es-ES"/>
              <a:t>Haga clic para modificar el estilo de título del patrón</a:t>
            </a:r>
          </a:p>
        </p:txBody>
      </p:sp>
      <p:sp>
        <p:nvSpPr>
          <p:cNvPr id="3" name="2 Marcador de texto vertical"/>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Rectangle 21"/>
          <p:cNvSpPr>
            <a:spLocks noGrp="1" noChangeArrowheads="1"/>
          </p:cNvSpPr>
          <p:nvPr>
            <p:ph type="sldNum" sz="quarter" idx="10"/>
          </p:nvPr>
        </p:nvSpPr>
        <p:spPr>
          <a:ln/>
        </p:spPr>
        <p:txBody>
          <a:bodyPr/>
          <a:lstStyle>
            <a:lvl1pPr>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1216706161"/>
      </p:ext>
    </p:extLst>
  </p:cSld>
  <p:clrMapOvr>
    <a:masterClrMapping/>
  </p:clrMapOvr>
  <p:transition advTm="9200">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a:prstGeom prst="rect">
            <a:avLst/>
          </a:prstGeom>
        </p:spPr>
        <p:txBody>
          <a:bodyPr vert="eaVert"/>
          <a:lstStyle/>
          <a:p>
            <a:r>
              <a:rPr lang="es-ES"/>
              <a:t>Haga clic para modificar el estilo de título del patrón</a:t>
            </a:r>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Rectangle 21"/>
          <p:cNvSpPr>
            <a:spLocks noGrp="1" noChangeArrowheads="1"/>
          </p:cNvSpPr>
          <p:nvPr>
            <p:ph type="sldNum" sz="quarter" idx="10"/>
          </p:nvPr>
        </p:nvSpPr>
        <p:spPr>
          <a:ln/>
        </p:spPr>
        <p:txBody>
          <a:bodyPr/>
          <a:lstStyle>
            <a:lvl1pPr>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1625587245"/>
      </p:ext>
    </p:extLst>
  </p:cSld>
  <p:clrMapOvr>
    <a:masterClrMapping/>
  </p:clrMapOvr>
  <p:transition advTm="9200">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ido">
    <p:spTree>
      <p:nvGrpSpPr>
        <p:cNvPr id="1" name=""/>
        <p:cNvGrpSpPr/>
        <p:nvPr/>
      </p:nvGrpSpPr>
      <p:grpSpPr>
        <a:xfrm>
          <a:off x="0" y="0"/>
          <a:ext cx="0" cy="0"/>
          <a:chOff x="0" y="0"/>
          <a:chExt cx="0" cy="0"/>
        </a:xfrm>
      </p:grpSpPr>
      <p:sp>
        <p:nvSpPr>
          <p:cNvPr id="2" name="1 Marcador de contenido"/>
          <p:cNvSpPr>
            <a:spLocks noGrp="1"/>
          </p:cNvSpPr>
          <p:nvPr>
            <p:ph/>
          </p:nvPr>
        </p:nvSpPr>
        <p:spPr>
          <a:xfrm>
            <a:off x="457200" y="274638"/>
            <a:ext cx="8229600" cy="5851525"/>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3" name="Rectangle 21"/>
          <p:cNvSpPr>
            <a:spLocks noGrp="1" noChangeArrowheads="1"/>
          </p:cNvSpPr>
          <p:nvPr>
            <p:ph type="sldNum" sz="quarter" idx="10"/>
          </p:nvPr>
        </p:nvSpPr>
        <p:spPr>
          <a:ln/>
        </p:spPr>
        <p:txBody>
          <a:bodyPr/>
          <a:lstStyle>
            <a:lvl1pPr>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1094777266"/>
      </p:ext>
    </p:extLst>
  </p:cSld>
  <p:clrMapOvr>
    <a:masterClrMapping/>
  </p:clrMapOvr>
  <p:transition advTm="9200">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0"/>
          <p:cNvSpPr>
            <a:spLocks noChangeArrowheads="1"/>
          </p:cNvSpPr>
          <p:nvPr/>
        </p:nvSpPr>
        <p:spPr bwMode="auto">
          <a:xfrm>
            <a:off x="0" y="0"/>
            <a:ext cx="9142413" cy="900000"/>
          </a:xfrm>
          <a:prstGeom prst="rect">
            <a:avLst/>
          </a:prstGeom>
          <a:gradFill rotWithShape="1">
            <a:gsLst>
              <a:gs pos="0">
                <a:srgbClr val="FF9233"/>
              </a:gs>
              <a:gs pos="100000">
                <a:srgbClr val="FFD23A"/>
              </a:gs>
            </a:gsLst>
            <a:lin ang="5400000" scaled="1"/>
          </a:gradFill>
          <a:ln>
            <a:noFill/>
          </a:ln>
        </p:spPr>
        <p:txBody>
          <a:bodyPr anchor="ctr">
            <a:spAutoFit/>
          </a:bodyPr>
          <a:lstStyle>
            <a:lvl1pPr>
              <a:defRPr b="1">
                <a:solidFill>
                  <a:srgbClr val="66FFCC"/>
                </a:solidFill>
                <a:latin typeface="Times New Roman" pitchFamily="18" charset="0"/>
              </a:defRPr>
            </a:lvl1pPr>
            <a:lvl2pPr marL="742950" indent="-285750">
              <a:defRPr b="1">
                <a:solidFill>
                  <a:srgbClr val="66FFCC"/>
                </a:solidFill>
                <a:latin typeface="Times New Roman" pitchFamily="18" charset="0"/>
              </a:defRPr>
            </a:lvl2pPr>
            <a:lvl3pPr marL="1143000" indent="-228600">
              <a:defRPr b="1">
                <a:solidFill>
                  <a:srgbClr val="66FFCC"/>
                </a:solidFill>
                <a:latin typeface="Times New Roman" pitchFamily="18" charset="0"/>
              </a:defRPr>
            </a:lvl3pPr>
            <a:lvl4pPr marL="1600200" indent="-228600">
              <a:defRPr b="1">
                <a:solidFill>
                  <a:srgbClr val="66FFCC"/>
                </a:solidFill>
                <a:latin typeface="Times New Roman" pitchFamily="18" charset="0"/>
              </a:defRPr>
            </a:lvl4pPr>
            <a:lvl5pPr marL="2057400" indent="-228600">
              <a:defRPr b="1">
                <a:solidFill>
                  <a:srgbClr val="66FFCC"/>
                </a:solidFill>
                <a:latin typeface="Times New Roman" pitchFamily="18" charset="0"/>
              </a:defRPr>
            </a:lvl5pPr>
            <a:lvl6pPr marL="2514600" indent="-228600" eaLnBrk="0" fontAlgn="base" hangingPunct="0">
              <a:lnSpc>
                <a:spcPct val="90000"/>
              </a:lnSpc>
              <a:spcBef>
                <a:spcPts val="600"/>
              </a:spcBef>
              <a:spcAft>
                <a:spcPts val="600"/>
              </a:spcAft>
              <a:buFont typeface="Symbol" pitchFamily="18" charset="2"/>
              <a:defRPr b="1">
                <a:solidFill>
                  <a:srgbClr val="66FFCC"/>
                </a:solidFill>
                <a:latin typeface="Times New Roman" pitchFamily="18" charset="0"/>
              </a:defRPr>
            </a:lvl6pPr>
            <a:lvl7pPr marL="2971800" indent="-228600" eaLnBrk="0" fontAlgn="base" hangingPunct="0">
              <a:lnSpc>
                <a:spcPct val="90000"/>
              </a:lnSpc>
              <a:spcBef>
                <a:spcPts val="600"/>
              </a:spcBef>
              <a:spcAft>
                <a:spcPts val="600"/>
              </a:spcAft>
              <a:buFont typeface="Symbol" pitchFamily="18" charset="2"/>
              <a:defRPr b="1">
                <a:solidFill>
                  <a:srgbClr val="66FFCC"/>
                </a:solidFill>
                <a:latin typeface="Times New Roman" pitchFamily="18" charset="0"/>
              </a:defRPr>
            </a:lvl7pPr>
            <a:lvl8pPr marL="3429000" indent="-228600" eaLnBrk="0" fontAlgn="base" hangingPunct="0">
              <a:lnSpc>
                <a:spcPct val="90000"/>
              </a:lnSpc>
              <a:spcBef>
                <a:spcPts val="600"/>
              </a:spcBef>
              <a:spcAft>
                <a:spcPts val="600"/>
              </a:spcAft>
              <a:buFont typeface="Symbol" pitchFamily="18" charset="2"/>
              <a:defRPr b="1">
                <a:solidFill>
                  <a:srgbClr val="66FFCC"/>
                </a:solidFill>
                <a:latin typeface="Times New Roman" pitchFamily="18" charset="0"/>
              </a:defRPr>
            </a:lvl8pPr>
            <a:lvl9pPr marL="3886200" indent="-228600" eaLnBrk="0" fontAlgn="base" hangingPunct="0">
              <a:lnSpc>
                <a:spcPct val="90000"/>
              </a:lnSpc>
              <a:spcBef>
                <a:spcPts val="600"/>
              </a:spcBef>
              <a:spcAft>
                <a:spcPts val="600"/>
              </a:spcAft>
              <a:buFont typeface="Symbol" pitchFamily="18" charset="2"/>
              <a:defRPr b="1">
                <a:solidFill>
                  <a:srgbClr val="66FFCC"/>
                </a:solidFill>
                <a:latin typeface="Times New Roman" pitchFamily="18" charset="0"/>
              </a:defRPr>
            </a:lvl9pPr>
          </a:lstStyle>
          <a:p>
            <a:endParaRPr lang="es-ES" altLang="es-ES" dirty="0"/>
          </a:p>
        </p:txBody>
      </p:sp>
      <p:graphicFrame>
        <p:nvGraphicFramePr>
          <p:cNvPr id="1027" name="Object 17"/>
          <p:cNvGraphicFramePr>
            <a:graphicFrameLocks noChangeAspect="1"/>
          </p:cNvGraphicFramePr>
          <p:nvPr>
            <p:extLst>
              <p:ext uri="{D42A27DB-BD31-4B8C-83A1-F6EECF244321}">
                <p14:modId xmlns:p14="http://schemas.microsoft.com/office/powerpoint/2010/main" val="3170655570"/>
              </p:ext>
            </p:extLst>
          </p:nvPr>
        </p:nvGraphicFramePr>
        <p:xfrm>
          <a:off x="8635044" y="109267"/>
          <a:ext cx="425450" cy="433388"/>
        </p:xfrm>
        <a:graphic>
          <a:graphicData uri="http://schemas.openxmlformats.org/presentationml/2006/ole">
            <mc:AlternateContent xmlns:mc="http://schemas.openxmlformats.org/markup-compatibility/2006">
              <mc:Choice xmlns:v="urn:schemas-microsoft-com:vml" Requires="v">
                <p:oleObj name="Foto de Photo Editor" r:id="rId14" imgW="426576" imgH="434562" progId="MSPhotoEd.3">
                  <p:embed/>
                </p:oleObj>
              </mc:Choice>
              <mc:Fallback>
                <p:oleObj name="Foto de Photo Editor" r:id="rId14" imgW="426576" imgH="434562" progId="MSPhotoEd.3">
                  <p:embed/>
                  <p:pic>
                    <p:nvPicPr>
                      <p:cNvPr id="1027" name="Object 1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635044" y="109267"/>
                        <a:ext cx="425450" cy="433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45" name="Rectangle 21"/>
          <p:cNvSpPr>
            <a:spLocks noGrp="1" noChangeArrowheads="1"/>
          </p:cNvSpPr>
          <p:nvPr>
            <p:ph type="sldNum" sz="quarter" idx="4"/>
          </p:nvPr>
        </p:nvSpPr>
        <p:spPr bwMode="auto">
          <a:xfrm>
            <a:off x="7239000" y="6400800"/>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r">
              <a:lnSpc>
                <a:spcPct val="100000"/>
              </a:lnSpc>
              <a:spcBef>
                <a:spcPct val="50000"/>
              </a:spcBef>
              <a:spcAft>
                <a:spcPct val="0"/>
              </a:spcAft>
              <a:buFontTx/>
              <a:buNone/>
              <a:defRPr sz="1400" b="0">
                <a:solidFill>
                  <a:srgbClr val="FFCC66"/>
                </a:solidFill>
                <a:latin typeface="Arial" charset="0"/>
              </a:defRPr>
            </a:lvl1pPr>
          </a:lstStyle>
          <a:p>
            <a:fld id="{C1FF6DA9-008F-8B48-92A6-B652298478BF}" type="slidenum">
              <a:rPr lang="en-US" smtClean="0"/>
              <a:t>‹Nº›</a:t>
            </a:fld>
            <a:endParaRPr lang="en-US"/>
          </a:p>
        </p:txBody>
      </p:sp>
      <p:sp>
        <p:nvSpPr>
          <p:cNvPr id="1029" name="Rectangle 1052"/>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s-ES" altLang="es-ES" dirty="0"/>
              <a:t>Haga clic para modificar el estilo de texto del patrón</a:t>
            </a:r>
          </a:p>
          <a:p>
            <a:pPr lvl="1"/>
            <a:r>
              <a:rPr lang="es-ES" altLang="es-ES" dirty="0"/>
              <a:t>Segundo nivel</a:t>
            </a:r>
          </a:p>
          <a:p>
            <a:pPr lvl="2"/>
            <a:r>
              <a:rPr lang="es-ES" altLang="es-ES" dirty="0"/>
              <a:t>Tercer nivel</a:t>
            </a:r>
          </a:p>
          <a:p>
            <a:pPr lvl="3"/>
            <a:r>
              <a:rPr lang="es-ES" altLang="es-ES" dirty="0"/>
              <a:t>Cuarto nivel</a:t>
            </a:r>
          </a:p>
          <a:p>
            <a:pPr lvl="4"/>
            <a:r>
              <a:rPr lang="es-ES" altLang="es-ES" dirty="0"/>
              <a:t>Quinto nivel</a:t>
            </a:r>
          </a:p>
        </p:txBody>
      </p:sp>
      <p:pic>
        <p:nvPicPr>
          <p:cNvPr id="3" name="Imagen 2" descr="Un dibujo de una persona&#10;&#10;El contenido generado por IA puede ser incorrecto.">
            <a:extLst>
              <a:ext uri="{FF2B5EF4-FFF2-40B4-BE49-F238E27FC236}">
                <a16:creationId xmlns:a16="http://schemas.microsoft.com/office/drawing/2014/main" id="{705E9AF1-BF9E-33EC-F3C2-4629959BCDE6}"/>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0" y="0"/>
            <a:ext cx="900000" cy="900000"/>
          </a:xfrm>
          <a:prstGeom prst="rect">
            <a:avLst/>
          </a:prstGeom>
        </p:spPr>
      </p:pic>
    </p:spTree>
    <p:extLst>
      <p:ext uri="{BB962C8B-B14F-4D97-AF65-F5344CB8AC3E}">
        <p14:creationId xmlns:p14="http://schemas.microsoft.com/office/powerpoint/2010/main" val="24346368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ransition advTm="9200">
    <p:wipe dir="r"/>
  </p:transition>
  <p:txStyles>
    <p:titleStyle>
      <a:lvl1pPr algn="ctr" defTabSz="762000" rtl="0" eaLnBrk="1" fontAlgn="base" hangingPunct="1">
        <a:spcBef>
          <a:spcPct val="0"/>
        </a:spcBef>
        <a:spcAft>
          <a:spcPct val="0"/>
        </a:spcAft>
        <a:defRPr sz="4400">
          <a:solidFill>
            <a:schemeClr val="bg1"/>
          </a:solidFill>
          <a:effectLst>
            <a:outerShdw blurRad="38100" dist="38100" dir="2700000" algn="tl">
              <a:srgbClr val="C0C0C0"/>
            </a:outerShdw>
          </a:effectLst>
          <a:latin typeface="+mj-lt"/>
          <a:ea typeface="+mj-ea"/>
          <a:cs typeface="+mj-cs"/>
        </a:defRPr>
      </a:lvl1pPr>
      <a:lvl2pPr algn="ctr" defTabSz="762000" rtl="0" eaLnBrk="1" fontAlgn="base" hangingPunct="1">
        <a:spcBef>
          <a:spcPct val="0"/>
        </a:spcBef>
        <a:spcAft>
          <a:spcPct val="0"/>
        </a:spcAft>
        <a:defRPr sz="4400">
          <a:solidFill>
            <a:schemeClr val="bg1"/>
          </a:solidFill>
          <a:effectLst>
            <a:outerShdw blurRad="38100" dist="38100" dir="2700000" algn="tl">
              <a:srgbClr val="C0C0C0"/>
            </a:outerShdw>
          </a:effectLst>
          <a:latin typeface="Times New Roman" pitchFamily="18" charset="0"/>
        </a:defRPr>
      </a:lvl2pPr>
      <a:lvl3pPr algn="ctr" defTabSz="762000" rtl="0" eaLnBrk="1" fontAlgn="base" hangingPunct="1">
        <a:spcBef>
          <a:spcPct val="0"/>
        </a:spcBef>
        <a:spcAft>
          <a:spcPct val="0"/>
        </a:spcAft>
        <a:defRPr sz="4400">
          <a:solidFill>
            <a:schemeClr val="bg1"/>
          </a:solidFill>
          <a:effectLst>
            <a:outerShdw blurRad="38100" dist="38100" dir="2700000" algn="tl">
              <a:srgbClr val="C0C0C0"/>
            </a:outerShdw>
          </a:effectLst>
          <a:latin typeface="Times New Roman" pitchFamily="18" charset="0"/>
        </a:defRPr>
      </a:lvl3pPr>
      <a:lvl4pPr algn="ctr" defTabSz="762000" rtl="0" eaLnBrk="1" fontAlgn="base" hangingPunct="1">
        <a:spcBef>
          <a:spcPct val="0"/>
        </a:spcBef>
        <a:spcAft>
          <a:spcPct val="0"/>
        </a:spcAft>
        <a:defRPr sz="4400">
          <a:solidFill>
            <a:schemeClr val="bg1"/>
          </a:solidFill>
          <a:effectLst>
            <a:outerShdw blurRad="38100" dist="38100" dir="2700000" algn="tl">
              <a:srgbClr val="C0C0C0"/>
            </a:outerShdw>
          </a:effectLst>
          <a:latin typeface="Times New Roman" pitchFamily="18" charset="0"/>
        </a:defRPr>
      </a:lvl4pPr>
      <a:lvl5pPr algn="ctr" defTabSz="762000" rtl="0" eaLnBrk="1" fontAlgn="base" hangingPunct="1">
        <a:spcBef>
          <a:spcPct val="0"/>
        </a:spcBef>
        <a:spcAft>
          <a:spcPct val="0"/>
        </a:spcAft>
        <a:defRPr sz="4400">
          <a:solidFill>
            <a:schemeClr val="bg1"/>
          </a:solidFill>
          <a:effectLst>
            <a:outerShdw blurRad="38100" dist="38100" dir="2700000" algn="tl">
              <a:srgbClr val="C0C0C0"/>
            </a:outerShdw>
          </a:effectLst>
          <a:latin typeface="Times New Roman" pitchFamily="18" charset="0"/>
        </a:defRPr>
      </a:lvl5pPr>
      <a:lvl6pPr marL="457200" algn="ctr" defTabSz="762000" rtl="0" eaLnBrk="1" fontAlgn="base" hangingPunct="1">
        <a:spcBef>
          <a:spcPct val="0"/>
        </a:spcBef>
        <a:spcAft>
          <a:spcPct val="0"/>
        </a:spcAft>
        <a:defRPr sz="4400">
          <a:solidFill>
            <a:schemeClr val="bg1"/>
          </a:solidFill>
          <a:effectLst>
            <a:outerShdw blurRad="38100" dist="38100" dir="2700000" algn="tl">
              <a:srgbClr val="C0C0C0"/>
            </a:outerShdw>
          </a:effectLst>
          <a:latin typeface="Times New Roman" pitchFamily="18" charset="0"/>
        </a:defRPr>
      </a:lvl6pPr>
      <a:lvl7pPr marL="914400" algn="ctr" defTabSz="762000" rtl="0" eaLnBrk="1" fontAlgn="base" hangingPunct="1">
        <a:spcBef>
          <a:spcPct val="0"/>
        </a:spcBef>
        <a:spcAft>
          <a:spcPct val="0"/>
        </a:spcAft>
        <a:defRPr sz="4400">
          <a:solidFill>
            <a:schemeClr val="bg1"/>
          </a:solidFill>
          <a:effectLst>
            <a:outerShdw blurRad="38100" dist="38100" dir="2700000" algn="tl">
              <a:srgbClr val="C0C0C0"/>
            </a:outerShdw>
          </a:effectLst>
          <a:latin typeface="Times New Roman" pitchFamily="18" charset="0"/>
        </a:defRPr>
      </a:lvl7pPr>
      <a:lvl8pPr marL="1371600" algn="ctr" defTabSz="762000" rtl="0" eaLnBrk="1" fontAlgn="base" hangingPunct="1">
        <a:spcBef>
          <a:spcPct val="0"/>
        </a:spcBef>
        <a:spcAft>
          <a:spcPct val="0"/>
        </a:spcAft>
        <a:defRPr sz="4400">
          <a:solidFill>
            <a:schemeClr val="bg1"/>
          </a:solidFill>
          <a:effectLst>
            <a:outerShdw blurRad="38100" dist="38100" dir="2700000" algn="tl">
              <a:srgbClr val="C0C0C0"/>
            </a:outerShdw>
          </a:effectLst>
          <a:latin typeface="Times New Roman" pitchFamily="18" charset="0"/>
        </a:defRPr>
      </a:lvl8pPr>
      <a:lvl9pPr marL="1828800" algn="ctr" defTabSz="762000" rtl="0" eaLnBrk="1" fontAlgn="base" hangingPunct="1">
        <a:spcBef>
          <a:spcPct val="0"/>
        </a:spcBef>
        <a:spcAft>
          <a:spcPct val="0"/>
        </a:spcAft>
        <a:defRPr sz="4400">
          <a:solidFill>
            <a:schemeClr val="bg1"/>
          </a:solidFill>
          <a:effectLst>
            <a:outerShdw blurRad="38100" dist="38100" dir="2700000" algn="tl">
              <a:srgbClr val="C0C0C0"/>
            </a:outerShdw>
          </a:effectLst>
          <a:latin typeface="Times New Roman" pitchFamily="18" charset="0"/>
        </a:defRPr>
      </a:lvl9pPr>
    </p:titleStyle>
    <p:bodyStyle>
      <a:lvl1pPr marL="342900" indent="-342900" algn="l" defTabSz="762000" rtl="0" eaLnBrk="1" fontAlgn="base" hangingPunct="1">
        <a:spcBef>
          <a:spcPct val="20000"/>
        </a:spcBef>
        <a:spcAft>
          <a:spcPct val="0"/>
        </a:spcAft>
        <a:buChar char="•"/>
        <a:defRPr sz="3200" baseline="0">
          <a:solidFill>
            <a:srgbClr val="005682"/>
          </a:solidFill>
          <a:latin typeface="Verdana" panose="020B0604030504040204" pitchFamily="34" charset="0"/>
          <a:ea typeface="+mn-ea"/>
          <a:cs typeface="+mn-cs"/>
        </a:defRPr>
      </a:lvl1pPr>
      <a:lvl2pPr marL="742950" indent="-285750" algn="l" defTabSz="762000" rtl="0" eaLnBrk="1" fontAlgn="base" hangingPunct="1">
        <a:spcBef>
          <a:spcPct val="20000"/>
        </a:spcBef>
        <a:spcAft>
          <a:spcPct val="0"/>
        </a:spcAft>
        <a:buChar char="–"/>
        <a:defRPr sz="2800" baseline="0">
          <a:solidFill>
            <a:srgbClr val="005682"/>
          </a:solidFill>
          <a:latin typeface="Verdana" panose="020B0604030504040204" pitchFamily="34" charset="0"/>
        </a:defRPr>
      </a:lvl2pPr>
      <a:lvl3pPr marL="1143000" indent="-228600" algn="l" defTabSz="762000" rtl="0" eaLnBrk="1" fontAlgn="base" hangingPunct="1">
        <a:spcBef>
          <a:spcPct val="20000"/>
        </a:spcBef>
        <a:spcAft>
          <a:spcPct val="0"/>
        </a:spcAft>
        <a:buChar char="•"/>
        <a:defRPr sz="2400" baseline="0">
          <a:solidFill>
            <a:srgbClr val="005682"/>
          </a:solidFill>
          <a:latin typeface="Verdana" panose="020B0604030504040204" pitchFamily="34" charset="0"/>
        </a:defRPr>
      </a:lvl3pPr>
      <a:lvl4pPr marL="1562100" indent="-228600" algn="l" defTabSz="762000" rtl="0" eaLnBrk="1" fontAlgn="base" hangingPunct="1">
        <a:spcBef>
          <a:spcPct val="20000"/>
        </a:spcBef>
        <a:spcAft>
          <a:spcPct val="0"/>
        </a:spcAft>
        <a:buChar char="–"/>
        <a:defRPr sz="2000" baseline="0">
          <a:solidFill>
            <a:srgbClr val="005682"/>
          </a:solidFill>
          <a:latin typeface="Verdana" panose="020B0604030504040204" pitchFamily="34" charset="0"/>
        </a:defRPr>
      </a:lvl4pPr>
      <a:lvl5pPr marL="1981200" indent="-228600" algn="l" defTabSz="762000" rtl="0" eaLnBrk="1" fontAlgn="base" hangingPunct="1">
        <a:spcBef>
          <a:spcPct val="20000"/>
        </a:spcBef>
        <a:spcAft>
          <a:spcPct val="0"/>
        </a:spcAft>
        <a:buChar char="•"/>
        <a:defRPr sz="2000" baseline="0">
          <a:solidFill>
            <a:srgbClr val="005682"/>
          </a:solidFill>
          <a:latin typeface="Verdana" panose="020B0604030504040204" pitchFamily="34" charset="0"/>
        </a:defRPr>
      </a:lvl5pPr>
      <a:lvl6pPr marL="2438400" indent="-228600" algn="l" defTabSz="762000" rtl="0" eaLnBrk="1" fontAlgn="base" hangingPunct="1">
        <a:spcBef>
          <a:spcPct val="20000"/>
        </a:spcBef>
        <a:spcAft>
          <a:spcPct val="0"/>
        </a:spcAft>
        <a:buChar char="•"/>
        <a:defRPr sz="2000">
          <a:solidFill>
            <a:schemeClr val="tx1"/>
          </a:solidFill>
          <a:latin typeface="+mn-lt"/>
        </a:defRPr>
      </a:lvl6pPr>
      <a:lvl7pPr marL="2895600" indent="-228600" algn="l" defTabSz="762000" rtl="0" eaLnBrk="1" fontAlgn="base" hangingPunct="1">
        <a:spcBef>
          <a:spcPct val="20000"/>
        </a:spcBef>
        <a:spcAft>
          <a:spcPct val="0"/>
        </a:spcAft>
        <a:buChar char="•"/>
        <a:defRPr sz="2000">
          <a:solidFill>
            <a:schemeClr val="tx1"/>
          </a:solidFill>
          <a:latin typeface="+mn-lt"/>
        </a:defRPr>
      </a:lvl7pPr>
      <a:lvl8pPr marL="3352800" indent="-228600" algn="l" defTabSz="762000" rtl="0" eaLnBrk="1" fontAlgn="base" hangingPunct="1">
        <a:spcBef>
          <a:spcPct val="20000"/>
        </a:spcBef>
        <a:spcAft>
          <a:spcPct val="0"/>
        </a:spcAft>
        <a:buChar char="•"/>
        <a:defRPr sz="2000">
          <a:solidFill>
            <a:schemeClr val="tx1"/>
          </a:solidFill>
          <a:latin typeface="+mn-lt"/>
        </a:defRPr>
      </a:lvl8pPr>
      <a:lvl9pPr marL="3810000" indent="-228600" algn="l" defTabSz="762000" rtl="0" eaLnBrk="1" fontAlgn="base" hangingPunct="1">
        <a:spcBef>
          <a:spcPct val="20000"/>
        </a:spcBef>
        <a:spcAft>
          <a:spcPct val="0"/>
        </a:spcAft>
        <a:buChar char="•"/>
        <a:defRPr sz="2000">
          <a:solidFill>
            <a:schemeClr val="tx1"/>
          </a:solidFill>
          <a:latin typeface="+mn-lt"/>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0.png"/><Relationship Id="rId7"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s>
</file>

<file path=ppt/slides/_rels/slide18.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 Id="rId9" Type="http://schemas.openxmlformats.org/officeDocument/2006/relationships/image" Target="../media/image34.png"/></Relationships>
</file>

<file path=ppt/slides/_rels/slide19.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38.png"/><Relationship Id="rId11" Type="http://schemas.openxmlformats.org/officeDocument/2006/relationships/image" Target="../media/image43.png"/><Relationship Id="rId5" Type="http://schemas.openxmlformats.org/officeDocument/2006/relationships/image" Target="../media/image37.png"/><Relationship Id="rId10" Type="http://schemas.openxmlformats.org/officeDocument/2006/relationships/image" Target="../media/image42.png"/><Relationship Id="rId4" Type="http://schemas.openxmlformats.org/officeDocument/2006/relationships/image" Target="../media/image36.png"/><Relationship Id="rId9" Type="http://schemas.openxmlformats.org/officeDocument/2006/relationships/image" Target="../media/image41.png"/></Relationships>
</file>

<file path=ppt/slides/_rels/slide20.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44.png"/><Relationship Id="rId7" Type="http://schemas.openxmlformats.org/officeDocument/2006/relationships/image" Target="../media/image39.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38.png"/><Relationship Id="rId11" Type="http://schemas.openxmlformats.org/officeDocument/2006/relationships/image" Target="../media/image46.png"/><Relationship Id="rId5" Type="http://schemas.openxmlformats.org/officeDocument/2006/relationships/image" Target="../media/image37.png"/><Relationship Id="rId10" Type="http://schemas.openxmlformats.org/officeDocument/2006/relationships/image" Target="../media/image45.png"/><Relationship Id="rId4" Type="http://schemas.openxmlformats.org/officeDocument/2006/relationships/image" Target="../media/image36.png"/><Relationship Id="rId9" Type="http://schemas.openxmlformats.org/officeDocument/2006/relationships/image" Target="../media/image41.png"/></Relationships>
</file>

<file path=ppt/slides/_rels/slide2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520B365-56FC-18DB-DD76-683432654606}"/>
              </a:ext>
            </a:extLst>
          </p:cNvPr>
          <p:cNvSpPr>
            <a:spLocks noGrp="1"/>
          </p:cNvSpPr>
          <p:nvPr>
            <p:ph type="ctrTitle"/>
          </p:nvPr>
        </p:nvSpPr>
        <p:spPr>
          <a:xfrm>
            <a:off x="866775" y="1054100"/>
            <a:ext cx="7772400" cy="1470025"/>
          </a:xfrm>
        </p:spPr>
        <p:txBody>
          <a:bodyPr/>
          <a:lstStyle/>
          <a:p>
            <a:r>
              <a:rPr lang="es-ES" dirty="0"/>
              <a:t>Redes Neuronales y Aprendizaje Profundo</a:t>
            </a:r>
          </a:p>
        </p:txBody>
      </p:sp>
      <p:sp>
        <p:nvSpPr>
          <p:cNvPr id="4" name="Marcador de número de diapositiva 3">
            <a:extLst>
              <a:ext uri="{FF2B5EF4-FFF2-40B4-BE49-F238E27FC236}">
                <a16:creationId xmlns:a16="http://schemas.microsoft.com/office/drawing/2014/main" id="{85A9670B-1CCA-883E-3132-DB759471B19C}"/>
              </a:ext>
            </a:extLst>
          </p:cNvPr>
          <p:cNvSpPr>
            <a:spLocks noGrp="1"/>
          </p:cNvSpPr>
          <p:nvPr>
            <p:ph type="sldNum" sz="quarter" idx="10"/>
          </p:nvPr>
        </p:nvSpPr>
        <p:spPr/>
        <p:txBody>
          <a:bodyPr/>
          <a:lstStyle/>
          <a:p>
            <a:pPr>
              <a:defRPr/>
            </a:pPr>
            <a:fld id="{85032EF7-747D-45FF-B046-91F91BEE2389}" type="slidenum">
              <a:rPr lang="en-US" smtClean="0"/>
              <a:pPr>
                <a:defRPr/>
              </a:pPr>
              <a:t>1</a:t>
            </a:fld>
            <a:endParaRPr lang="en-US">
              <a:solidFill>
                <a:schemeClr val="tx1"/>
              </a:solidFill>
            </a:endParaRPr>
          </a:p>
        </p:txBody>
      </p:sp>
      <p:pic>
        <p:nvPicPr>
          <p:cNvPr id="7" name="Imagen 6" descr="Un dibujo de una persona&#10;&#10;El contenido generado por IA puede ser incorrecto.">
            <a:extLst>
              <a:ext uri="{FF2B5EF4-FFF2-40B4-BE49-F238E27FC236}">
                <a16:creationId xmlns:a16="http://schemas.microsoft.com/office/drawing/2014/main" id="{E6B069ED-FEB3-263E-AE07-A99E756353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55106" y="2516982"/>
            <a:ext cx="3633788" cy="3633788"/>
          </a:xfrm>
          <a:prstGeom prst="rect">
            <a:avLst/>
          </a:prstGeom>
        </p:spPr>
      </p:pic>
    </p:spTree>
    <p:extLst>
      <p:ext uri="{BB962C8B-B14F-4D97-AF65-F5344CB8AC3E}">
        <p14:creationId xmlns:p14="http://schemas.microsoft.com/office/powerpoint/2010/main" val="106031953"/>
      </p:ext>
    </p:extLst>
  </p:cSld>
  <p:clrMapOvr>
    <a:masterClrMapping/>
  </p:clrMapOvr>
  <p:transition>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18E7BC-498A-CEB7-BDEB-7300F2044F6E}"/>
              </a:ext>
            </a:extLst>
          </p:cNvPr>
          <p:cNvSpPr>
            <a:spLocks noGrp="1"/>
          </p:cNvSpPr>
          <p:nvPr>
            <p:ph type="title"/>
          </p:nvPr>
        </p:nvSpPr>
        <p:spPr>
          <a:xfrm>
            <a:off x="790575" y="76200"/>
            <a:ext cx="8229600" cy="1143000"/>
          </a:xfrm>
        </p:spPr>
        <p:txBody>
          <a:bodyPr/>
          <a:lstStyle/>
          <a:p>
            <a:r>
              <a:rPr lang="es-ES" sz="2800"/>
              <a:t>Redes Neuronales y Aprendizaje Profundo</a:t>
            </a:r>
          </a:p>
        </p:txBody>
      </p:sp>
      <p:sp>
        <p:nvSpPr>
          <p:cNvPr id="3" name="Marcador de contenido 2">
            <a:extLst>
              <a:ext uri="{FF2B5EF4-FFF2-40B4-BE49-F238E27FC236}">
                <a16:creationId xmlns:a16="http://schemas.microsoft.com/office/drawing/2014/main" id="{7E585A44-AA15-B25F-48D8-1BE0B8955F32}"/>
              </a:ext>
            </a:extLst>
          </p:cNvPr>
          <p:cNvSpPr>
            <a:spLocks noGrp="1"/>
          </p:cNvSpPr>
          <p:nvPr>
            <p:ph idx="1"/>
          </p:nvPr>
        </p:nvSpPr>
        <p:spPr>
          <a:xfrm>
            <a:off x="590550" y="1485899"/>
            <a:ext cx="8229600" cy="1600201"/>
          </a:xfrm>
        </p:spPr>
        <p:txBody>
          <a:bodyPr>
            <a:normAutofit/>
          </a:bodyPr>
          <a:lstStyle/>
          <a:p>
            <a:pPr marL="0" indent="0" algn="ctr">
              <a:lnSpc>
                <a:spcPct val="170000"/>
              </a:lnSpc>
              <a:buNone/>
            </a:pPr>
            <a:r>
              <a:rPr lang="fr-FR" b="1" dirty="0"/>
              <a:t>Bloque3: </a:t>
            </a:r>
            <a:r>
              <a:rPr lang="en-GB" noProof="0" dirty="0"/>
              <a:t>Recurrent</a:t>
            </a:r>
            <a:r>
              <a:rPr lang="fr-FR" dirty="0"/>
              <a:t> Neural Networks (RNN)</a:t>
            </a:r>
            <a:endParaRPr lang="es-ES" dirty="0"/>
          </a:p>
          <a:p>
            <a:pPr lvl="1">
              <a:lnSpc>
                <a:spcPct val="170000"/>
              </a:lnSpc>
            </a:pPr>
            <a:endParaRPr lang="es-ES" dirty="0"/>
          </a:p>
          <a:p>
            <a:pPr lvl="1">
              <a:lnSpc>
                <a:spcPct val="170000"/>
              </a:lnSpc>
            </a:pPr>
            <a:endParaRPr lang="es-ES" dirty="0"/>
          </a:p>
          <a:p>
            <a:endParaRPr lang="es-ES" dirty="0"/>
          </a:p>
        </p:txBody>
      </p:sp>
      <p:sp>
        <p:nvSpPr>
          <p:cNvPr id="4" name="Marcador de número de diapositiva 3">
            <a:extLst>
              <a:ext uri="{FF2B5EF4-FFF2-40B4-BE49-F238E27FC236}">
                <a16:creationId xmlns:a16="http://schemas.microsoft.com/office/drawing/2014/main" id="{B295B175-9F61-B64C-2D22-24208B0AC002}"/>
              </a:ext>
            </a:extLst>
          </p:cNvPr>
          <p:cNvSpPr>
            <a:spLocks noGrp="1"/>
          </p:cNvSpPr>
          <p:nvPr>
            <p:ph type="sldNum" sz="quarter" idx="10"/>
          </p:nvPr>
        </p:nvSpPr>
        <p:spPr/>
        <p:txBody>
          <a:bodyPr/>
          <a:lstStyle/>
          <a:p>
            <a:pPr>
              <a:defRPr/>
            </a:pPr>
            <a:fld id="{F0E56C5D-4644-4837-AB52-7FCC78FB1800}" type="slidenum">
              <a:rPr lang="en-US" smtClean="0"/>
              <a:pPr>
                <a:defRPr/>
              </a:pPr>
              <a:t>2</a:t>
            </a:fld>
            <a:endParaRPr lang="en-US">
              <a:solidFill>
                <a:schemeClr val="tx1"/>
              </a:solidFill>
            </a:endParaRPr>
          </a:p>
        </p:txBody>
      </p:sp>
      <p:pic>
        <p:nvPicPr>
          <p:cNvPr id="1026" name="Picture 2" descr="Recurrent Neural Networks (RNNs) - Studyopedia">
            <a:extLst>
              <a:ext uri="{FF2B5EF4-FFF2-40B4-BE49-F238E27FC236}">
                <a16:creationId xmlns:a16="http://schemas.microsoft.com/office/drawing/2014/main" id="{31C22409-6122-7F3E-C4F1-0005F09B1D5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9661"/>
          <a:stretch>
            <a:fillRect/>
          </a:stretch>
        </p:blipFill>
        <p:spPr bwMode="auto">
          <a:xfrm>
            <a:off x="2698130" y="2193886"/>
            <a:ext cx="3568855" cy="1784428"/>
          </a:xfrm>
          <a:prstGeom prst="rect">
            <a:avLst/>
          </a:prstGeom>
          <a:noFill/>
          <a:extLst>
            <a:ext uri="{909E8E84-426E-40DD-AFC4-6F175D3DCCD1}">
              <a14:hiddenFill xmlns:a14="http://schemas.microsoft.com/office/drawing/2010/main">
                <a:solidFill>
                  <a:srgbClr val="FFFFFF"/>
                </a:solidFill>
              </a14:hiddenFill>
            </a:ext>
          </a:extLst>
        </p:spPr>
      </p:pic>
      <p:pic>
        <p:nvPicPr>
          <p:cNvPr id="1045" name="Imagen 1044">
            <a:extLst>
              <a:ext uri="{FF2B5EF4-FFF2-40B4-BE49-F238E27FC236}">
                <a16:creationId xmlns:a16="http://schemas.microsoft.com/office/drawing/2014/main" id="{71AB9323-A0C6-3A36-CAA3-41046876D0CA}"/>
              </a:ext>
            </a:extLst>
          </p:cNvPr>
          <p:cNvPicPr>
            <a:picLocks noChangeAspect="1"/>
          </p:cNvPicPr>
          <p:nvPr/>
        </p:nvPicPr>
        <p:blipFill>
          <a:blip r:embed="rId4"/>
          <a:stretch>
            <a:fillRect/>
          </a:stretch>
        </p:blipFill>
        <p:spPr>
          <a:xfrm>
            <a:off x="44377" y="3978314"/>
            <a:ext cx="4092726" cy="2046363"/>
          </a:xfrm>
          <a:prstGeom prst="rect">
            <a:avLst/>
          </a:prstGeom>
        </p:spPr>
      </p:pic>
      <p:pic>
        <p:nvPicPr>
          <p:cNvPr id="1046" name="Picture 6" descr="A Brief Introduction to Recurrent Neural Networks | Towards Data Science">
            <a:extLst>
              <a:ext uri="{FF2B5EF4-FFF2-40B4-BE49-F238E27FC236}">
                <a16:creationId xmlns:a16="http://schemas.microsoft.com/office/drawing/2014/main" id="{C06898A7-4EC0-A9A2-5CDE-5F930BBDEF6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59731" y="4410308"/>
            <a:ext cx="4560444" cy="13214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3122146"/>
      </p:ext>
    </p:extLst>
  </p:cSld>
  <p:clrMapOvr>
    <a:masterClrMapping/>
  </p:clrMapOvr>
  <p:transition>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Objectives</a:t>
            </a:r>
            <a:endParaRPr dirty="0"/>
          </a:p>
        </p:txBody>
      </p:sp>
      <p:sp>
        <p:nvSpPr>
          <p:cNvPr id="3" name="Content Placeholder 2"/>
          <p:cNvSpPr>
            <a:spLocks noGrp="1"/>
          </p:cNvSpPr>
          <p:nvPr>
            <p:ph idx="1"/>
          </p:nvPr>
        </p:nvSpPr>
        <p:spPr/>
        <p:txBody>
          <a:bodyPr/>
          <a:lstStyle/>
          <a:p>
            <a:r>
              <a:rPr dirty="0"/>
              <a:t>To understand sequence modeling from a probabilistic perspective</a:t>
            </a:r>
            <a:endParaRPr lang="es-ES" dirty="0"/>
          </a:p>
          <a:p>
            <a:endParaRPr dirty="0"/>
          </a:p>
          <a:p>
            <a:pPr lvl="1"/>
            <a:r>
              <a:rPr dirty="0"/>
              <a:t>To formalize Recurrent Neural Networks as parametric sequential models</a:t>
            </a:r>
            <a:endParaRPr lang="es-ES" dirty="0"/>
          </a:p>
          <a:p>
            <a:pPr lvl="1"/>
            <a:endParaRPr dirty="0"/>
          </a:p>
          <a:p>
            <a:pPr lvl="1"/>
            <a:r>
              <a:rPr dirty="0"/>
              <a:t>To understand Backpropagation Through Time (BPTT)</a:t>
            </a:r>
            <a:endParaRPr lang="es-ES" dirty="0"/>
          </a:p>
          <a:p>
            <a:pPr lvl="1"/>
            <a:endParaRPr dirty="0"/>
          </a:p>
          <a:p>
            <a:pPr lvl="1"/>
            <a:r>
              <a:rPr dirty="0"/>
              <a:t>To analyze the vanishing gradient problem</a:t>
            </a:r>
            <a:endParaRPr lang="es-ES" dirty="0"/>
          </a:p>
          <a:p>
            <a:pPr lvl="1"/>
            <a:endParaRPr dirty="0"/>
          </a:p>
          <a:p>
            <a:pPr lvl="1"/>
            <a:r>
              <a:rPr dirty="0"/>
              <a:t>To understand LSTM and GRU architectures</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Sequence Modeling</a:t>
            </a:r>
          </a:p>
        </p:txBody>
      </p:sp>
      <p:sp>
        <p:nvSpPr>
          <p:cNvPr id="3" name="Content Placeholder 2"/>
          <p:cNvSpPr>
            <a:spLocks noGrp="1"/>
          </p:cNvSpPr>
          <p:nvPr>
            <p:ph idx="1"/>
          </p:nvPr>
        </p:nvSpPr>
        <p:spPr/>
        <p:txBody>
          <a:bodyPr>
            <a:normAutofit/>
          </a:bodyPr>
          <a:lstStyle/>
          <a:p>
            <a:r>
              <a:rPr lang="en-US" sz="2000" dirty="0"/>
              <a:t>Why Sequence Modeling?</a:t>
            </a:r>
          </a:p>
          <a:p>
            <a:endParaRPr lang="en-US" sz="2000" dirty="0"/>
          </a:p>
          <a:p>
            <a:r>
              <a:rPr lang="en-US" sz="2000" dirty="0"/>
              <a:t>Many real-world problems are inherently sequential — the order of data points carries critical information</a:t>
            </a:r>
          </a:p>
          <a:p>
            <a:endParaRPr lang="en-US" sz="2000" dirty="0"/>
          </a:p>
          <a:p>
            <a:r>
              <a:rPr lang="en-US" sz="2000" dirty="0"/>
              <a:t>Traditional feedforward networks treat inputs as independent, discarding temporal structure</a:t>
            </a:r>
          </a:p>
          <a:p>
            <a:endParaRPr lang="en-US" sz="2000" dirty="0"/>
          </a:p>
          <a:p>
            <a:pPr lvl="1"/>
            <a:endParaRPr dirty="0"/>
          </a:p>
        </p:txBody>
      </p:sp>
      <p:pic>
        <p:nvPicPr>
          <p:cNvPr id="18" name="Image 0">
            <a:extLst>
              <a:ext uri="{FF2B5EF4-FFF2-40B4-BE49-F238E27FC236}">
                <a16:creationId xmlns:a16="http://schemas.microsoft.com/office/drawing/2014/main" id="{5A00D887-E4A7-A1E0-728A-63642BA34DDC}"/>
              </a:ext>
            </a:extLst>
          </p:cNvPr>
          <p:cNvPicPr>
            <a:picLocks noChangeAspect="1"/>
          </p:cNvPicPr>
          <p:nvPr/>
        </p:nvPicPr>
        <p:blipFill>
          <a:blip r:embed="rId3"/>
          <a:stretch>
            <a:fillRect/>
          </a:stretch>
        </p:blipFill>
        <p:spPr>
          <a:xfrm>
            <a:off x="1870293" y="4087163"/>
            <a:ext cx="1748195" cy="1080373"/>
          </a:xfrm>
          <a:prstGeom prst="rect">
            <a:avLst/>
          </a:prstGeom>
        </p:spPr>
      </p:pic>
      <p:sp>
        <p:nvSpPr>
          <p:cNvPr id="19" name="Text 2">
            <a:extLst>
              <a:ext uri="{FF2B5EF4-FFF2-40B4-BE49-F238E27FC236}">
                <a16:creationId xmlns:a16="http://schemas.microsoft.com/office/drawing/2014/main" id="{AC7C4B71-FA6C-6CA6-5D92-62595EF42287}"/>
              </a:ext>
            </a:extLst>
          </p:cNvPr>
          <p:cNvSpPr/>
          <p:nvPr/>
        </p:nvSpPr>
        <p:spPr>
          <a:xfrm>
            <a:off x="1870293" y="5466740"/>
            <a:ext cx="2816185" cy="351949"/>
          </a:xfrm>
          <a:prstGeom prst="rect">
            <a:avLst/>
          </a:prstGeom>
          <a:noFill/>
          <a:ln/>
        </p:spPr>
        <p:txBody>
          <a:bodyPr wrap="none" lIns="0" tIns="0" rIns="0" bIns="0" rtlCol="0" anchor="t"/>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750"/>
              </a:lnSpc>
              <a:buNone/>
            </a:pPr>
            <a:r>
              <a:rPr lang="en-US" sz="2200" dirty="0">
                <a:solidFill>
                  <a:srgbClr val="00002E"/>
                </a:solidFill>
                <a:latin typeface="Nunito Semi Bold" pitchFamily="34" charset="0"/>
                <a:ea typeface="Nunito Semi Bold" pitchFamily="34" charset="-122"/>
                <a:cs typeface="Nunito Semi Bold" pitchFamily="34" charset="-120"/>
              </a:rPr>
              <a:t>Language Modeling</a:t>
            </a:r>
            <a:endParaRPr lang="en-US" sz="2200" dirty="0"/>
          </a:p>
        </p:txBody>
      </p:sp>
      <p:sp>
        <p:nvSpPr>
          <p:cNvPr id="20" name="Text 3">
            <a:extLst>
              <a:ext uri="{FF2B5EF4-FFF2-40B4-BE49-F238E27FC236}">
                <a16:creationId xmlns:a16="http://schemas.microsoft.com/office/drawing/2014/main" id="{F769E761-815F-309D-1616-D0305B9B5A10}"/>
              </a:ext>
            </a:extLst>
          </p:cNvPr>
          <p:cNvSpPr/>
          <p:nvPr/>
        </p:nvSpPr>
        <p:spPr>
          <a:xfrm>
            <a:off x="1870293" y="5962278"/>
            <a:ext cx="3014305" cy="766048"/>
          </a:xfrm>
          <a:prstGeom prst="rect">
            <a:avLst/>
          </a:prstGeom>
          <a:noFill/>
          <a:ln/>
        </p:spPr>
        <p:txBody>
          <a:bodyPr wrap="square" lIns="0" tIns="0" rIns="0" bIns="0" rtlCol="0" anchor="t"/>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3000"/>
              </a:lnSpc>
              <a:buNone/>
            </a:pPr>
            <a:r>
              <a:rPr lang="en-US" sz="1850" dirty="0">
                <a:solidFill>
                  <a:srgbClr val="00002E"/>
                </a:solidFill>
                <a:latin typeface="PT Sans" pitchFamily="34" charset="0"/>
                <a:ea typeface="PT Sans" pitchFamily="34" charset="-122"/>
                <a:cs typeface="PT Sans" pitchFamily="34" charset="-120"/>
              </a:rPr>
              <a:t>Predict the next word given previous context</a:t>
            </a:r>
            <a:endParaRPr lang="en-US" sz="1850" dirty="0"/>
          </a:p>
        </p:txBody>
      </p:sp>
      <p:pic>
        <p:nvPicPr>
          <p:cNvPr id="21" name="Image 1">
            <a:extLst>
              <a:ext uri="{FF2B5EF4-FFF2-40B4-BE49-F238E27FC236}">
                <a16:creationId xmlns:a16="http://schemas.microsoft.com/office/drawing/2014/main" id="{506D00A1-76BA-6646-44C5-1C777DEF97CE}"/>
              </a:ext>
            </a:extLst>
          </p:cNvPr>
          <p:cNvPicPr>
            <a:picLocks noChangeAspect="1"/>
          </p:cNvPicPr>
          <p:nvPr/>
        </p:nvPicPr>
        <p:blipFill>
          <a:blip r:embed="rId4"/>
          <a:stretch>
            <a:fillRect/>
          </a:stretch>
        </p:blipFill>
        <p:spPr>
          <a:xfrm>
            <a:off x="5183802" y="4087163"/>
            <a:ext cx="1748195" cy="1080373"/>
          </a:xfrm>
          <a:prstGeom prst="rect">
            <a:avLst/>
          </a:prstGeom>
        </p:spPr>
      </p:pic>
      <p:sp>
        <p:nvSpPr>
          <p:cNvPr id="22" name="Text 4">
            <a:extLst>
              <a:ext uri="{FF2B5EF4-FFF2-40B4-BE49-F238E27FC236}">
                <a16:creationId xmlns:a16="http://schemas.microsoft.com/office/drawing/2014/main" id="{D941CC34-CD5C-4A2E-8123-48E67565648E}"/>
              </a:ext>
            </a:extLst>
          </p:cNvPr>
          <p:cNvSpPr/>
          <p:nvPr/>
        </p:nvSpPr>
        <p:spPr>
          <a:xfrm>
            <a:off x="5183802" y="5466740"/>
            <a:ext cx="2816185" cy="351949"/>
          </a:xfrm>
          <a:prstGeom prst="rect">
            <a:avLst/>
          </a:prstGeom>
          <a:noFill/>
          <a:ln/>
        </p:spPr>
        <p:txBody>
          <a:bodyPr wrap="none" lIns="0" tIns="0" rIns="0" bIns="0" rtlCol="0" anchor="t"/>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750"/>
              </a:lnSpc>
              <a:buNone/>
            </a:pPr>
            <a:r>
              <a:rPr lang="en-US" sz="2200" dirty="0">
                <a:solidFill>
                  <a:srgbClr val="00002E"/>
                </a:solidFill>
                <a:latin typeface="Nunito Semi Bold" pitchFamily="34" charset="0"/>
                <a:ea typeface="Nunito Semi Bold" pitchFamily="34" charset="-122"/>
                <a:cs typeface="Nunito Semi Bold" pitchFamily="34" charset="-120"/>
              </a:rPr>
              <a:t>Speech Recognition</a:t>
            </a:r>
            <a:endParaRPr lang="en-US" sz="2200" dirty="0"/>
          </a:p>
        </p:txBody>
      </p:sp>
      <p:sp>
        <p:nvSpPr>
          <p:cNvPr id="23" name="Text 5">
            <a:extLst>
              <a:ext uri="{FF2B5EF4-FFF2-40B4-BE49-F238E27FC236}">
                <a16:creationId xmlns:a16="http://schemas.microsoft.com/office/drawing/2014/main" id="{F9CA3CAC-B59A-1A5B-6ACB-6E399EC5B3E6}"/>
              </a:ext>
            </a:extLst>
          </p:cNvPr>
          <p:cNvSpPr/>
          <p:nvPr/>
        </p:nvSpPr>
        <p:spPr>
          <a:xfrm>
            <a:off x="5183802" y="5962278"/>
            <a:ext cx="3014305" cy="766048"/>
          </a:xfrm>
          <a:prstGeom prst="rect">
            <a:avLst/>
          </a:prstGeom>
          <a:noFill/>
          <a:ln/>
        </p:spPr>
        <p:txBody>
          <a:bodyPr wrap="square" lIns="0" tIns="0" rIns="0" bIns="0" rtlCol="0" anchor="t"/>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3000"/>
              </a:lnSpc>
              <a:buNone/>
            </a:pPr>
            <a:r>
              <a:rPr lang="en-US" sz="1850" dirty="0">
                <a:solidFill>
                  <a:srgbClr val="00002E"/>
                </a:solidFill>
                <a:latin typeface="PT Sans" pitchFamily="34" charset="0"/>
                <a:ea typeface="PT Sans" pitchFamily="34" charset="-122"/>
                <a:cs typeface="PT Sans" pitchFamily="34" charset="-120"/>
              </a:rPr>
              <a:t>Convert acoustic signals to text over time</a:t>
            </a:r>
            <a:endParaRPr lang="en-US" sz="1850" dirty="0"/>
          </a:p>
        </p:txBody>
      </p:sp>
    </p:spTree>
  </p:cSld>
  <p:clrMapOvr>
    <a:masterClrMapping/>
  </p:clrMapOvr>
  <p:transition>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2EC44-A92D-204D-D131-1E03D47C53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BFB952-EAA5-E072-F54F-871AA3C212E1}"/>
              </a:ext>
            </a:extLst>
          </p:cNvPr>
          <p:cNvSpPr>
            <a:spLocks noGrp="1"/>
          </p:cNvSpPr>
          <p:nvPr>
            <p:ph type="title"/>
          </p:nvPr>
        </p:nvSpPr>
        <p:spPr/>
        <p:txBody>
          <a:bodyPr/>
          <a:lstStyle/>
          <a:p>
            <a:r>
              <a:rPr dirty="0"/>
              <a:t>Sequence Modeling</a:t>
            </a:r>
          </a:p>
        </p:txBody>
      </p:sp>
      <p:pic>
        <p:nvPicPr>
          <p:cNvPr id="24" name="Image 2">
            <a:extLst>
              <a:ext uri="{FF2B5EF4-FFF2-40B4-BE49-F238E27FC236}">
                <a16:creationId xmlns:a16="http://schemas.microsoft.com/office/drawing/2014/main" id="{577F4B03-E4DF-807B-2740-10FA196A4941}"/>
              </a:ext>
            </a:extLst>
          </p:cNvPr>
          <p:cNvPicPr>
            <a:picLocks noChangeAspect="1"/>
          </p:cNvPicPr>
          <p:nvPr/>
        </p:nvPicPr>
        <p:blipFill>
          <a:blip r:embed="rId3"/>
          <a:stretch>
            <a:fillRect/>
          </a:stretch>
        </p:blipFill>
        <p:spPr>
          <a:xfrm>
            <a:off x="276417" y="2348508"/>
            <a:ext cx="1748195" cy="1080373"/>
          </a:xfrm>
          <a:prstGeom prst="rect">
            <a:avLst/>
          </a:prstGeom>
        </p:spPr>
      </p:pic>
      <p:sp>
        <p:nvSpPr>
          <p:cNvPr id="25" name="Text 6">
            <a:extLst>
              <a:ext uri="{FF2B5EF4-FFF2-40B4-BE49-F238E27FC236}">
                <a16:creationId xmlns:a16="http://schemas.microsoft.com/office/drawing/2014/main" id="{25FA3134-4750-E83E-4E0A-4DA1271BD88A}"/>
              </a:ext>
            </a:extLst>
          </p:cNvPr>
          <p:cNvSpPr/>
          <p:nvPr/>
        </p:nvSpPr>
        <p:spPr>
          <a:xfrm>
            <a:off x="276417" y="3728204"/>
            <a:ext cx="2816186" cy="351949"/>
          </a:xfrm>
          <a:prstGeom prst="rect">
            <a:avLst/>
          </a:prstGeom>
          <a:noFill/>
          <a:ln/>
        </p:spPr>
        <p:txBody>
          <a:bodyPr wrap="square" lIns="0" tIns="0" rIns="0" bIns="0" rtlCol="0" anchor="t"/>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750"/>
              </a:lnSpc>
              <a:buNone/>
            </a:pPr>
            <a:r>
              <a:rPr lang="en-US" sz="2200" dirty="0">
                <a:solidFill>
                  <a:srgbClr val="00002E"/>
                </a:solidFill>
                <a:latin typeface="Nunito Semi Bold" pitchFamily="34" charset="0"/>
                <a:ea typeface="Nunito Semi Bold" pitchFamily="34" charset="-122"/>
                <a:cs typeface="Nunito Semi Bold" pitchFamily="34" charset="-120"/>
              </a:rPr>
              <a:t>Time Series Forecasting</a:t>
            </a:r>
            <a:endParaRPr lang="en-US" sz="2200" dirty="0"/>
          </a:p>
        </p:txBody>
      </p:sp>
      <p:sp>
        <p:nvSpPr>
          <p:cNvPr id="26" name="Text 7">
            <a:extLst>
              <a:ext uri="{FF2B5EF4-FFF2-40B4-BE49-F238E27FC236}">
                <a16:creationId xmlns:a16="http://schemas.microsoft.com/office/drawing/2014/main" id="{C3F3AD58-B80F-2A03-AA9D-0A122ED0F69B}"/>
              </a:ext>
            </a:extLst>
          </p:cNvPr>
          <p:cNvSpPr/>
          <p:nvPr/>
        </p:nvSpPr>
        <p:spPr>
          <a:xfrm>
            <a:off x="376841" y="4214776"/>
            <a:ext cx="3014305" cy="766048"/>
          </a:xfrm>
          <a:prstGeom prst="rect">
            <a:avLst/>
          </a:prstGeom>
          <a:noFill/>
          <a:ln/>
        </p:spPr>
        <p:txBody>
          <a:bodyPr wrap="square" lIns="0" tIns="0" rIns="0" bIns="0" rtlCol="0" anchor="t"/>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3000"/>
              </a:lnSpc>
              <a:buNone/>
            </a:pPr>
            <a:r>
              <a:rPr lang="en-US" sz="1850" dirty="0">
                <a:solidFill>
                  <a:srgbClr val="00002E"/>
                </a:solidFill>
                <a:latin typeface="PT Sans" pitchFamily="34" charset="0"/>
                <a:ea typeface="PT Sans" pitchFamily="34" charset="-122"/>
                <a:cs typeface="PT Sans" pitchFamily="34" charset="-120"/>
              </a:rPr>
              <a:t>Predict future values from historical patterns</a:t>
            </a:r>
            <a:endParaRPr lang="en-US" sz="1850" dirty="0"/>
          </a:p>
        </p:txBody>
      </p:sp>
      <p:pic>
        <p:nvPicPr>
          <p:cNvPr id="27" name="Image 3">
            <a:extLst>
              <a:ext uri="{FF2B5EF4-FFF2-40B4-BE49-F238E27FC236}">
                <a16:creationId xmlns:a16="http://schemas.microsoft.com/office/drawing/2014/main" id="{D24BF145-9B0A-8E6C-7E27-37A14A8CD5D0}"/>
              </a:ext>
            </a:extLst>
          </p:cNvPr>
          <p:cNvPicPr>
            <a:picLocks noChangeAspect="1"/>
          </p:cNvPicPr>
          <p:nvPr/>
        </p:nvPicPr>
        <p:blipFill>
          <a:blip r:embed="rId4"/>
          <a:stretch>
            <a:fillRect/>
          </a:stretch>
        </p:blipFill>
        <p:spPr>
          <a:xfrm>
            <a:off x="3391146" y="2348508"/>
            <a:ext cx="1748314" cy="1080492"/>
          </a:xfrm>
          <a:prstGeom prst="rect">
            <a:avLst/>
          </a:prstGeom>
        </p:spPr>
      </p:pic>
      <p:sp>
        <p:nvSpPr>
          <p:cNvPr id="28" name="Text 8">
            <a:extLst>
              <a:ext uri="{FF2B5EF4-FFF2-40B4-BE49-F238E27FC236}">
                <a16:creationId xmlns:a16="http://schemas.microsoft.com/office/drawing/2014/main" id="{D5038570-EAA7-6BF6-921D-88379153715E}"/>
              </a:ext>
            </a:extLst>
          </p:cNvPr>
          <p:cNvSpPr/>
          <p:nvPr/>
        </p:nvSpPr>
        <p:spPr>
          <a:xfrm>
            <a:off x="3391146" y="3728204"/>
            <a:ext cx="2816185" cy="351949"/>
          </a:xfrm>
          <a:prstGeom prst="rect">
            <a:avLst/>
          </a:prstGeom>
          <a:noFill/>
          <a:ln/>
        </p:spPr>
        <p:txBody>
          <a:bodyPr wrap="none" lIns="0" tIns="0" rIns="0" bIns="0" rtlCol="0" anchor="t"/>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750"/>
              </a:lnSpc>
              <a:buNone/>
            </a:pPr>
            <a:r>
              <a:rPr lang="en-US" sz="2000" dirty="0">
                <a:solidFill>
                  <a:srgbClr val="00002E"/>
                </a:solidFill>
                <a:latin typeface="Nunito Semi Bold" pitchFamily="34" charset="0"/>
                <a:ea typeface="Nunito Semi Bold" pitchFamily="34" charset="-122"/>
                <a:cs typeface="Nunito Semi Bold" pitchFamily="34" charset="-120"/>
              </a:rPr>
              <a:t>Music Generation</a:t>
            </a:r>
            <a:endParaRPr lang="en-US" sz="2000" dirty="0"/>
          </a:p>
        </p:txBody>
      </p:sp>
      <p:sp>
        <p:nvSpPr>
          <p:cNvPr id="29" name="Text 9">
            <a:extLst>
              <a:ext uri="{FF2B5EF4-FFF2-40B4-BE49-F238E27FC236}">
                <a16:creationId xmlns:a16="http://schemas.microsoft.com/office/drawing/2014/main" id="{C315BF0F-249D-20ED-8234-7C353EDE510E}"/>
              </a:ext>
            </a:extLst>
          </p:cNvPr>
          <p:cNvSpPr/>
          <p:nvPr/>
        </p:nvSpPr>
        <p:spPr>
          <a:xfrm>
            <a:off x="3391146" y="4223742"/>
            <a:ext cx="3014424" cy="766048"/>
          </a:xfrm>
          <a:prstGeom prst="rect">
            <a:avLst/>
          </a:prstGeom>
          <a:noFill/>
          <a:ln/>
        </p:spPr>
        <p:txBody>
          <a:bodyPr wrap="square" lIns="0" tIns="0" rIns="0" bIns="0" rtlCol="0" anchor="t"/>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3000"/>
              </a:lnSpc>
              <a:buNone/>
            </a:pPr>
            <a:r>
              <a:rPr lang="en-US" sz="1850" dirty="0">
                <a:solidFill>
                  <a:srgbClr val="00002E"/>
                </a:solidFill>
                <a:latin typeface="PT Sans" pitchFamily="34" charset="0"/>
                <a:ea typeface="PT Sans" pitchFamily="34" charset="-122"/>
                <a:cs typeface="PT Sans" pitchFamily="34" charset="-120"/>
              </a:rPr>
              <a:t>Compose note sequences following learned structure</a:t>
            </a:r>
            <a:endParaRPr lang="en-US" sz="1850" dirty="0"/>
          </a:p>
        </p:txBody>
      </p:sp>
      <p:pic>
        <p:nvPicPr>
          <p:cNvPr id="1026" name="Picture 2" descr="| A typical example for time series classification. Given the dataset ECG200, the goal is to automatically separate all time series into the classes normal heartbeats and myocardial infarction.">
            <a:extLst>
              <a:ext uri="{FF2B5EF4-FFF2-40B4-BE49-F238E27FC236}">
                <a16:creationId xmlns:a16="http://schemas.microsoft.com/office/drawing/2014/main" id="{F61B6FC1-E594-7608-8C0A-A12C4140918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71618" y="2190912"/>
            <a:ext cx="2588876" cy="1410176"/>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29C9F0C5-D431-2B19-A0E0-2E1A0E6B93CA}"/>
              </a:ext>
            </a:extLst>
          </p:cNvPr>
          <p:cNvSpPr txBox="1"/>
          <p:nvPr/>
        </p:nvSpPr>
        <p:spPr>
          <a:xfrm>
            <a:off x="6349044" y="3673621"/>
            <a:ext cx="2914226" cy="793422"/>
          </a:xfrm>
          <a:prstGeom prst="rect">
            <a:avLst/>
          </a:prstGeom>
          <a:noFill/>
        </p:spPr>
        <p:txBody>
          <a:bodyPr wrap="square">
            <a:spAutoFit/>
          </a:bodyPr>
          <a:lstStyle/>
          <a:p>
            <a:pPr marL="0" indent="0" algn="l">
              <a:lnSpc>
                <a:spcPts val="2750"/>
              </a:lnSpc>
              <a:buNone/>
            </a:pPr>
            <a:r>
              <a:rPr lang="en-US" sz="2200" dirty="0">
                <a:solidFill>
                  <a:srgbClr val="00002E"/>
                </a:solidFill>
                <a:latin typeface="Nunito Semi Bold" pitchFamily="34" charset="0"/>
                <a:ea typeface="Nunito Semi Bold" pitchFamily="34" charset="-122"/>
                <a:cs typeface="Nunito Semi Bold" pitchFamily="34" charset="-120"/>
              </a:rPr>
              <a:t>ECG / EEG Time Series Forecasting</a:t>
            </a:r>
            <a:endParaRPr lang="en-US" sz="2200" dirty="0"/>
          </a:p>
        </p:txBody>
      </p:sp>
    </p:spTree>
    <p:extLst>
      <p:ext uri="{BB962C8B-B14F-4D97-AF65-F5344CB8AC3E}">
        <p14:creationId xmlns:p14="http://schemas.microsoft.com/office/powerpoint/2010/main" val="2749313076"/>
      </p:ext>
    </p:extLst>
  </p:cSld>
  <p:clrMapOvr>
    <a:masterClrMapping/>
  </p:clrMapOvr>
  <p:transition>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60DCAC3F-BCF2-F72E-9CA0-DA5BA605372E}"/>
              </a:ext>
            </a:extLst>
          </p:cNvPr>
          <p:cNvSpPr>
            <a:spLocks noGrp="1"/>
          </p:cNvSpPr>
          <p:nvPr>
            <p:ph idx="1"/>
          </p:nvPr>
        </p:nvSpPr>
        <p:spPr/>
        <p:txBody>
          <a:bodyPr>
            <a:noAutofit/>
          </a:bodyPr>
          <a:lstStyle/>
          <a:p>
            <a:endParaRPr lang="en-US" sz="2000" dirty="0"/>
          </a:p>
          <a:p>
            <a:r>
              <a:rPr lang="en-US" sz="2000" dirty="0"/>
              <a:t>Each node represents the state at some time t, and the function f maps the state at t to the state at t+ 1. </a:t>
            </a:r>
          </a:p>
          <a:p>
            <a:endParaRPr lang="en-US" sz="2000" dirty="0"/>
          </a:p>
          <a:p>
            <a:r>
              <a:rPr lang="en-US" sz="2000" dirty="0"/>
              <a:t>The same parameters are used for all time steps</a:t>
            </a:r>
          </a:p>
          <a:p>
            <a:endParaRPr lang="es-ES" sz="2000" dirty="0"/>
          </a:p>
          <a:p>
            <a:endParaRPr lang="es-ES" sz="2000" dirty="0"/>
          </a:p>
          <a:p>
            <a:endParaRPr lang="es-ES" sz="2000" dirty="0"/>
          </a:p>
          <a:p>
            <a:endParaRPr lang="es-ES" sz="2000" dirty="0"/>
          </a:p>
          <a:p>
            <a:endParaRPr lang="es-ES" sz="2000" dirty="0"/>
          </a:p>
          <a:p>
            <a:endParaRPr lang="es-ES" sz="2000" dirty="0"/>
          </a:p>
        </p:txBody>
      </p:sp>
      <p:pic>
        <p:nvPicPr>
          <p:cNvPr id="10" name="Imagen 9" descr="Diagrama&#10;&#10;El contenido generado por IA puede ser incorrecto.">
            <a:extLst>
              <a:ext uri="{FF2B5EF4-FFF2-40B4-BE49-F238E27FC236}">
                <a16:creationId xmlns:a16="http://schemas.microsoft.com/office/drawing/2014/main" id="{AF7E19DF-A8DE-7339-9EEB-94E5808C3617}"/>
              </a:ext>
            </a:extLst>
          </p:cNvPr>
          <p:cNvPicPr>
            <a:picLocks noChangeAspect="1"/>
          </p:cNvPicPr>
          <p:nvPr/>
        </p:nvPicPr>
        <p:blipFill>
          <a:blip r:embed="rId3"/>
          <a:stretch>
            <a:fillRect/>
          </a:stretch>
        </p:blipFill>
        <p:spPr>
          <a:xfrm>
            <a:off x="1956807" y="4481590"/>
            <a:ext cx="4895850" cy="2124075"/>
          </a:xfrm>
          <a:prstGeom prst="rect">
            <a:avLst/>
          </a:prstGeom>
        </p:spPr>
      </p:pic>
      <p:sp>
        <p:nvSpPr>
          <p:cNvPr id="6" name="Title 1">
            <a:extLst>
              <a:ext uri="{FF2B5EF4-FFF2-40B4-BE49-F238E27FC236}">
                <a16:creationId xmlns:a16="http://schemas.microsoft.com/office/drawing/2014/main" id="{9FA8B033-D2F0-6F3F-F780-8D08F5E1F95F}"/>
              </a:ext>
            </a:extLst>
          </p:cNvPr>
          <p:cNvSpPr>
            <a:spLocks noGrp="1"/>
          </p:cNvSpPr>
          <p:nvPr>
            <p:ph type="title"/>
          </p:nvPr>
        </p:nvSpPr>
        <p:spPr>
          <a:xfrm>
            <a:off x="457200" y="0"/>
            <a:ext cx="8229600" cy="1143000"/>
          </a:xfrm>
        </p:spPr>
        <p:txBody>
          <a:bodyPr/>
          <a:lstStyle/>
          <a:p>
            <a:r>
              <a:rPr dirty="0"/>
              <a:t>Sequence Modeling</a:t>
            </a:r>
          </a:p>
        </p:txBody>
      </p:sp>
    </p:spTree>
    <p:extLst>
      <p:ext uri="{BB962C8B-B14F-4D97-AF65-F5344CB8AC3E}">
        <p14:creationId xmlns:p14="http://schemas.microsoft.com/office/powerpoint/2010/main" val="1516531407"/>
      </p:ext>
    </p:extLst>
  </p:cSld>
  <p:clrMapOvr>
    <a:masterClrMapping/>
  </p:clrMapOvr>
  <p:transition>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83CEDA-A01A-8B37-A48E-C630236CAEA7}"/>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2C8D2BF0-195D-49F5-AD68-32379AC01362}"/>
                  </a:ext>
                </a:extLst>
              </p:cNvPr>
              <p:cNvSpPr>
                <a:spLocks noGrp="1"/>
              </p:cNvSpPr>
              <p:nvPr>
                <p:ph idx="1"/>
              </p:nvPr>
            </p:nvSpPr>
            <p:spPr>
              <a:xfrm>
                <a:off x="457200" y="1600200"/>
                <a:ext cx="8229600" cy="5257800"/>
              </a:xfrm>
            </p:spPr>
            <p:txBody>
              <a:bodyPr>
                <a:noAutofit/>
              </a:bodyPr>
              <a:lstStyle/>
              <a:p>
                <a:endParaRPr lang="es-ES" sz="2000" dirty="0"/>
              </a:p>
              <a:p>
                <a:endParaRPr lang="es-ES" sz="2000" dirty="0"/>
              </a:p>
              <a:p>
                <a:endParaRPr lang="es-ES" sz="2000" dirty="0"/>
              </a:p>
              <a:p>
                <a:endParaRPr lang="es-ES" sz="2000" dirty="0"/>
              </a:p>
              <a:p>
                <a:endParaRPr lang="es-ES" sz="2000" dirty="0"/>
              </a:p>
              <a:p>
                <a:endParaRPr lang="es-ES" sz="2000" dirty="0"/>
              </a:p>
              <a:p>
                <a:r>
                  <a:rPr lang="es-ES" sz="2000" dirty="0" err="1"/>
                  <a:t>State</a:t>
                </a:r>
                <a:r>
                  <a:rPr lang="es-ES" sz="2000" dirty="0"/>
                  <a:t> </a:t>
                </a:r>
                <a:r>
                  <a:rPr lang="es-ES" sz="2000" dirty="0" err="1"/>
                  <a:t>update</a:t>
                </a:r>
                <a:r>
                  <a:rPr lang="es-ES" sz="2000" dirty="0"/>
                  <a:t> rule:</a:t>
                </a:r>
              </a:p>
              <a:p>
                <a:pPr marL="0" indent="0">
                  <a:buNone/>
                </a:pPr>
                <a14:m>
                  <m:oMathPara xmlns:m="http://schemas.openxmlformats.org/officeDocument/2006/math">
                    <m:oMathParaPr>
                      <m:jc m:val="centerGroup"/>
                    </m:oMathParaPr>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𝑠</m:t>
                          </m:r>
                        </m:e>
                        <m:sub>
                          <m:r>
                            <a:rPr lang="ar-AE" sz="2000" i="1">
                              <a:latin typeface="Cambria Math" panose="02040503050406030204" pitchFamily="18" charset="0"/>
                            </a:rPr>
                            <m:t>𝑡</m:t>
                          </m:r>
                        </m:sub>
                      </m:sSub>
                      <m:r>
                        <a:rPr lang="ar-AE" sz="2000">
                          <a:latin typeface="Cambria Math" panose="02040503050406030204" pitchFamily="18" charset="0"/>
                        </a:rPr>
                        <m:t>=</m:t>
                      </m:r>
                      <m:r>
                        <a:rPr lang="ar-AE" sz="2000" i="1">
                          <a:latin typeface="Cambria Math" panose="02040503050406030204" pitchFamily="18" charset="0"/>
                        </a:rPr>
                        <m:t>𝑓</m:t>
                      </m:r>
                      <m:d>
                        <m:dPr>
                          <m:ctrlPr>
                            <a:rPr lang="ar-AE" sz="2000" i="1">
                              <a:latin typeface="Cambria Math" panose="02040503050406030204" pitchFamily="18" charset="0"/>
                            </a:rPr>
                          </m:ctrlPr>
                        </m:dPr>
                        <m:e>
                          <m:sSub>
                            <m:sSubPr>
                              <m:ctrlPr>
                                <a:rPr lang="ar-AE" sz="2000" i="1">
                                  <a:latin typeface="Cambria Math" panose="02040503050406030204" pitchFamily="18" charset="0"/>
                                </a:rPr>
                              </m:ctrlPr>
                            </m:sSubPr>
                            <m:e>
                              <m:r>
                                <a:rPr lang="ar-AE" sz="2000" i="1">
                                  <a:latin typeface="Cambria Math" panose="02040503050406030204" pitchFamily="18" charset="0"/>
                                </a:rPr>
                                <m:t>𝑠</m:t>
                              </m:r>
                            </m:e>
                            <m:sub>
                              <m:r>
                                <a:rPr lang="ar-AE" sz="2000" i="1">
                                  <a:latin typeface="Cambria Math" panose="02040503050406030204" pitchFamily="18" charset="0"/>
                                </a:rPr>
                                <m:t>𝑡</m:t>
                              </m:r>
                              <m:r>
                                <a:rPr lang="ar-AE" sz="2000">
                                  <a:latin typeface="Cambria Math" panose="02040503050406030204" pitchFamily="18" charset="0"/>
                                </a:rPr>
                                <m:t>−</m:t>
                              </m:r>
                              <m:r>
                                <a:rPr lang="ar-AE" sz="2000">
                                  <a:latin typeface="Cambria Math" panose="02040503050406030204" pitchFamily="18" charset="0"/>
                                </a:rPr>
                                <m:t>1</m:t>
                              </m:r>
                            </m:sub>
                          </m:sSub>
                        </m:e>
                      </m:d>
                    </m:oMath>
                  </m:oMathPara>
                </a14:m>
                <a:endParaRPr lang="ar-AE" sz="2000" dirty="0"/>
              </a:p>
              <a:p>
                <a:pPr marL="0" indent="0">
                  <a:buNone/>
                </a:pPr>
                <a:endParaRPr lang="es-ES" sz="2000" dirty="0"/>
              </a:p>
              <a:p>
                <a:pPr marL="0" indent="0">
                  <a:buNone/>
                </a:pPr>
                <a:r>
                  <a:rPr lang="es-ES" sz="2000" dirty="0"/>
                  <a:t>Key idea:</a:t>
                </a:r>
              </a:p>
              <a:p>
                <a:r>
                  <a:rPr lang="es-ES" sz="2000" dirty="0" err="1"/>
                  <a:t>The</a:t>
                </a:r>
                <a:r>
                  <a:rPr lang="es-ES" sz="2000" dirty="0"/>
                  <a:t> </a:t>
                </a:r>
                <a:r>
                  <a:rPr lang="es-ES" sz="2000" dirty="0" err="1"/>
                  <a:t>system</a:t>
                </a:r>
                <a:r>
                  <a:rPr lang="es-ES" sz="2000" dirty="0"/>
                  <a:t> </a:t>
                </a:r>
                <a:r>
                  <a:rPr lang="es-ES" sz="2000" dirty="0" err="1"/>
                  <a:t>state</a:t>
                </a:r>
                <a:r>
                  <a:rPr lang="es-ES" sz="2000" dirty="0"/>
                  <a:t> </a:t>
                </a:r>
                <a:r>
                  <a:rPr lang="es-ES" sz="2000" dirty="0" err="1"/>
                  <a:t>summarizes</a:t>
                </a:r>
                <a:r>
                  <a:rPr lang="es-ES" sz="2000" dirty="0"/>
                  <a:t> </a:t>
                </a:r>
                <a:r>
                  <a:rPr lang="es-ES" sz="2000" err="1"/>
                  <a:t>the</a:t>
                </a:r>
                <a:r>
                  <a:rPr lang="es-ES" sz="2000"/>
                  <a:t> past</a:t>
                </a:r>
                <a:endParaRPr lang="es-ES" sz="2000" dirty="0"/>
              </a:p>
              <a:p>
                <a:r>
                  <a:rPr lang="en-GB" sz="2000"/>
                  <a:t>That links dynamic systems with recurrent neural networks</a:t>
                </a:r>
                <a:endParaRPr lang="es-ES" sz="2000" dirty="0"/>
              </a:p>
              <a:p>
                <a:endParaRPr lang="es-ES" sz="2000" dirty="0"/>
              </a:p>
              <a:p>
                <a:endParaRPr lang="es-ES" sz="2000" dirty="0"/>
              </a:p>
              <a:p>
                <a:endParaRPr lang="es-ES" sz="2000" dirty="0"/>
              </a:p>
              <a:p>
                <a:endParaRPr lang="es-ES" sz="2000" dirty="0"/>
              </a:p>
              <a:p>
                <a:endParaRPr lang="es-ES" sz="2000" dirty="0"/>
              </a:p>
            </p:txBody>
          </p:sp>
        </mc:Choice>
        <mc:Fallback xmlns="">
          <p:sp>
            <p:nvSpPr>
              <p:cNvPr id="3" name="Marcador de contenido 2">
                <a:extLst>
                  <a:ext uri="{FF2B5EF4-FFF2-40B4-BE49-F238E27FC236}">
                    <a16:creationId xmlns:a16="http://schemas.microsoft.com/office/drawing/2014/main" id="{2C8D2BF0-195D-49F5-AD68-32379AC01362}"/>
                  </a:ext>
                </a:extLst>
              </p:cNvPr>
              <p:cNvSpPr>
                <a:spLocks noGrp="1" noRot="1" noChangeAspect="1" noMove="1" noResize="1" noEditPoints="1" noAdjustHandles="1" noChangeArrowheads="1" noChangeShapeType="1" noTextEdit="1"/>
              </p:cNvSpPr>
              <p:nvPr>
                <p:ph idx="1"/>
              </p:nvPr>
            </p:nvSpPr>
            <p:spPr>
              <a:xfrm>
                <a:off x="457200" y="1600200"/>
                <a:ext cx="8229600" cy="5257800"/>
              </a:xfrm>
              <a:blipFill>
                <a:blip r:embed="rId3"/>
                <a:stretch>
                  <a:fillRect l="-815"/>
                </a:stretch>
              </a:blipFill>
            </p:spPr>
            <p:txBody>
              <a:bodyPr/>
              <a:lstStyle/>
              <a:p>
                <a:r>
                  <a:rPr lang="en-GB">
                    <a:noFill/>
                  </a:rPr>
                  <a:t> </a:t>
                </a:r>
              </a:p>
            </p:txBody>
          </p:sp>
        </mc:Fallback>
      </mc:AlternateContent>
      <p:pic>
        <p:nvPicPr>
          <p:cNvPr id="10" name="Imagen 9" descr="Diagrama&#10;&#10;El contenido generado por IA puede ser incorrecto.">
            <a:extLst>
              <a:ext uri="{FF2B5EF4-FFF2-40B4-BE49-F238E27FC236}">
                <a16:creationId xmlns:a16="http://schemas.microsoft.com/office/drawing/2014/main" id="{76D83B47-CEAF-A8D3-1DA9-4852DD80FFBF}"/>
              </a:ext>
            </a:extLst>
          </p:cNvPr>
          <p:cNvPicPr>
            <a:picLocks noChangeAspect="1"/>
          </p:cNvPicPr>
          <p:nvPr/>
        </p:nvPicPr>
        <p:blipFill>
          <a:blip r:embed="rId3"/>
          <a:stretch>
            <a:fillRect/>
          </a:stretch>
        </p:blipFill>
        <p:spPr>
          <a:xfrm>
            <a:off x="2728201" y="1436428"/>
            <a:ext cx="3687597" cy="1599872"/>
          </a:xfrm>
          <a:prstGeom prst="rect">
            <a:avLst/>
          </a:prstGeom>
        </p:spPr>
      </p:pic>
      <p:sp>
        <p:nvSpPr>
          <p:cNvPr id="2" name="Title 1">
            <a:extLst>
              <a:ext uri="{FF2B5EF4-FFF2-40B4-BE49-F238E27FC236}">
                <a16:creationId xmlns:a16="http://schemas.microsoft.com/office/drawing/2014/main" id="{E9A7912B-9773-A8E0-2A25-6D51CD3FE43F}"/>
              </a:ext>
            </a:extLst>
          </p:cNvPr>
          <p:cNvSpPr>
            <a:spLocks noGrp="1"/>
          </p:cNvSpPr>
          <p:nvPr>
            <p:ph type="title"/>
          </p:nvPr>
        </p:nvSpPr>
        <p:spPr>
          <a:xfrm>
            <a:off x="457200" y="0"/>
            <a:ext cx="8229600" cy="1143000"/>
          </a:xfrm>
        </p:spPr>
        <p:txBody>
          <a:bodyPr/>
          <a:lstStyle/>
          <a:p>
            <a:r>
              <a:rPr dirty="0"/>
              <a:t>Sequence Modeling</a:t>
            </a:r>
          </a:p>
        </p:txBody>
      </p:sp>
    </p:spTree>
    <p:extLst>
      <p:ext uri="{BB962C8B-B14F-4D97-AF65-F5344CB8AC3E}">
        <p14:creationId xmlns:p14="http://schemas.microsoft.com/office/powerpoint/2010/main" val="749069938"/>
      </p:ext>
    </p:extLst>
  </p:cSld>
  <p:clrMapOvr>
    <a:masterClrMapping/>
  </p:clrMapOvr>
  <p:transition>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E8962-189B-C778-0425-E9E2512F0E3C}"/>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094AD466-583E-9AB2-3C24-32AB8C0C60CC}"/>
              </a:ext>
            </a:extLst>
          </p:cNvPr>
          <p:cNvSpPr>
            <a:spLocks noGrp="1"/>
          </p:cNvSpPr>
          <p:nvPr>
            <p:ph idx="1"/>
          </p:nvPr>
        </p:nvSpPr>
        <p:spPr>
          <a:xfrm>
            <a:off x="457200" y="1600200"/>
            <a:ext cx="8229600" cy="5257800"/>
          </a:xfrm>
        </p:spPr>
        <p:txBody>
          <a:bodyPr>
            <a:noAutofit/>
          </a:bodyPr>
          <a:lstStyle/>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r>
              <a:rPr lang="en-US" sz="2000" dirty="0"/>
              <a:t>Let us consider a dynamical system driven by an external signal x(t)</a:t>
            </a:r>
            <a:endParaRPr lang="es-ES" sz="2000" dirty="0"/>
          </a:p>
          <a:p>
            <a:endParaRPr lang="es-ES" sz="2000" dirty="0"/>
          </a:p>
          <a:p>
            <a:endParaRPr lang="es-ES" sz="2000" dirty="0"/>
          </a:p>
          <a:p>
            <a:endParaRPr lang="es-ES" sz="2000" dirty="0"/>
          </a:p>
          <a:p>
            <a:endParaRPr lang="es-ES" sz="2000" dirty="0"/>
          </a:p>
        </p:txBody>
      </p:sp>
      <p:pic>
        <p:nvPicPr>
          <p:cNvPr id="5" name="Imagen 4" descr="Diagrama&#10;&#10;El contenido generado por IA puede ser incorrecto.">
            <a:extLst>
              <a:ext uri="{FF2B5EF4-FFF2-40B4-BE49-F238E27FC236}">
                <a16:creationId xmlns:a16="http://schemas.microsoft.com/office/drawing/2014/main" id="{EF83990F-8C7C-39BD-5CCC-1A48D4868025}"/>
              </a:ext>
            </a:extLst>
          </p:cNvPr>
          <p:cNvPicPr>
            <a:picLocks noChangeAspect="1"/>
          </p:cNvPicPr>
          <p:nvPr/>
        </p:nvPicPr>
        <p:blipFill>
          <a:blip r:embed="rId3"/>
          <a:srcRect b="11869"/>
          <a:stretch>
            <a:fillRect/>
          </a:stretch>
        </p:blipFill>
        <p:spPr>
          <a:xfrm>
            <a:off x="2005012" y="1955327"/>
            <a:ext cx="5438775" cy="3189879"/>
          </a:xfrm>
          <a:prstGeom prst="rect">
            <a:avLst/>
          </a:prstGeom>
        </p:spPr>
      </p:pic>
      <p:sp>
        <p:nvSpPr>
          <p:cNvPr id="2" name="Title 1">
            <a:extLst>
              <a:ext uri="{FF2B5EF4-FFF2-40B4-BE49-F238E27FC236}">
                <a16:creationId xmlns:a16="http://schemas.microsoft.com/office/drawing/2014/main" id="{4C999799-BCF0-A8F5-2730-686DCE451756}"/>
              </a:ext>
            </a:extLst>
          </p:cNvPr>
          <p:cNvSpPr>
            <a:spLocks noGrp="1"/>
          </p:cNvSpPr>
          <p:nvPr>
            <p:ph type="title"/>
          </p:nvPr>
        </p:nvSpPr>
        <p:spPr>
          <a:xfrm>
            <a:off x="457200" y="0"/>
            <a:ext cx="8229600" cy="1143000"/>
          </a:xfrm>
        </p:spPr>
        <p:txBody>
          <a:bodyPr/>
          <a:lstStyle/>
          <a:p>
            <a:r>
              <a:rPr dirty="0"/>
              <a:t>Sequence Modeling</a:t>
            </a:r>
          </a:p>
        </p:txBody>
      </p:sp>
    </p:spTree>
    <p:extLst>
      <p:ext uri="{BB962C8B-B14F-4D97-AF65-F5344CB8AC3E}">
        <p14:creationId xmlns:p14="http://schemas.microsoft.com/office/powerpoint/2010/main" val="1679983969"/>
      </p:ext>
    </p:extLst>
  </p:cSld>
  <p:clrMapOvr>
    <a:masterClrMapping/>
  </p:clrMapOvr>
  <p:transition>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6016A-F959-BEF4-7C34-92E8278D13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62970E-AD17-9BFA-3576-63776942DD32}"/>
              </a:ext>
            </a:extLst>
          </p:cNvPr>
          <p:cNvSpPr>
            <a:spLocks noGrp="1"/>
          </p:cNvSpPr>
          <p:nvPr>
            <p:ph type="title"/>
          </p:nvPr>
        </p:nvSpPr>
        <p:spPr/>
        <p:txBody>
          <a:bodyPr/>
          <a:lstStyle/>
          <a:p>
            <a:r>
              <a:rPr dirty="0"/>
              <a:t>Sequence Modeling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968B0E0-572E-5DEB-4993-BE21C5D4152B}"/>
                  </a:ext>
                </a:extLst>
              </p:cNvPr>
              <p:cNvSpPr>
                <a:spLocks noGrp="1"/>
              </p:cNvSpPr>
              <p:nvPr>
                <p:ph idx="1"/>
              </p:nvPr>
            </p:nvSpPr>
            <p:spPr>
              <a:xfrm>
                <a:off x="457200" y="1044144"/>
                <a:ext cx="8177844" cy="5813856"/>
              </a:xfrm>
            </p:spPr>
            <p:txBody>
              <a:bodyPr>
                <a:noAutofit/>
              </a:bodyPr>
              <a:lstStyle/>
              <a:p>
                <a:pPr marL="0" indent="0">
                  <a:buNone/>
                </a:pPr>
                <a:r>
                  <a:rPr lang="es-ES" sz="2000" dirty="0"/>
                  <a:t>Given a sequence </a:t>
                </a:r>
              </a:p>
              <a:p>
                <a:pPr marL="0" indent="0">
                  <a:buNone/>
                </a:pPr>
                <a14:m>
                  <m:oMathPara xmlns:m="http://schemas.openxmlformats.org/officeDocument/2006/math">
                    <m:oMathParaPr>
                      <m:jc m:val="centerGroup"/>
                    </m:oMathParaPr>
                    <m:oMath xmlns:m="http://schemas.openxmlformats.org/officeDocument/2006/math">
                      <m:r>
                        <a:rPr lang="es-ES" sz="2000" i="1">
                          <a:latin typeface="Cambria Math" panose="02040503050406030204" pitchFamily="18" charset="0"/>
                        </a:rPr>
                        <m:t>𝑥</m:t>
                      </m:r>
                      <m:r>
                        <a:rPr lang="es-ES" sz="2000">
                          <a:latin typeface="Cambria Math" panose="02040503050406030204" pitchFamily="18" charset="0"/>
                        </a:rPr>
                        <m:t>=</m:t>
                      </m:r>
                      <m:d>
                        <m:dPr>
                          <m:sepChr m:val=","/>
                          <m:ctrlPr>
                            <a:rPr lang="ar-AE" sz="2000" i="1">
                              <a:latin typeface="Cambria Math" panose="02040503050406030204" pitchFamily="18" charset="0"/>
                            </a:rPr>
                          </m:ctrlPr>
                        </m:dPr>
                        <m:e>
                          <m:sSub>
                            <m:sSubPr>
                              <m:ctrlPr>
                                <a:rPr lang="ar-AE" sz="2000" i="1">
                                  <a:latin typeface="Cambria Math" panose="02040503050406030204" pitchFamily="18" charset="0"/>
                                </a:rPr>
                              </m:ctrlPr>
                            </m:sSubPr>
                            <m:e>
                              <m:r>
                                <a:rPr lang="ar-AE" sz="2000" i="1">
                                  <a:latin typeface="Cambria Math" panose="02040503050406030204" pitchFamily="18" charset="0"/>
                                </a:rPr>
                                <m:t>𝑥</m:t>
                              </m:r>
                            </m:e>
                            <m:sub>
                              <m:r>
                                <a:rPr lang="ar-AE" sz="2000">
                                  <a:latin typeface="Cambria Math" panose="02040503050406030204" pitchFamily="18" charset="0"/>
                                </a:rPr>
                                <m:t>1</m:t>
                              </m:r>
                            </m:sub>
                          </m:sSub>
                        </m:e>
                        <m:e>
                          <m:sSub>
                            <m:sSubPr>
                              <m:ctrlPr>
                                <a:rPr lang="ar-AE" sz="2000" i="1">
                                  <a:latin typeface="Cambria Math" panose="02040503050406030204" pitchFamily="18" charset="0"/>
                                </a:rPr>
                              </m:ctrlPr>
                            </m:sSubPr>
                            <m:e>
                              <m:r>
                                <a:rPr lang="ar-AE" sz="2000" i="1">
                                  <a:latin typeface="Cambria Math" panose="02040503050406030204" pitchFamily="18" charset="0"/>
                                </a:rPr>
                                <m:t>𝑥</m:t>
                              </m:r>
                            </m:e>
                            <m:sub>
                              <m:r>
                                <a:rPr lang="ar-AE" sz="2000">
                                  <a:latin typeface="Cambria Math" panose="02040503050406030204" pitchFamily="18" charset="0"/>
                                </a:rPr>
                                <m:t>2</m:t>
                              </m:r>
                            </m:sub>
                          </m:sSub>
                        </m:e>
                        <m:e>
                          <m:r>
                            <a:rPr lang="ar-AE" sz="2000">
                              <a:latin typeface="Cambria Math" panose="02040503050406030204" pitchFamily="18" charset="0"/>
                            </a:rPr>
                            <m:t>.</m:t>
                          </m:r>
                        </m:e>
                        <m:e>
                          <m:r>
                            <a:rPr lang="ar-AE" sz="2000">
                              <a:latin typeface="Cambria Math" panose="02040503050406030204" pitchFamily="18" charset="0"/>
                            </a:rPr>
                            <m:t>..</m:t>
                          </m:r>
                          <m:sSub>
                            <m:sSubPr>
                              <m:ctrlPr>
                                <a:rPr lang="ar-AE" sz="2000" i="1">
                                  <a:latin typeface="Cambria Math" panose="02040503050406030204" pitchFamily="18" charset="0"/>
                                </a:rPr>
                              </m:ctrlPr>
                            </m:sSubPr>
                            <m:e>
                              <m:r>
                                <a:rPr lang="ar-AE" sz="2000" i="1">
                                  <a:latin typeface="Cambria Math" panose="02040503050406030204" pitchFamily="18" charset="0"/>
                                </a:rPr>
                                <m:t>𝑥</m:t>
                              </m:r>
                            </m:e>
                            <m:sub>
                              <m:r>
                                <a:rPr lang="ar-AE" sz="2000" i="1">
                                  <a:latin typeface="Cambria Math" panose="02040503050406030204" pitchFamily="18" charset="0"/>
                                </a:rPr>
                                <m:t>𝑇</m:t>
                              </m:r>
                            </m:sub>
                          </m:sSub>
                        </m:e>
                      </m:d>
                    </m:oMath>
                  </m:oMathPara>
                </a14:m>
                <a:endParaRPr lang="ar-AE" sz="2000" dirty="0"/>
              </a:p>
              <a:p>
                <a:pPr marL="0" indent="0">
                  <a:buNone/>
                </a:pPr>
                <a:endParaRPr lang="es-ES" sz="2000" dirty="0"/>
              </a:p>
              <a:p>
                <a:pPr marL="0" indent="0">
                  <a:buNone/>
                </a:pPr>
                <a:r>
                  <a:rPr lang="es-ES" sz="2000" dirty="0" err="1"/>
                  <a:t>We</a:t>
                </a:r>
                <a:r>
                  <a:rPr lang="es-ES" sz="2000" dirty="0"/>
                  <a:t> </a:t>
                </a:r>
                <a:r>
                  <a:rPr lang="es-ES" sz="2000" dirty="0" err="1"/>
                  <a:t>want</a:t>
                </a:r>
                <a:r>
                  <a:rPr lang="es-ES" sz="2000" dirty="0"/>
                  <a:t> </a:t>
                </a:r>
                <a:r>
                  <a:rPr lang="es-ES" sz="2000" dirty="0" err="1"/>
                  <a:t>to</a:t>
                </a:r>
                <a:r>
                  <a:rPr lang="es-ES" sz="2000" dirty="0"/>
                  <a:t> </a:t>
                </a:r>
                <a:r>
                  <a:rPr lang="es-ES" sz="2000" dirty="0" err="1"/>
                  <a:t>model</a:t>
                </a:r>
                <a:r>
                  <a:rPr lang="es-ES" sz="2000" dirty="0"/>
                  <a:t> </a:t>
                </a:r>
                <a:r>
                  <a:rPr lang="es-ES" sz="2000" dirty="0" err="1"/>
                  <a:t>the</a:t>
                </a:r>
                <a:r>
                  <a:rPr lang="es-ES" sz="2000" dirty="0"/>
                  <a:t> </a:t>
                </a:r>
                <a:r>
                  <a:rPr lang="es-ES" sz="2000" dirty="0" err="1"/>
                  <a:t>joint</a:t>
                </a:r>
                <a:r>
                  <a:rPr lang="es-ES" sz="2000" dirty="0"/>
                  <a:t> </a:t>
                </a:r>
                <a:r>
                  <a:rPr lang="es-ES" sz="2000" dirty="0" err="1"/>
                  <a:t>distribution</a:t>
                </a:r>
                <a:r>
                  <a:rPr lang="es-ES" sz="2000" dirty="0"/>
                  <a:t>:</a:t>
                </a:r>
              </a:p>
              <a:p>
                <a:pPr marL="0" indent="0">
                  <a:buNone/>
                </a:pPr>
                <a14:m>
                  <m:oMathPara xmlns:m="http://schemas.openxmlformats.org/officeDocument/2006/math">
                    <m:oMathParaPr>
                      <m:jc m:val="centerGroup"/>
                    </m:oMathParaPr>
                    <m:oMath xmlns:m="http://schemas.openxmlformats.org/officeDocument/2006/math">
                      <m:r>
                        <a:rPr lang="es-ES" sz="2000" i="1">
                          <a:latin typeface="Cambria Math" panose="02040503050406030204" pitchFamily="18" charset="0"/>
                        </a:rPr>
                        <m:t>𝑃</m:t>
                      </m:r>
                      <m:d>
                        <m:dPr>
                          <m:sepChr m:val=","/>
                          <m:ctrlPr>
                            <a:rPr lang="ar-AE" sz="2000" i="1">
                              <a:latin typeface="Cambria Math" panose="02040503050406030204" pitchFamily="18" charset="0"/>
                            </a:rPr>
                          </m:ctrlPr>
                        </m:dPr>
                        <m:e>
                          <m:sSub>
                            <m:sSubPr>
                              <m:ctrlPr>
                                <a:rPr lang="ar-AE" sz="2000" i="1">
                                  <a:latin typeface="Cambria Math" panose="02040503050406030204" pitchFamily="18" charset="0"/>
                                </a:rPr>
                              </m:ctrlPr>
                            </m:sSubPr>
                            <m:e>
                              <m:r>
                                <a:rPr lang="ar-AE" sz="2000" i="1">
                                  <a:latin typeface="Cambria Math" panose="02040503050406030204" pitchFamily="18" charset="0"/>
                                </a:rPr>
                                <m:t>𝑥</m:t>
                              </m:r>
                            </m:e>
                            <m:sub>
                              <m:r>
                                <a:rPr lang="ar-AE" sz="2000">
                                  <a:latin typeface="Cambria Math" panose="02040503050406030204" pitchFamily="18" charset="0"/>
                                </a:rPr>
                                <m:t>1</m:t>
                              </m:r>
                            </m:sub>
                          </m:sSub>
                        </m:e>
                        <m:e>
                          <m:r>
                            <a:rPr lang="es-ES" sz="2000" b="0" i="1" smtClean="0">
                              <a:latin typeface="Cambria Math" panose="02040503050406030204" pitchFamily="18" charset="0"/>
                            </a:rPr>
                            <m:t>,</m:t>
                          </m:r>
                          <m:sSub>
                            <m:sSubPr>
                              <m:ctrlPr>
                                <a:rPr lang="ar-AE" sz="2000" i="1">
                                  <a:latin typeface="Cambria Math" panose="02040503050406030204" pitchFamily="18" charset="0"/>
                                </a:rPr>
                              </m:ctrlPr>
                            </m:sSubPr>
                            <m:e>
                              <m:r>
                                <a:rPr lang="ar-AE" sz="2000" i="1">
                                  <a:latin typeface="Cambria Math" panose="02040503050406030204" pitchFamily="18" charset="0"/>
                                </a:rPr>
                                <m:t>𝑥</m:t>
                              </m:r>
                            </m:e>
                            <m:sub>
                              <m:r>
                                <a:rPr lang="ar-AE" sz="2000">
                                  <a:latin typeface="Cambria Math" panose="02040503050406030204" pitchFamily="18" charset="0"/>
                                </a:rPr>
                                <m:t>2</m:t>
                              </m:r>
                            </m:sub>
                          </m:sSub>
                        </m:e>
                        <m:e>
                          <m:r>
                            <a:rPr lang="es-ES" sz="2000" b="0" i="1" smtClean="0">
                              <a:latin typeface="Cambria Math" panose="02040503050406030204" pitchFamily="18" charset="0"/>
                            </a:rPr>
                            <m:t>,</m:t>
                          </m:r>
                          <m:r>
                            <a:rPr lang="ar-AE" sz="2000">
                              <a:latin typeface="Cambria Math" panose="02040503050406030204" pitchFamily="18" charset="0"/>
                            </a:rPr>
                            <m:t>.</m:t>
                          </m:r>
                        </m:e>
                        <m:e>
                          <m:r>
                            <a:rPr lang="ar-AE" sz="2000">
                              <a:latin typeface="Cambria Math" panose="02040503050406030204" pitchFamily="18" charset="0"/>
                            </a:rPr>
                            <m:t>..</m:t>
                          </m:r>
                          <m:sSub>
                            <m:sSubPr>
                              <m:ctrlPr>
                                <a:rPr lang="ar-AE" sz="2000" i="1">
                                  <a:latin typeface="Cambria Math" panose="02040503050406030204" pitchFamily="18" charset="0"/>
                                </a:rPr>
                              </m:ctrlPr>
                            </m:sSubPr>
                            <m:e>
                              <m:r>
                                <a:rPr lang="ar-AE" sz="2000" i="1">
                                  <a:latin typeface="Cambria Math" panose="02040503050406030204" pitchFamily="18" charset="0"/>
                                </a:rPr>
                                <m:t>𝑥</m:t>
                              </m:r>
                            </m:e>
                            <m:sub>
                              <m:r>
                                <a:rPr lang="ar-AE" sz="2000" i="1">
                                  <a:latin typeface="Cambria Math" panose="02040503050406030204" pitchFamily="18" charset="0"/>
                                </a:rPr>
                                <m:t>𝑇</m:t>
                              </m:r>
                            </m:sub>
                          </m:sSub>
                        </m:e>
                      </m:d>
                    </m:oMath>
                  </m:oMathPara>
                </a14:m>
                <a:endParaRPr lang="es-ES" sz="2000" dirty="0"/>
              </a:p>
              <a:p>
                <a:pPr marL="0" indent="0">
                  <a:buNone/>
                </a:pPr>
                <a:endParaRPr lang="es-ES" sz="2000" dirty="0"/>
              </a:p>
              <a:p>
                <a:pPr marL="0" indent="0">
                  <a:buNone/>
                </a:pPr>
                <a:r>
                  <a:rPr lang="es-ES" sz="2000"/>
                  <a:t>Using </a:t>
                </a:r>
                <a:r>
                  <a:rPr lang="es-ES" sz="2000" dirty="0" err="1"/>
                  <a:t>the</a:t>
                </a:r>
                <a:r>
                  <a:rPr lang="es-ES" sz="2000" dirty="0"/>
                  <a:t> </a:t>
                </a:r>
                <a:r>
                  <a:rPr lang="es-ES" sz="2000" dirty="0" err="1"/>
                  <a:t>chain</a:t>
                </a:r>
                <a:r>
                  <a:rPr lang="es-ES" sz="2000" dirty="0"/>
                  <a:t> rule </a:t>
                </a:r>
                <a:r>
                  <a:rPr lang="es-ES" sz="2000" dirty="0" err="1"/>
                  <a:t>of</a:t>
                </a:r>
                <a:r>
                  <a:rPr lang="es-ES" sz="2000" dirty="0"/>
                  <a:t> </a:t>
                </a:r>
                <a:r>
                  <a:rPr lang="es-ES" sz="2000" dirty="0" err="1"/>
                  <a:t>probability</a:t>
                </a:r>
                <a:r>
                  <a:rPr lang="es-ES" sz="2000" dirty="0"/>
                  <a:t>:</a:t>
                </a:r>
              </a:p>
              <a:p>
                <a:pPr marL="0" indent="0">
                  <a:buNone/>
                </a:pPr>
                <a14:m>
                  <m:oMathPara xmlns:m="http://schemas.openxmlformats.org/officeDocument/2006/math">
                    <m:oMathParaPr>
                      <m:jc m:val="centerGroup"/>
                    </m:oMathParaPr>
                    <m:oMath xmlns:m="http://schemas.openxmlformats.org/officeDocument/2006/math">
                      <m:r>
                        <a:rPr lang="es-ES" sz="2000" i="1">
                          <a:latin typeface="Cambria Math" panose="02040503050406030204" pitchFamily="18" charset="0"/>
                        </a:rPr>
                        <m:t>𝑃</m:t>
                      </m:r>
                      <m:d>
                        <m:dPr>
                          <m:sepChr m:val=","/>
                          <m:ctrlPr>
                            <a:rPr lang="ar-AE" sz="2000" i="1">
                              <a:latin typeface="Cambria Math" panose="02040503050406030204" pitchFamily="18" charset="0"/>
                            </a:rPr>
                          </m:ctrlPr>
                        </m:dPr>
                        <m:e>
                          <m:sSub>
                            <m:sSubPr>
                              <m:ctrlPr>
                                <a:rPr lang="ar-AE" sz="2000" i="1">
                                  <a:latin typeface="Cambria Math" panose="02040503050406030204" pitchFamily="18" charset="0"/>
                                </a:rPr>
                              </m:ctrlPr>
                            </m:sSubPr>
                            <m:e>
                              <m:r>
                                <a:rPr lang="ar-AE" sz="2000" i="1">
                                  <a:latin typeface="Cambria Math" panose="02040503050406030204" pitchFamily="18" charset="0"/>
                                </a:rPr>
                                <m:t>𝑥</m:t>
                              </m:r>
                            </m:e>
                            <m:sub>
                              <m:r>
                                <a:rPr lang="ar-AE" sz="2000">
                                  <a:latin typeface="Cambria Math" panose="02040503050406030204" pitchFamily="18" charset="0"/>
                                </a:rPr>
                                <m:t>1</m:t>
                              </m:r>
                            </m:sub>
                          </m:sSub>
                        </m:e>
                        <m:e>
                          <m:r>
                            <a:rPr lang="ar-AE" sz="2000">
                              <a:latin typeface="Cambria Math" panose="02040503050406030204" pitchFamily="18" charset="0"/>
                            </a:rPr>
                            <m:t>.</m:t>
                          </m:r>
                        </m:e>
                        <m:e>
                          <m:r>
                            <a:rPr lang="ar-AE" sz="2000">
                              <a:latin typeface="Cambria Math" panose="02040503050406030204" pitchFamily="18" charset="0"/>
                            </a:rPr>
                            <m:t>..</m:t>
                          </m:r>
                          <m:sSub>
                            <m:sSubPr>
                              <m:ctrlPr>
                                <a:rPr lang="ar-AE" sz="2000" i="1">
                                  <a:latin typeface="Cambria Math" panose="02040503050406030204" pitchFamily="18" charset="0"/>
                                </a:rPr>
                              </m:ctrlPr>
                            </m:sSubPr>
                            <m:e>
                              <m:r>
                                <a:rPr lang="ar-AE" sz="2000" i="1">
                                  <a:latin typeface="Cambria Math" panose="02040503050406030204" pitchFamily="18" charset="0"/>
                                </a:rPr>
                                <m:t>𝑥</m:t>
                              </m:r>
                            </m:e>
                            <m:sub>
                              <m:r>
                                <a:rPr lang="ar-AE" sz="2000" i="1">
                                  <a:latin typeface="Cambria Math" panose="02040503050406030204" pitchFamily="18" charset="0"/>
                                </a:rPr>
                                <m:t>𝑇</m:t>
                              </m:r>
                            </m:sub>
                          </m:sSub>
                        </m:e>
                      </m:d>
                      <m:r>
                        <a:rPr lang="ar-AE" sz="2000">
                          <a:latin typeface="Cambria Math" panose="02040503050406030204" pitchFamily="18" charset="0"/>
                        </a:rPr>
                        <m:t>=</m:t>
                      </m:r>
                      <m:nary>
                        <m:naryPr>
                          <m:chr m:val="∏"/>
                          <m:grow m:val="on"/>
                          <m:ctrlPr>
                            <a:rPr lang="ar-AE" sz="2000" i="1">
                              <a:latin typeface="Cambria Math" panose="02040503050406030204" pitchFamily="18" charset="0"/>
                            </a:rPr>
                          </m:ctrlPr>
                        </m:naryPr>
                        <m:sub>
                          <m:r>
                            <a:rPr lang="ar-AE" sz="2000" i="1">
                              <a:latin typeface="Cambria Math" panose="02040503050406030204" pitchFamily="18" charset="0"/>
                            </a:rPr>
                            <m:t>𝑡</m:t>
                          </m:r>
                          <m:r>
                            <a:rPr lang="ar-AE" sz="2000">
                              <a:latin typeface="Cambria Math" panose="02040503050406030204" pitchFamily="18" charset="0"/>
                            </a:rPr>
                            <m:t>=</m:t>
                          </m:r>
                          <m:r>
                            <a:rPr lang="ar-AE" sz="2000">
                              <a:latin typeface="Cambria Math" panose="02040503050406030204" pitchFamily="18" charset="0"/>
                            </a:rPr>
                            <m:t>1</m:t>
                          </m:r>
                        </m:sub>
                        <m:sup>
                          <m:r>
                            <a:rPr lang="ar-AE" sz="2000" i="1">
                              <a:latin typeface="Cambria Math" panose="02040503050406030204" pitchFamily="18" charset="0"/>
                            </a:rPr>
                            <m:t>𝑇</m:t>
                          </m:r>
                        </m:sup>
                        <m:e>
                          <m:r>
                            <a:rPr lang="ar-AE" sz="2000" i="1">
                              <a:latin typeface="Cambria Math" panose="02040503050406030204" pitchFamily="18" charset="0"/>
                            </a:rPr>
                            <m:t>𝑃</m:t>
                          </m:r>
                        </m:e>
                      </m:nary>
                      <m:d>
                        <m:dPr>
                          <m:sepChr m:val=","/>
                          <m:ctrlPr>
                            <a:rPr lang="ar-AE" sz="2000" i="1">
                              <a:latin typeface="Cambria Math" panose="02040503050406030204" pitchFamily="18" charset="0"/>
                            </a:rPr>
                          </m:ctrlPr>
                        </m:dPr>
                        <m:e>
                          <m:sSub>
                            <m:sSubPr>
                              <m:ctrlPr>
                                <a:rPr lang="ar-AE" sz="2000" i="1">
                                  <a:latin typeface="Cambria Math" panose="02040503050406030204" pitchFamily="18" charset="0"/>
                                </a:rPr>
                              </m:ctrlPr>
                            </m:sSubPr>
                            <m:e>
                              <m:r>
                                <a:rPr lang="ar-AE" sz="2000" i="1">
                                  <a:latin typeface="Cambria Math" panose="02040503050406030204" pitchFamily="18" charset="0"/>
                                </a:rPr>
                                <m:t>𝑥</m:t>
                              </m:r>
                            </m:e>
                            <m:sub>
                              <m:r>
                                <a:rPr lang="ar-AE" sz="2000" i="1">
                                  <a:latin typeface="Cambria Math" panose="02040503050406030204" pitchFamily="18" charset="0"/>
                                </a:rPr>
                                <m:t>𝑡</m:t>
                              </m:r>
                            </m:sub>
                          </m:sSub>
                        </m:e>
                        <m:e>
                          <m:r>
                            <a:rPr lang="ar-AE" sz="2000">
                              <a:latin typeface="Cambria Math" panose="02040503050406030204" pitchFamily="18" charset="0"/>
                            </a:rPr>
                            <m:t>∣</m:t>
                          </m:r>
                        </m:e>
                        <m:e>
                          <m:sSub>
                            <m:sSubPr>
                              <m:ctrlPr>
                                <a:rPr lang="ar-AE" sz="2000" i="1">
                                  <a:latin typeface="Cambria Math" panose="02040503050406030204" pitchFamily="18" charset="0"/>
                                </a:rPr>
                              </m:ctrlPr>
                            </m:sSubPr>
                            <m:e>
                              <m:r>
                                <a:rPr lang="ar-AE" sz="2000" i="1">
                                  <a:latin typeface="Cambria Math" panose="02040503050406030204" pitchFamily="18" charset="0"/>
                                </a:rPr>
                                <m:t>𝑥</m:t>
                              </m:r>
                            </m:e>
                            <m:sub>
                              <m:r>
                                <a:rPr lang="ar-AE" sz="2000">
                                  <a:latin typeface="Cambria Math" panose="02040503050406030204" pitchFamily="18" charset="0"/>
                                </a:rPr>
                                <m:t>1</m:t>
                              </m:r>
                            </m:sub>
                          </m:sSub>
                          <m:r>
                            <a:rPr lang="ar-AE" sz="2000">
                              <a:latin typeface="Cambria Math" panose="02040503050406030204" pitchFamily="18" charset="0"/>
                            </a:rPr>
                            <m:t>...</m:t>
                          </m:r>
                          <m:sSub>
                            <m:sSubPr>
                              <m:ctrlPr>
                                <a:rPr lang="ar-AE" sz="2000" i="1">
                                  <a:latin typeface="Cambria Math" panose="02040503050406030204" pitchFamily="18" charset="0"/>
                                </a:rPr>
                              </m:ctrlPr>
                            </m:sSubPr>
                            <m:e>
                              <m:r>
                                <a:rPr lang="ar-AE" sz="2000" i="1">
                                  <a:latin typeface="Cambria Math" panose="02040503050406030204" pitchFamily="18" charset="0"/>
                                </a:rPr>
                                <m:t>𝑥</m:t>
                              </m:r>
                            </m:e>
                            <m:sub>
                              <m:r>
                                <a:rPr lang="ar-AE" sz="2000" i="1">
                                  <a:latin typeface="Cambria Math" panose="02040503050406030204" pitchFamily="18" charset="0"/>
                                </a:rPr>
                                <m:t>𝑡</m:t>
                              </m:r>
                              <m:r>
                                <a:rPr lang="ar-AE" sz="2000">
                                  <a:latin typeface="Cambria Math" panose="02040503050406030204" pitchFamily="18" charset="0"/>
                                </a:rPr>
                                <m:t>−</m:t>
                              </m:r>
                              <m:r>
                                <a:rPr lang="ar-AE" sz="2000">
                                  <a:latin typeface="Cambria Math" panose="02040503050406030204" pitchFamily="18" charset="0"/>
                                </a:rPr>
                                <m:t>1</m:t>
                              </m:r>
                            </m:sub>
                          </m:sSub>
                        </m:e>
                      </m:d>
                    </m:oMath>
                  </m:oMathPara>
                </a14:m>
                <a:endParaRPr lang="ar-AE" sz="2000" dirty="0"/>
              </a:p>
              <a:p>
                <a:pPr marL="0" indent="0">
                  <a:buNone/>
                </a:pPr>
                <a:endParaRPr lang="es-ES" sz="2000" b="1" dirty="0"/>
              </a:p>
              <a:p>
                <a:pPr marL="0" indent="0">
                  <a:buNone/>
                </a:pPr>
                <a:r>
                  <a:rPr lang="es-ES" sz="2000" b="1" dirty="0" err="1"/>
                  <a:t>Interpretation</a:t>
                </a:r>
                <a:r>
                  <a:rPr lang="es-ES" sz="2000" b="1" dirty="0"/>
                  <a:t> - </a:t>
                </a:r>
                <a:r>
                  <a:rPr lang="es-ES" sz="2000" dirty="0" err="1"/>
                  <a:t>Sequence</a:t>
                </a:r>
                <a:r>
                  <a:rPr lang="es-ES" sz="2000" dirty="0"/>
                  <a:t> </a:t>
                </a:r>
                <a:r>
                  <a:rPr lang="es-ES" sz="2000" dirty="0" err="1"/>
                  <a:t>modeling</a:t>
                </a:r>
                <a:r>
                  <a:rPr lang="es-ES" sz="2000" dirty="0"/>
                  <a:t> reduces </a:t>
                </a:r>
                <a:r>
                  <a:rPr lang="es-ES" sz="2000" dirty="0" err="1"/>
                  <a:t>to</a:t>
                </a:r>
                <a:r>
                  <a:rPr lang="es-ES" sz="2000" dirty="0"/>
                  <a:t> </a:t>
                </a:r>
                <a:r>
                  <a:rPr lang="es-ES" sz="2000" dirty="0" err="1"/>
                  <a:t>modeling</a:t>
                </a:r>
                <a:r>
                  <a:rPr lang="es-ES" sz="2000" dirty="0"/>
                  <a:t>:</a:t>
                </a:r>
              </a:p>
              <a:p>
                <a:pPr marL="0" indent="0">
                  <a:buNone/>
                </a:pPr>
                <a14:m>
                  <m:oMathPara xmlns:m="http://schemas.openxmlformats.org/officeDocument/2006/math">
                    <m:oMathParaPr>
                      <m:jc m:val="centerGroup"/>
                    </m:oMathParaPr>
                    <m:oMath xmlns:m="http://schemas.openxmlformats.org/officeDocument/2006/math">
                      <m:r>
                        <a:rPr lang="es-ES" sz="2000" i="1">
                          <a:latin typeface="Cambria Math" panose="02040503050406030204" pitchFamily="18" charset="0"/>
                        </a:rPr>
                        <m:t>𝑃</m:t>
                      </m:r>
                      <m:d>
                        <m:dPr>
                          <m:ctrlPr>
                            <a:rPr lang="ar-AE" sz="2000" i="1">
                              <a:latin typeface="Cambria Math" panose="02040503050406030204" pitchFamily="18" charset="0"/>
                            </a:rPr>
                          </m:ctrlPr>
                        </m:dPr>
                        <m:e>
                          <m:sSub>
                            <m:sSubPr>
                              <m:ctrlPr>
                                <a:rPr lang="ar-AE" sz="2000" i="1">
                                  <a:latin typeface="Cambria Math" panose="02040503050406030204" pitchFamily="18" charset="0"/>
                                </a:rPr>
                              </m:ctrlPr>
                            </m:sSubPr>
                            <m:e>
                              <m:r>
                                <a:rPr lang="ar-AE" sz="2000" i="1">
                                  <a:latin typeface="Cambria Math" panose="02040503050406030204" pitchFamily="18" charset="0"/>
                                </a:rPr>
                                <m:t>𝑥</m:t>
                              </m:r>
                            </m:e>
                            <m:sub>
                              <m:r>
                                <a:rPr lang="ar-AE" sz="2000" i="1">
                                  <a:latin typeface="Cambria Math" panose="02040503050406030204" pitchFamily="18" charset="0"/>
                                </a:rPr>
                                <m:t>𝑡</m:t>
                              </m:r>
                            </m:sub>
                          </m:sSub>
                          <m:r>
                            <a:rPr lang="ar-AE" sz="2000">
                              <a:latin typeface="Cambria Math" panose="02040503050406030204" pitchFamily="18" charset="0"/>
                            </a:rPr>
                            <m:t>∣</m:t>
                          </m:r>
                          <m:sSub>
                            <m:sSubPr>
                              <m:ctrlPr>
                                <a:rPr lang="ar-AE" sz="2000" i="1">
                                  <a:latin typeface="Cambria Math" panose="02040503050406030204" pitchFamily="18" charset="0"/>
                                </a:rPr>
                              </m:ctrlPr>
                            </m:sSubPr>
                            <m:e>
                              <m:r>
                                <a:rPr lang="ar-AE" sz="2000" i="1">
                                  <a:latin typeface="Cambria Math" panose="02040503050406030204" pitchFamily="18" charset="0"/>
                                </a:rPr>
                                <m:t>𝑥</m:t>
                              </m:r>
                            </m:e>
                            <m:sub>
                              <m:r>
                                <a:rPr lang="ar-AE" sz="2000">
                                  <a:latin typeface="Cambria Math" panose="02040503050406030204" pitchFamily="18" charset="0"/>
                                </a:rPr>
                                <m:t>&lt;</m:t>
                              </m:r>
                              <m:r>
                                <a:rPr lang="ar-AE" sz="2000" i="1">
                                  <a:latin typeface="Cambria Math" panose="02040503050406030204" pitchFamily="18" charset="0"/>
                                </a:rPr>
                                <m:t>𝑡</m:t>
                              </m:r>
                            </m:sub>
                          </m:sSub>
                        </m:e>
                      </m:d>
                    </m:oMath>
                  </m:oMathPara>
                </a14:m>
                <a:endParaRPr lang="ar-AE" sz="2000" dirty="0"/>
              </a:p>
              <a:p>
                <a:pPr marL="0" indent="0">
                  <a:buNone/>
                </a:pPr>
                <a:r>
                  <a:rPr lang="es-ES" sz="2000" dirty="0" err="1"/>
                  <a:t>for</a:t>
                </a:r>
                <a:r>
                  <a:rPr lang="es-ES" sz="2000" dirty="0"/>
                  <a:t> </a:t>
                </a:r>
                <a:r>
                  <a:rPr lang="es-ES" sz="2000" err="1"/>
                  <a:t>all</a:t>
                </a:r>
                <a:r>
                  <a:rPr lang="es-ES" sz="2000"/>
                  <a:t> t</a:t>
                </a:r>
              </a:p>
              <a:p>
                <a:pPr marL="0" indent="0">
                  <a:buNone/>
                </a:pPr>
                <a:endParaRPr lang="es-ES" sz="2000"/>
              </a:p>
              <a:p>
                <a:pPr marL="0" indent="0">
                  <a:buNone/>
                </a:pPr>
                <a:r>
                  <a:rPr lang="en-GB" b="1"/>
                  <a:t>Chain Rule </a:t>
                </a:r>
                <a:r>
                  <a:rPr lang="en-GB" b="1">
                    <a:sym typeface="Wingdings" panose="05000000000000000000" pitchFamily="2" charset="2"/>
                  </a:rPr>
                  <a:t> </a:t>
                </a:r>
                <a:r>
                  <a:rPr lang="en-GB" b="1"/>
                  <a:t>leads to RNNs</a:t>
                </a:r>
                <a:endParaRPr lang="es-ES" b="1" dirty="0"/>
              </a:p>
              <a:p>
                <a:endParaRPr lang="es-ES" sz="2000" dirty="0"/>
              </a:p>
            </p:txBody>
          </p:sp>
        </mc:Choice>
        <mc:Fallback xmlns="">
          <p:sp>
            <p:nvSpPr>
              <p:cNvPr id="3" name="Content Placeholder 2">
                <a:extLst>
                  <a:ext uri="{FF2B5EF4-FFF2-40B4-BE49-F238E27FC236}">
                    <a16:creationId xmlns:a16="http://schemas.microsoft.com/office/drawing/2014/main" id="{1968B0E0-572E-5DEB-4993-BE21C5D4152B}"/>
                  </a:ext>
                </a:extLst>
              </p:cNvPr>
              <p:cNvSpPr>
                <a:spLocks noGrp="1" noRot="1" noChangeAspect="1" noMove="1" noResize="1" noEditPoints="1" noAdjustHandles="1" noChangeArrowheads="1" noChangeShapeType="1" noTextEdit="1"/>
              </p:cNvSpPr>
              <p:nvPr>
                <p:ph idx="1"/>
              </p:nvPr>
            </p:nvSpPr>
            <p:spPr>
              <a:xfrm>
                <a:off x="457200" y="1044144"/>
                <a:ext cx="8177844" cy="5813856"/>
              </a:xfrm>
              <a:blipFill>
                <a:blip r:embed="rId3"/>
                <a:stretch>
                  <a:fillRect l="-1118" t="-524"/>
                </a:stretch>
              </a:blipFill>
            </p:spPr>
            <p:txBody>
              <a:bodyPr/>
              <a:lstStyle/>
              <a:p>
                <a:r>
                  <a:rPr lang="en-GB">
                    <a:noFill/>
                  </a:rPr>
                  <a:t> </a:t>
                </a:r>
              </a:p>
            </p:txBody>
          </p:sp>
        </mc:Fallback>
      </mc:AlternateContent>
    </p:spTree>
    <p:extLst>
      <p:ext uri="{BB962C8B-B14F-4D97-AF65-F5344CB8AC3E}">
        <p14:creationId xmlns:p14="http://schemas.microsoft.com/office/powerpoint/2010/main" val="2446301611"/>
      </p:ext>
    </p:extLst>
  </p:cSld>
  <p:clrMapOvr>
    <a:masterClrMapping/>
  </p:clrMapOvr>
  <p:transition>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9E4C2C-06A7-3784-A55A-112DB9724D86}"/>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9F784875-5AA6-E753-3A1D-CE7573633DF1}"/>
              </a:ext>
            </a:extLst>
          </p:cNvPr>
          <p:cNvSpPr>
            <a:spLocks noGrp="1"/>
          </p:cNvSpPr>
          <p:nvPr>
            <p:ph idx="1"/>
          </p:nvPr>
        </p:nvSpPr>
        <p:spPr>
          <a:xfrm>
            <a:off x="628650" y="2145787"/>
            <a:ext cx="8515350" cy="4712213"/>
          </a:xfrm>
        </p:spPr>
        <p:txBody>
          <a:bodyPr>
            <a:noAutofit/>
          </a:bodyPr>
          <a:lstStyle/>
          <a:p>
            <a:pPr marL="0" indent="0">
              <a:buNone/>
            </a:pPr>
            <a:endParaRPr lang="en-US" sz="2000" dirty="0"/>
          </a:p>
          <a:p>
            <a:pPr marL="0" indent="0">
              <a:buNone/>
            </a:pPr>
            <a:endParaRPr lang="en-US" sz="2000" dirty="0"/>
          </a:p>
          <a:p>
            <a:pPr marL="0" indent="0">
              <a:buNone/>
            </a:pPr>
            <a:r>
              <a:rPr lang="en-US" sz="2000" dirty="0"/>
              <a:t>What does this term mean?</a:t>
            </a:r>
          </a:p>
          <a:p>
            <a:pPr marL="0" indent="0">
              <a:buNone/>
            </a:pPr>
            <a:r>
              <a:rPr lang="en-US" sz="2000" dirty="0"/>
              <a:t>It is the probability of the next element given all of the past</a:t>
            </a:r>
          </a:p>
          <a:p>
            <a:pPr marL="0" indent="0">
              <a:buNone/>
            </a:pPr>
            <a:endParaRPr lang="en-US" sz="2000" dirty="0"/>
          </a:p>
          <a:p>
            <a:pPr marL="0" indent="0">
              <a:buNone/>
            </a:pPr>
            <a:r>
              <a:rPr lang="en-US" sz="2000" dirty="0"/>
              <a:t>Sequence modeling reduces to modeling conditional probabilities over time</a:t>
            </a:r>
          </a:p>
          <a:p>
            <a:r>
              <a:rPr lang="en-US" sz="2000" dirty="0"/>
              <a:t>Past grows with t</a:t>
            </a:r>
          </a:p>
          <a:p>
            <a:r>
              <a:rPr lang="en-US" sz="2000" dirty="0"/>
              <a:t>High dimensional</a:t>
            </a:r>
          </a:p>
          <a:p>
            <a:r>
              <a:rPr lang="en-US" sz="2000" dirty="0"/>
              <a:t>Computationally intractable</a:t>
            </a:r>
          </a:p>
          <a:p>
            <a:endParaRPr lang="en-US" sz="2000" dirty="0"/>
          </a:p>
          <a:p>
            <a:pPr marL="0" indent="0">
              <a:buNone/>
            </a:pPr>
            <a:r>
              <a:rPr lang="en-US" sz="2000" dirty="0"/>
              <a:t>We cannot condition on the entire past explicitly</a:t>
            </a:r>
            <a:endParaRPr lang="es-ES" sz="2000" dirty="0"/>
          </a:p>
        </p:txBody>
      </p:sp>
      <p:pic>
        <p:nvPicPr>
          <p:cNvPr id="5" name="Imagen 4" descr="Imagen que contiene Forma&#10;&#10;El contenido generado por IA puede ser incorrecto.">
            <a:extLst>
              <a:ext uri="{FF2B5EF4-FFF2-40B4-BE49-F238E27FC236}">
                <a16:creationId xmlns:a16="http://schemas.microsoft.com/office/drawing/2014/main" id="{E92E2772-746D-56B9-1609-1B478D6AFB34}"/>
              </a:ext>
            </a:extLst>
          </p:cNvPr>
          <p:cNvPicPr>
            <a:picLocks noChangeAspect="1"/>
          </p:cNvPicPr>
          <p:nvPr/>
        </p:nvPicPr>
        <p:blipFill>
          <a:blip r:embed="rId3"/>
          <a:stretch>
            <a:fillRect/>
          </a:stretch>
        </p:blipFill>
        <p:spPr>
          <a:xfrm>
            <a:off x="3071585" y="1806419"/>
            <a:ext cx="2032643" cy="589359"/>
          </a:xfrm>
          <a:prstGeom prst="rect">
            <a:avLst/>
          </a:prstGeom>
        </p:spPr>
      </p:pic>
      <p:sp>
        <p:nvSpPr>
          <p:cNvPr id="7" name="CuadroTexto 6">
            <a:extLst>
              <a:ext uri="{FF2B5EF4-FFF2-40B4-BE49-F238E27FC236}">
                <a16:creationId xmlns:a16="http://schemas.microsoft.com/office/drawing/2014/main" id="{84D50F23-A97C-0EDD-19EE-8B4C44FE14B6}"/>
              </a:ext>
            </a:extLst>
          </p:cNvPr>
          <p:cNvSpPr txBox="1"/>
          <p:nvPr/>
        </p:nvSpPr>
        <p:spPr>
          <a:xfrm>
            <a:off x="628649" y="1525546"/>
            <a:ext cx="6352013" cy="369332"/>
          </a:xfrm>
          <a:prstGeom prst="rect">
            <a:avLst/>
          </a:prstGeom>
          <a:noFill/>
        </p:spPr>
        <p:txBody>
          <a:bodyPr wrap="square">
            <a:spAutoFit/>
          </a:bodyPr>
          <a:lstStyle/>
          <a:p>
            <a:pPr defTabSz="762000" eaLnBrk="1" hangingPunct="1">
              <a:spcBef>
                <a:spcPct val="20000"/>
              </a:spcBef>
              <a:spcAft>
                <a:spcPct val="0"/>
              </a:spcAft>
            </a:pPr>
            <a:r>
              <a:rPr lang="es-ES" sz="2000" b="0" dirty="0" err="1">
                <a:solidFill>
                  <a:srgbClr val="005682"/>
                </a:solidFill>
                <a:latin typeface="Verdana" panose="020B0604030504040204" pitchFamily="34" charset="0"/>
              </a:rPr>
              <a:t>The</a:t>
            </a:r>
            <a:r>
              <a:rPr lang="es-ES" sz="2000" b="0" dirty="0">
                <a:solidFill>
                  <a:srgbClr val="005682"/>
                </a:solidFill>
                <a:latin typeface="Verdana" panose="020B0604030504040204" pitchFamily="34" charset="0"/>
              </a:rPr>
              <a:t> Real </a:t>
            </a:r>
            <a:r>
              <a:rPr lang="es-ES" sz="2000" b="0" dirty="0" err="1">
                <a:solidFill>
                  <a:srgbClr val="005682"/>
                </a:solidFill>
                <a:latin typeface="Verdana" panose="020B0604030504040204" pitchFamily="34" charset="0"/>
              </a:rPr>
              <a:t>Problem</a:t>
            </a:r>
            <a:r>
              <a:rPr lang="es-ES" sz="2000" b="0" dirty="0">
                <a:solidFill>
                  <a:srgbClr val="005682"/>
                </a:solidFill>
                <a:latin typeface="Verdana" panose="020B0604030504040204" pitchFamily="34" charset="0"/>
              </a:rPr>
              <a:t>. </a:t>
            </a:r>
            <a:r>
              <a:rPr lang="es-ES" sz="2000" b="0" dirty="0" err="1">
                <a:solidFill>
                  <a:srgbClr val="005682"/>
                </a:solidFill>
                <a:latin typeface="Verdana" panose="020B0604030504040204" pitchFamily="34" charset="0"/>
              </a:rPr>
              <a:t>The</a:t>
            </a:r>
            <a:r>
              <a:rPr lang="es-ES" sz="2000" b="0" dirty="0">
                <a:solidFill>
                  <a:srgbClr val="005682"/>
                </a:solidFill>
                <a:latin typeface="Verdana" panose="020B0604030504040204" pitchFamily="34" charset="0"/>
              </a:rPr>
              <a:t> </a:t>
            </a:r>
            <a:r>
              <a:rPr lang="es-ES" sz="2000" b="0" dirty="0" err="1">
                <a:solidFill>
                  <a:srgbClr val="005682"/>
                </a:solidFill>
                <a:latin typeface="Verdana" panose="020B0604030504040204" pitchFamily="34" charset="0"/>
              </a:rPr>
              <a:t>goal</a:t>
            </a:r>
            <a:r>
              <a:rPr lang="es-ES" sz="2000" b="0" dirty="0">
                <a:solidFill>
                  <a:srgbClr val="005682"/>
                </a:solidFill>
                <a:latin typeface="Verdana" panose="020B0604030504040204" pitchFamily="34" charset="0"/>
              </a:rPr>
              <a:t> </a:t>
            </a:r>
            <a:r>
              <a:rPr lang="es-ES" sz="2000" b="0" dirty="0" err="1">
                <a:solidFill>
                  <a:srgbClr val="005682"/>
                </a:solidFill>
                <a:latin typeface="Verdana" panose="020B0604030504040204" pitchFamily="34" charset="0"/>
              </a:rPr>
              <a:t>is</a:t>
            </a:r>
            <a:r>
              <a:rPr lang="es-ES" sz="2000" b="0" dirty="0">
                <a:solidFill>
                  <a:srgbClr val="005682"/>
                </a:solidFill>
                <a:latin typeface="Verdana" panose="020B0604030504040204" pitchFamily="34" charset="0"/>
              </a:rPr>
              <a:t> </a:t>
            </a:r>
            <a:r>
              <a:rPr lang="es-ES" sz="2000" b="0" dirty="0" err="1">
                <a:solidFill>
                  <a:srgbClr val="005682"/>
                </a:solidFill>
                <a:latin typeface="Verdana" panose="020B0604030504040204" pitchFamily="34" charset="0"/>
              </a:rPr>
              <a:t>to</a:t>
            </a:r>
            <a:r>
              <a:rPr lang="es-ES" sz="2000" b="0" dirty="0">
                <a:solidFill>
                  <a:srgbClr val="005682"/>
                </a:solidFill>
                <a:latin typeface="Verdana" panose="020B0604030504040204" pitchFamily="34" charset="0"/>
              </a:rPr>
              <a:t> </a:t>
            </a:r>
            <a:r>
              <a:rPr lang="es-ES" sz="2000" b="0" dirty="0" err="1">
                <a:solidFill>
                  <a:srgbClr val="005682"/>
                </a:solidFill>
                <a:latin typeface="Verdana" panose="020B0604030504040204" pitchFamily="34" charset="0"/>
              </a:rPr>
              <a:t>model</a:t>
            </a:r>
            <a:r>
              <a:rPr lang="es-ES" sz="2000" b="0" dirty="0">
                <a:solidFill>
                  <a:srgbClr val="005682"/>
                </a:solidFill>
                <a:latin typeface="Verdana" panose="020B0604030504040204" pitchFamily="34" charset="0"/>
              </a:rPr>
              <a:t>: </a:t>
            </a:r>
          </a:p>
        </p:txBody>
      </p:sp>
      <p:sp>
        <p:nvSpPr>
          <p:cNvPr id="2" name="Título 1">
            <a:extLst>
              <a:ext uri="{FF2B5EF4-FFF2-40B4-BE49-F238E27FC236}">
                <a16:creationId xmlns:a16="http://schemas.microsoft.com/office/drawing/2014/main" id="{2A7B7760-094F-9570-FEF9-28A4A0A00CEA}"/>
              </a:ext>
            </a:extLst>
          </p:cNvPr>
          <p:cNvSpPr>
            <a:spLocks noGrp="1"/>
          </p:cNvSpPr>
          <p:nvPr>
            <p:ph type="title"/>
          </p:nvPr>
        </p:nvSpPr>
        <p:spPr>
          <a:xfrm>
            <a:off x="457200" y="0"/>
            <a:ext cx="8229600" cy="1143000"/>
          </a:xfrm>
        </p:spPr>
        <p:txBody>
          <a:bodyPr/>
          <a:lstStyle/>
          <a:p>
            <a:r>
              <a:rPr lang="en-US" dirty="0"/>
              <a:t>The Chain Rule and why it leads to RNNs</a:t>
            </a:r>
            <a:endParaRPr lang="es-ES" dirty="0"/>
          </a:p>
        </p:txBody>
      </p:sp>
    </p:spTree>
    <p:extLst>
      <p:ext uri="{BB962C8B-B14F-4D97-AF65-F5344CB8AC3E}">
        <p14:creationId xmlns:p14="http://schemas.microsoft.com/office/powerpoint/2010/main" val="4208516314"/>
      </p:ext>
    </p:extLst>
  </p:cSld>
  <p:clrMapOvr>
    <a:masterClrMapping/>
  </p:clrMapOvr>
  <p:transition>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49C6A-5F46-700A-0522-A921D2F1F99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A71775B-7C34-28BA-65F2-32B76FB91A98}"/>
              </a:ext>
            </a:extLst>
          </p:cNvPr>
          <p:cNvSpPr>
            <a:spLocks noGrp="1"/>
          </p:cNvSpPr>
          <p:nvPr>
            <p:ph type="title"/>
          </p:nvPr>
        </p:nvSpPr>
        <p:spPr/>
        <p:txBody>
          <a:bodyPr>
            <a:normAutofit/>
          </a:bodyPr>
          <a:lstStyle/>
          <a:p>
            <a:r>
              <a:rPr lang="en-US" dirty="0"/>
              <a:t>Introduction to the hidden state</a:t>
            </a:r>
            <a:br>
              <a:rPr lang="en-US" dirty="0"/>
            </a:br>
            <a:r>
              <a:rPr lang="es-ES" dirty="0" err="1"/>
              <a:t>The</a:t>
            </a:r>
            <a:r>
              <a:rPr lang="es-ES" dirty="0"/>
              <a:t> Idea </a:t>
            </a:r>
            <a:r>
              <a:rPr lang="es-ES" dirty="0" err="1"/>
              <a:t>Behind</a:t>
            </a:r>
            <a:r>
              <a:rPr lang="es-ES" dirty="0"/>
              <a:t> RNN</a:t>
            </a:r>
          </a:p>
        </p:txBody>
      </p:sp>
      <p:sp>
        <p:nvSpPr>
          <p:cNvPr id="3" name="Marcador de contenido 2">
            <a:extLst>
              <a:ext uri="{FF2B5EF4-FFF2-40B4-BE49-F238E27FC236}">
                <a16:creationId xmlns:a16="http://schemas.microsoft.com/office/drawing/2014/main" id="{AE237BEB-E0F4-2F92-41F7-C1FC652787D3}"/>
              </a:ext>
            </a:extLst>
          </p:cNvPr>
          <p:cNvSpPr>
            <a:spLocks noGrp="1"/>
          </p:cNvSpPr>
          <p:nvPr>
            <p:ph idx="1"/>
          </p:nvPr>
        </p:nvSpPr>
        <p:spPr>
          <a:xfrm>
            <a:off x="457200" y="2226469"/>
            <a:ext cx="8686800" cy="4631531"/>
          </a:xfrm>
        </p:spPr>
        <p:txBody>
          <a:bodyPr>
            <a:noAutofit/>
          </a:bodyPr>
          <a:lstStyle/>
          <a:p>
            <a:pPr marL="0" indent="0">
              <a:buNone/>
            </a:pPr>
            <a:r>
              <a:rPr lang="es-ES" sz="2000" dirty="0" err="1"/>
              <a:t>Conditional</a:t>
            </a:r>
            <a:r>
              <a:rPr lang="es-ES" sz="2000" dirty="0"/>
              <a:t> </a:t>
            </a:r>
            <a:r>
              <a:rPr lang="es-ES" sz="2000" dirty="0" err="1"/>
              <a:t>Modeling</a:t>
            </a:r>
            <a:r>
              <a:rPr lang="es-ES" sz="2000" dirty="0"/>
              <a:t> </a:t>
            </a:r>
            <a:r>
              <a:rPr lang="es-ES" sz="2000" dirty="0" err="1"/>
              <a:t>of</a:t>
            </a:r>
            <a:r>
              <a:rPr lang="es-ES" sz="2000" dirty="0"/>
              <a:t> </a:t>
            </a:r>
            <a:r>
              <a:rPr lang="es-ES" sz="2000" dirty="0" err="1"/>
              <a:t>Sequences</a:t>
            </a:r>
            <a:endParaRPr lang="en-US" sz="2000" dirty="0"/>
          </a:p>
          <a:p>
            <a:pPr marL="0" indent="0">
              <a:buNone/>
            </a:pPr>
            <a:endParaRPr lang="en-US" sz="2000" dirty="0"/>
          </a:p>
          <a:p>
            <a:pPr marL="457200" lvl="1" indent="0">
              <a:buNone/>
            </a:pPr>
            <a:endParaRPr lang="en-US" dirty="0"/>
          </a:p>
          <a:p>
            <a:pPr marL="57150" indent="0">
              <a:buNone/>
            </a:pPr>
            <a:r>
              <a:rPr lang="en-US" sz="2000" dirty="0"/>
              <a:t>Introduce hidden state representation </a:t>
            </a:r>
            <a:r>
              <a:rPr lang="en-US" sz="2000" dirty="0" err="1"/>
              <a:t>h</a:t>
            </a:r>
            <a:r>
              <a:rPr lang="en-US" sz="2000" baseline="-25000" dirty="0" err="1"/>
              <a:t>t</a:t>
            </a:r>
            <a:endParaRPr lang="en-US" sz="2000" baseline="-25000" dirty="0"/>
          </a:p>
          <a:p>
            <a:pPr marL="57150" indent="0">
              <a:buNone/>
            </a:pPr>
            <a:r>
              <a:rPr lang="en-US" sz="2000" dirty="0" err="1"/>
              <a:t>h</a:t>
            </a:r>
            <a:r>
              <a:rPr lang="en-US" sz="2000" baseline="-25000" dirty="0" err="1"/>
              <a:t>t</a:t>
            </a:r>
            <a:r>
              <a:rPr lang="en-US" sz="2000" dirty="0"/>
              <a:t> summarizes past information</a:t>
            </a:r>
          </a:p>
          <a:p>
            <a:pPr marL="0" indent="0">
              <a:buNone/>
            </a:pPr>
            <a:endParaRPr lang="en-US" sz="2000" dirty="0"/>
          </a:p>
          <a:p>
            <a:pPr marL="0" indent="0">
              <a:buNone/>
            </a:pPr>
            <a:r>
              <a:rPr lang="en-US" sz="2000" dirty="0"/>
              <a:t>Instead of conditioning on the entire history,</a:t>
            </a:r>
            <a:br>
              <a:rPr lang="en-US" sz="2000" dirty="0"/>
            </a:br>
            <a:r>
              <a:rPr lang="en-US" sz="2000" dirty="0"/>
              <a:t>we condition on a learned summary of the history</a:t>
            </a:r>
          </a:p>
          <a:p>
            <a:pPr marL="0" indent="0">
              <a:buNone/>
            </a:pPr>
            <a:endParaRPr lang="en-US" sz="2000" dirty="0"/>
          </a:p>
          <a:p>
            <a:pPr marL="0" indent="0">
              <a:buNone/>
            </a:pPr>
            <a:r>
              <a:rPr lang="en-US" sz="2000" dirty="0"/>
              <a:t>That learned summary is the hidden state</a:t>
            </a:r>
          </a:p>
          <a:p>
            <a:pPr marL="0" indent="0">
              <a:buNone/>
            </a:pPr>
            <a:br>
              <a:rPr lang="en-US" sz="2000" dirty="0"/>
            </a:br>
            <a:r>
              <a:rPr lang="en-US" sz="2000" dirty="0"/>
              <a:t>And this is exactly what a </a:t>
            </a:r>
            <a:r>
              <a:rPr lang="en-US" sz="2000" b="1" dirty="0"/>
              <a:t>Recurrent Neural Network </a:t>
            </a:r>
            <a:r>
              <a:rPr lang="en-US" sz="2000" dirty="0"/>
              <a:t>computes</a:t>
            </a:r>
          </a:p>
        </p:txBody>
      </p:sp>
      <p:pic>
        <p:nvPicPr>
          <p:cNvPr id="7" name="Imagen 6" descr="Texto, Carta&#10;&#10;El contenido generado por IA puede ser incorrecto.">
            <a:extLst>
              <a:ext uri="{FF2B5EF4-FFF2-40B4-BE49-F238E27FC236}">
                <a16:creationId xmlns:a16="http://schemas.microsoft.com/office/drawing/2014/main" id="{B630EDF2-5C46-CA15-2BB7-5ED0CF4CB534}"/>
              </a:ext>
            </a:extLst>
          </p:cNvPr>
          <p:cNvPicPr>
            <a:picLocks noChangeAspect="1"/>
          </p:cNvPicPr>
          <p:nvPr/>
        </p:nvPicPr>
        <p:blipFill>
          <a:blip r:embed="rId3"/>
          <a:stretch>
            <a:fillRect/>
          </a:stretch>
        </p:blipFill>
        <p:spPr>
          <a:xfrm>
            <a:off x="5273732" y="1677426"/>
            <a:ext cx="3413068" cy="1751574"/>
          </a:xfrm>
          <a:prstGeom prst="rect">
            <a:avLst/>
          </a:prstGeom>
        </p:spPr>
      </p:pic>
    </p:spTree>
    <p:extLst>
      <p:ext uri="{BB962C8B-B14F-4D97-AF65-F5344CB8AC3E}">
        <p14:creationId xmlns:p14="http://schemas.microsoft.com/office/powerpoint/2010/main" val="1865016678"/>
      </p:ext>
    </p:extLst>
  </p:cSld>
  <p:clrMapOvr>
    <a:masterClrMapping/>
  </p:clrMapOvr>
  <p:transition>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42B48-6267-8889-00B9-03BBE210B12E}"/>
            </a:ext>
          </a:extLst>
        </p:cNvPr>
        <p:cNvGrpSpPr/>
        <p:nvPr/>
      </p:nvGrpSpPr>
      <p:grpSpPr>
        <a:xfrm>
          <a:off x="0" y="0"/>
          <a:ext cx="0" cy="0"/>
          <a:chOff x="0" y="0"/>
          <a:chExt cx="0" cy="0"/>
        </a:xfrm>
      </p:grpSpPr>
      <p:sp>
        <p:nvSpPr>
          <p:cNvPr id="4" name="Marcador de contenido 3">
            <a:extLst>
              <a:ext uri="{FF2B5EF4-FFF2-40B4-BE49-F238E27FC236}">
                <a16:creationId xmlns:a16="http://schemas.microsoft.com/office/drawing/2014/main" id="{BD4DA29B-34FF-B659-5CE3-10D1F73B6358}"/>
              </a:ext>
            </a:extLst>
          </p:cNvPr>
          <p:cNvSpPr>
            <a:spLocks noGrp="1"/>
          </p:cNvSpPr>
          <p:nvPr>
            <p:ph idx="1"/>
          </p:nvPr>
        </p:nvSpPr>
        <p:spPr>
          <a:xfrm>
            <a:off x="457200" y="1600200"/>
            <a:ext cx="8603294" cy="5052391"/>
          </a:xfrm>
        </p:spPr>
        <p:txBody>
          <a:bodyPr/>
          <a:lstStyle/>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r>
              <a:rPr lang="en-US" sz="2000" dirty="0" err="1"/>
              <a:t>h</a:t>
            </a:r>
            <a:r>
              <a:rPr lang="en-US" sz="2000" baseline="-25000" dirty="0" err="1"/>
              <a:t>t</a:t>
            </a:r>
            <a:r>
              <a:rPr lang="en-US" sz="2000" dirty="0"/>
              <a:t> summarizes past information</a:t>
            </a:r>
          </a:p>
          <a:p>
            <a:r>
              <a:rPr lang="en-US" sz="2000" dirty="0"/>
              <a:t>Learned summary is the hidden state</a:t>
            </a:r>
          </a:p>
          <a:p>
            <a:r>
              <a:rPr lang="en-US" sz="2000" dirty="0"/>
              <a:t>And this is exactly what a Recurrent Neural Network computes</a:t>
            </a:r>
          </a:p>
          <a:p>
            <a:endParaRPr lang="es-ES" sz="2000" dirty="0"/>
          </a:p>
        </p:txBody>
      </p:sp>
      <p:sp>
        <p:nvSpPr>
          <p:cNvPr id="2" name="Título 1">
            <a:extLst>
              <a:ext uri="{FF2B5EF4-FFF2-40B4-BE49-F238E27FC236}">
                <a16:creationId xmlns:a16="http://schemas.microsoft.com/office/drawing/2014/main" id="{A8CD87F8-F55D-3BD3-47B2-48DE2D06B295}"/>
              </a:ext>
            </a:extLst>
          </p:cNvPr>
          <p:cNvSpPr>
            <a:spLocks noGrp="1"/>
          </p:cNvSpPr>
          <p:nvPr>
            <p:ph type="title"/>
          </p:nvPr>
        </p:nvSpPr>
        <p:spPr/>
        <p:txBody>
          <a:bodyPr>
            <a:normAutofit/>
          </a:bodyPr>
          <a:lstStyle/>
          <a:p>
            <a:r>
              <a:rPr lang="en-US" dirty="0"/>
              <a:t>Introduction to the hidden state</a:t>
            </a:r>
            <a:br>
              <a:rPr lang="en-US" dirty="0"/>
            </a:br>
            <a:r>
              <a:rPr lang="es-ES" dirty="0" err="1"/>
              <a:t>The</a:t>
            </a:r>
            <a:r>
              <a:rPr lang="es-ES" dirty="0"/>
              <a:t> Idea </a:t>
            </a:r>
            <a:r>
              <a:rPr lang="es-ES" dirty="0" err="1"/>
              <a:t>Behind</a:t>
            </a:r>
            <a:r>
              <a:rPr lang="es-ES" dirty="0"/>
              <a:t> RNN</a:t>
            </a:r>
          </a:p>
        </p:txBody>
      </p:sp>
      <p:pic>
        <p:nvPicPr>
          <p:cNvPr id="6" name="Imagen 5">
            <a:extLst>
              <a:ext uri="{FF2B5EF4-FFF2-40B4-BE49-F238E27FC236}">
                <a16:creationId xmlns:a16="http://schemas.microsoft.com/office/drawing/2014/main" id="{45AC94D4-4ADA-936B-3837-F32AB2716E9C}"/>
              </a:ext>
            </a:extLst>
          </p:cNvPr>
          <p:cNvPicPr>
            <a:picLocks noChangeAspect="1"/>
          </p:cNvPicPr>
          <p:nvPr/>
        </p:nvPicPr>
        <p:blipFill>
          <a:blip r:embed="rId3"/>
          <a:stretch>
            <a:fillRect/>
          </a:stretch>
        </p:blipFill>
        <p:spPr>
          <a:xfrm>
            <a:off x="1833562" y="1843087"/>
            <a:ext cx="5476875" cy="3171825"/>
          </a:xfrm>
          <a:prstGeom prst="rect">
            <a:avLst/>
          </a:prstGeom>
        </p:spPr>
      </p:pic>
    </p:spTree>
    <p:extLst>
      <p:ext uri="{BB962C8B-B14F-4D97-AF65-F5344CB8AC3E}">
        <p14:creationId xmlns:p14="http://schemas.microsoft.com/office/powerpoint/2010/main" val="2247255991"/>
      </p:ext>
    </p:extLst>
  </p:cSld>
  <p:clrMapOvr>
    <a:masterClrMapping/>
  </p:clrMapOvr>
  <p:transition>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FB51A-0945-20FF-7B52-769BCD7C2B30}"/>
            </a:ext>
          </a:extLst>
        </p:cNvPr>
        <p:cNvGrpSpPr/>
        <p:nvPr/>
      </p:nvGrpSpPr>
      <p:grpSpPr>
        <a:xfrm>
          <a:off x="0" y="0"/>
          <a:ext cx="0" cy="0"/>
          <a:chOff x="0" y="0"/>
          <a:chExt cx="0" cy="0"/>
        </a:xfrm>
      </p:grpSpPr>
      <p:sp>
        <p:nvSpPr>
          <p:cNvPr id="4" name="Marcador de contenido 3">
            <a:extLst>
              <a:ext uri="{FF2B5EF4-FFF2-40B4-BE49-F238E27FC236}">
                <a16:creationId xmlns:a16="http://schemas.microsoft.com/office/drawing/2014/main" id="{EB37F7D1-C258-8A38-F8A1-3576349C66CE}"/>
              </a:ext>
            </a:extLst>
          </p:cNvPr>
          <p:cNvSpPr>
            <a:spLocks noGrp="1"/>
          </p:cNvSpPr>
          <p:nvPr>
            <p:ph idx="1"/>
          </p:nvPr>
        </p:nvSpPr>
        <p:spPr>
          <a:xfrm>
            <a:off x="457200" y="1600200"/>
            <a:ext cx="8603294" cy="5052391"/>
          </a:xfrm>
        </p:spPr>
        <p:txBody>
          <a:bodyPr/>
          <a:lstStyle/>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s-ES" sz="2000" dirty="0"/>
          </a:p>
        </p:txBody>
      </p:sp>
      <p:sp>
        <p:nvSpPr>
          <p:cNvPr id="2" name="Título 1">
            <a:extLst>
              <a:ext uri="{FF2B5EF4-FFF2-40B4-BE49-F238E27FC236}">
                <a16:creationId xmlns:a16="http://schemas.microsoft.com/office/drawing/2014/main" id="{47EF0B8A-A0C2-8146-ABD7-8F0A9C66C892}"/>
              </a:ext>
            </a:extLst>
          </p:cNvPr>
          <p:cNvSpPr>
            <a:spLocks noGrp="1"/>
          </p:cNvSpPr>
          <p:nvPr>
            <p:ph type="title"/>
          </p:nvPr>
        </p:nvSpPr>
        <p:spPr/>
        <p:txBody>
          <a:bodyPr>
            <a:normAutofit/>
          </a:bodyPr>
          <a:lstStyle/>
          <a:p>
            <a:r>
              <a:rPr lang="en-US" dirty="0"/>
              <a:t>Introduction to the hidden state</a:t>
            </a:r>
            <a:br>
              <a:rPr lang="en-US" dirty="0"/>
            </a:br>
            <a:r>
              <a:rPr lang="es-ES" dirty="0" err="1"/>
              <a:t>The</a:t>
            </a:r>
            <a:r>
              <a:rPr lang="es-ES" dirty="0"/>
              <a:t> Idea </a:t>
            </a:r>
            <a:r>
              <a:rPr lang="es-ES" dirty="0" err="1"/>
              <a:t>Behind</a:t>
            </a:r>
            <a:r>
              <a:rPr lang="es-ES" dirty="0"/>
              <a:t> RNN</a:t>
            </a:r>
          </a:p>
        </p:txBody>
      </p:sp>
      <p:pic>
        <p:nvPicPr>
          <p:cNvPr id="5" name="Imagen 4">
            <a:extLst>
              <a:ext uri="{FF2B5EF4-FFF2-40B4-BE49-F238E27FC236}">
                <a16:creationId xmlns:a16="http://schemas.microsoft.com/office/drawing/2014/main" id="{F5BB661A-25D7-3668-A582-8CDB839FFECB}"/>
              </a:ext>
            </a:extLst>
          </p:cNvPr>
          <p:cNvPicPr>
            <a:picLocks noChangeAspect="1"/>
          </p:cNvPicPr>
          <p:nvPr/>
        </p:nvPicPr>
        <p:blipFill>
          <a:blip r:embed="rId3"/>
          <a:stretch>
            <a:fillRect/>
          </a:stretch>
        </p:blipFill>
        <p:spPr>
          <a:xfrm>
            <a:off x="1771650" y="1819275"/>
            <a:ext cx="5600700" cy="3219450"/>
          </a:xfrm>
          <a:prstGeom prst="rect">
            <a:avLst/>
          </a:prstGeom>
        </p:spPr>
      </p:pic>
    </p:spTree>
    <p:extLst>
      <p:ext uri="{BB962C8B-B14F-4D97-AF65-F5344CB8AC3E}">
        <p14:creationId xmlns:p14="http://schemas.microsoft.com/office/powerpoint/2010/main" val="1063831170"/>
      </p:ext>
    </p:extLst>
  </p:cSld>
  <p:clrMapOvr>
    <a:masterClrMapping/>
  </p:clrMapOvr>
  <p:transition>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942ED-296A-C13F-4A1D-B62581BE3D3D}"/>
            </a:ext>
          </a:extLst>
        </p:cNvPr>
        <p:cNvGrpSpPr/>
        <p:nvPr/>
      </p:nvGrpSpPr>
      <p:grpSpPr>
        <a:xfrm>
          <a:off x="0" y="0"/>
          <a:ext cx="0" cy="0"/>
          <a:chOff x="0" y="0"/>
          <a:chExt cx="0" cy="0"/>
        </a:xfrm>
      </p:grpSpPr>
      <p:sp>
        <p:nvSpPr>
          <p:cNvPr id="4" name="Marcador de contenido 3">
            <a:extLst>
              <a:ext uri="{FF2B5EF4-FFF2-40B4-BE49-F238E27FC236}">
                <a16:creationId xmlns:a16="http://schemas.microsoft.com/office/drawing/2014/main" id="{086B788C-D0D5-CAFA-3A99-61C195387E5D}"/>
              </a:ext>
            </a:extLst>
          </p:cNvPr>
          <p:cNvSpPr>
            <a:spLocks noGrp="1"/>
          </p:cNvSpPr>
          <p:nvPr>
            <p:ph idx="1"/>
          </p:nvPr>
        </p:nvSpPr>
        <p:spPr>
          <a:xfrm>
            <a:off x="457200" y="1600200"/>
            <a:ext cx="8603294" cy="5052391"/>
          </a:xfrm>
        </p:spPr>
        <p:txBody>
          <a:bodyPr/>
          <a:lstStyle/>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s-ES" sz="2000" dirty="0"/>
          </a:p>
        </p:txBody>
      </p:sp>
      <p:sp>
        <p:nvSpPr>
          <p:cNvPr id="2" name="Título 1">
            <a:extLst>
              <a:ext uri="{FF2B5EF4-FFF2-40B4-BE49-F238E27FC236}">
                <a16:creationId xmlns:a16="http://schemas.microsoft.com/office/drawing/2014/main" id="{AE06713A-B32E-610C-F68B-E88626C13474}"/>
              </a:ext>
            </a:extLst>
          </p:cNvPr>
          <p:cNvSpPr>
            <a:spLocks noGrp="1"/>
          </p:cNvSpPr>
          <p:nvPr>
            <p:ph type="title"/>
          </p:nvPr>
        </p:nvSpPr>
        <p:spPr/>
        <p:txBody>
          <a:bodyPr>
            <a:normAutofit/>
          </a:bodyPr>
          <a:lstStyle/>
          <a:p>
            <a:r>
              <a:rPr lang="en-US" dirty="0"/>
              <a:t>Introduction to the hidden state</a:t>
            </a:r>
            <a:br>
              <a:rPr lang="en-US" dirty="0"/>
            </a:br>
            <a:r>
              <a:rPr lang="es-ES" dirty="0" err="1"/>
              <a:t>The</a:t>
            </a:r>
            <a:r>
              <a:rPr lang="es-ES" dirty="0"/>
              <a:t> Idea </a:t>
            </a:r>
            <a:r>
              <a:rPr lang="es-ES" dirty="0" err="1"/>
              <a:t>Behind</a:t>
            </a:r>
            <a:r>
              <a:rPr lang="es-ES" dirty="0"/>
              <a:t> RNN</a:t>
            </a:r>
          </a:p>
        </p:txBody>
      </p:sp>
      <p:pic>
        <p:nvPicPr>
          <p:cNvPr id="8" name="Imagen 7">
            <a:extLst>
              <a:ext uri="{FF2B5EF4-FFF2-40B4-BE49-F238E27FC236}">
                <a16:creationId xmlns:a16="http://schemas.microsoft.com/office/drawing/2014/main" id="{A2E3D40D-6978-3F76-5DFD-011E235CA801}"/>
              </a:ext>
            </a:extLst>
          </p:cNvPr>
          <p:cNvPicPr>
            <a:picLocks noChangeAspect="1"/>
          </p:cNvPicPr>
          <p:nvPr/>
        </p:nvPicPr>
        <p:blipFill>
          <a:blip r:embed="rId3"/>
          <a:stretch>
            <a:fillRect/>
          </a:stretch>
        </p:blipFill>
        <p:spPr>
          <a:xfrm>
            <a:off x="1757362" y="1971675"/>
            <a:ext cx="5629275" cy="2914650"/>
          </a:xfrm>
          <a:prstGeom prst="rect">
            <a:avLst/>
          </a:prstGeom>
        </p:spPr>
      </p:pic>
    </p:spTree>
    <p:extLst>
      <p:ext uri="{BB962C8B-B14F-4D97-AF65-F5344CB8AC3E}">
        <p14:creationId xmlns:p14="http://schemas.microsoft.com/office/powerpoint/2010/main" val="1376491751"/>
      </p:ext>
    </p:extLst>
  </p:cSld>
  <p:clrMapOvr>
    <a:masterClrMapping/>
  </p:clrMapOvr>
  <p:transition>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4DA56-C201-422C-41EC-5C35C3311318}"/>
            </a:ext>
          </a:extLst>
        </p:cNvPr>
        <p:cNvGrpSpPr/>
        <p:nvPr/>
      </p:nvGrpSpPr>
      <p:grpSpPr>
        <a:xfrm>
          <a:off x="0" y="0"/>
          <a:ext cx="0" cy="0"/>
          <a:chOff x="0" y="0"/>
          <a:chExt cx="0" cy="0"/>
        </a:xfrm>
      </p:grpSpPr>
      <p:sp>
        <p:nvSpPr>
          <p:cNvPr id="4" name="Marcador de contenido 3">
            <a:extLst>
              <a:ext uri="{FF2B5EF4-FFF2-40B4-BE49-F238E27FC236}">
                <a16:creationId xmlns:a16="http://schemas.microsoft.com/office/drawing/2014/main" id="{ABB1E203-8150-70E8-C82B-C614CDDF7E07}"/>
              </a:ext>
            </a:extLst>
          </p:cNvPr>
          <p:cNvSpPr>
            <a:spLocks noGrp="1"/>
          </p:cNvSpPr>
          <p:nvPr>
            <p:ph idx="1"/>
          </p:nvPr>
        </p:nvSpPr>
        <p:spPr>
          <a:xfrm>
            <a:off x="457200" y="1600200"/>
            <a:ext cx="8603294" cy="5052391"/>
          </a:xfrm>
        </p:spPr>
        <p:txBody>
          <a:bodyPr/>
          <a:lstStyle/>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r>
              <a:rPr lang="en-US" sz="2000" dirty="0"/>
              <a:t>Re-use the same weight matrices at every time step</a:t>
            </a:r>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s-ES" sz="2000" dirty="0"/>
          </a:p>
        </p:txBody>
      </p:sp>
      <p:sp>
        <p:nvSpPr>
          <p:cNvPr id="2" name="Título 1">
            <a:extLst>
              <a:ext uri="{FF2B5EF4-FFF2-40B4-BE49-F238E27FC236}">
                <a16:creationId xmlns:a16="http://schemas.microsoft.com/office/drawing/2014/main" id="{2D2E3EEC-E32C-4A26-81A1-AF1AE255836F}"/>
              </a:ext>
            </a:extLst>
          </p:cNvPr>
          <p:cNvSpPr>
            <a:spLocks noGrp="1"/>
          </p:cNvSpPr>
          <p:nvPr>
            <p:ph type="title"/>
          </p:nvPr>
        </p:nvSpPr>
        <p:spPr/>
        <p:txBody>
          <a:bodyPr>
            <a:normAutofit/>
          </a:bodyPr>
          <a:lstStyle/>
          <a:p>
            <a:r>
              <a:rPr lang="en-US" dirty="0"/>
              <a:t>Introduction to the hidden state</a:t>
            </a:r>
            <a:br>
              <a:rPr lang="en-US" dirty="0"/>
            </a:br>
            <a:r>
              <a:rPr lang="es-ES" dirty="0" err="1"/>
              <a:t>The</a:t>
            </a:r>
            <a:r>
              <a:rPr lang="es-ES" dirty="0"/>
              <a:t> Idea </a:t>
            </a:r>
            <a:r>
              <a:rPr lang="es-ES" dirty="0" err="1"/>
              <a:t>Behind</a:t>
            </a:r>
            <a:r>
              <a:rPr lang="es-ES" dirty="0"/>
              <a:t> RNN</a:t>
            </a:r>
          </a:p>
        </p:txBody>
      </p:sp>
      <p:pic>
        <p:nvPicPr>
          <p:cNvPr id="5" name="Imagen 4">
            <a:extLst>
              <a:ext uri="{FF2B5EF4-FFF2-40B4-BE49-F238E27FC236}">
                <a16:creationId xmlns:a16="http://schemas.microsoft.com/office/drawing/2014/main" id="{A94BDF2F-7B75-5A5A-3A0B-521540738292}"/>
              </a:ext>
            </a:extLst>
          </p:cNvPr>
          <p:cNvPicPr>
            <a:picLocks noChangeAspect="1"/>
          </p:cNvPicPr>
          <p:nvPr/>
        </p:nvPicPr>
        <p:blipFill>
          <a:blip r:embed="rId3"/>
          <a:stretch>
            <a:fillRect/>
          </a:stretch>
        </p:blipFill>
        <p:spPr>
          <a:xfrm>
            <a:off x="1552575" y="1828800"/>
            <a:ext cx="6038850" cy="3200400"/>
          </a:xfrm>
          <a:prstGeom prst="rect">
            <a:avLst/>
          </a:prstGeom>
        </p:spPr>
      </p:pic>
    </p:spTree>
    <p:extLst>
      <p:ext uri="{BB962C8B-B14F-4D97-AF65-F5344CB8AC3E}">
        <p14:creationId xmlns:p14="http://schemas.microsoft.com/office/powerpoint/2010/main" val="1660338498"/>
      </p:ext>
    </p:extLst>
  </p:cSld>
  <p:clrMapOvr>
    <a:masterClrMapping/>
  </p:clrMapOvr>
  <p:transition>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F2A88-E4C8-5D02-2F40-45D2FA67288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13708D-1CD6-EC67-2BA8-3BBE3DF0D8A7}"/>
              </a:ext>
            </a:extLst>
          </p:cNvPr>
          <p:cNvSpPr>
            <a:spLocks noGrp="1"/>
          </p:cNvSpPr>
          <p:nvPr>
            <p:ph idx="1"/>
          </p:nvPr>
        </p:nvSpPr>
        <p:spPr>
          <a:xfrm>
            <a:off x="457200" y="1168019"/>
            <a:ext cx="8229600" cy="5257800"/>
          </a:xfrm>
        </p:spPr>
        <p:txBody>
          <a:bodyPr>
            <a:noAutofit/>
          </a:bodyPr>
          <a:lstStyle/>
          <a:p>
            <a:pPr lvl="1"/>
            <a:endParaRPr lang="en-US" dirty="0">
              <a:latin typeface="Cambria" panose="02040503050406030204" pitchFamily="18" charset="0"/>
              <a:ea typeface="Cambria" panose="02040503050406030204" pitchFamily="18" charset="0"/>
            </a:endParaRPr>
          </a:p>
          <a:p>
            <a:pPr marL="0" indent="0">
              <a:buNone/>
            </a:pPr>
            <a:r>
              <a:rPr lang="es-ES" sz="2000" b="1" dirty="0"/>
              <a:t>Planteamiento del problema</a:t>
            </a:r>
          </a:p>
          <a:p>
            <a:r>
              <a:rPr lang="es-ES" sz="2000" b="1" dirty="0"/>
              <a:t>Secuencia conocida:	</a:t>
            </a:r>
            <a:r>
              <a:rPr lang="es-ES" sz="2000" dirty="0"/>
              <a:t>h → o → l</a:t>
            </a:r>
          </a:p>
          <a:p>
            <a:r>
              <a:rPr lang="es-ES" sz="2000" b="1" dirty="0"/>
              <a:t>Objetivo: </a:t>
            </a:r>
            <a:r>
              <a:rPr lang="es-ES" sz="2000" dirty="0"/>
              <a:t>Predecir el siguiente carácter → a</a:t>
            </a:r>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r>
              <a:rPr lang="es-ES" sz="1800" dirty="0"/>
              <a:t>Idea clave:</a:t>
            </a:r>
          </a:p>
          <a:p>
            <a:r>
              <a:rPr lang="es-ES" sz="1800" dirty="0"/>
              <a:t>No podemos predecir la “a” mirando solo la “l”</a:t>
            </a:r>
          </a:p>
          <a:p>
            <a:r>
              <a:rPr lang="es-ES" sz="1800" dirty="0"/>
              <a:t>Necesitamos </a:t>
            </a:r>
            <a:r>
              <a:rPr lang="es-ES" sz="1800" b="1" dirty="0"/>
              <a:t>memoria del contexto</a:t>
            </a:r>
            <a:endParaRPr lang="es-ES" sz="2000" dirty="0"/>
          </a:p>
          <a:p>
            <a:pPr lvl="1"/>
            <a:endParaRPr lang="en-US" dirty="0">
              <a:latin typeface="Cambria" panose="02040503050406030204" pitchFamily="18" charset="0"/>
              <a:ea typeface="Cambria" panose="02040503050406030204" pitchFamily="18" charset="0"/>
            </a:endParaRPr>
          </a:p>
          <a:p>
            <a:pPr lvl="1"/>
            <a:endParaRPr lang="en-US" dirty="0">
              <a:latin typeface="Cambria" panose="02040503050406030204" pitchFamily="18" charset="0"/>
              <a:ea typeface="Cambria" panose="02040503050406030204" pitchFamily="18" charset="0"/>
            </a:endParaRPr>
          </a:p>
        </p:txBody>
      </p:sp>
      <p:sp>
        <p:nvSpPr>
          <p:cNvPr id="2" name="Title 1">
            <a:extLst>
              <a:ext uri="{FF2B5EF4-FFF2-40B4-BE49-F238E27FC236}">
                <a16:creationId xmlns:a16="http://schemas.microsoft.com/office/drawing/2014/main" id="{DBCE045C-960A-5EA8-A0A3-CFEA757AD3CF}"/>
              </a:ext>
            </a:extLst>
          </p:cNvPr>
          <p:cNvSpPr>
            <a:spLocks noGrp="1"/>
          </p:cNvSpPr>
          <p:nvPr>
            <p:ph type="title"/>
          </p:nvPr>
        </p:nvSpPr>
        <p:spPr/>
        <p:txBody>
          <a:bodyPr>
            <a:normAutofit/>
          </a:bodyPr>
          <a:lstStyle/>
          <a:p>
            <a:r>
              <a:rPr lang="es-ES" dirty="0"/>
              <a:t>RNN </a:t>
            </a:r>
            <a:r>
              <a:rPr dirty="0"/>
              <a:t>ejemplo</a:t>
            </a:r>
          </a:p>
        </p:txBody>
      </p:sp>
      <p:sp>
        <p:nvSpPr>
          <p:cNvPr id="9" name="Content Placeholder 2">
            <a:extLst>
              <a:ext uri="{FF2B5EF4-FFF2-40B4-BE49-F238E27FC236}">
                <a16:creationId xmlns:a16="http://schemas.microsoft.com/office/drawing/2014/main" id="{F90302FF-85FD-E315-8A27-9149DABEB3D4}"/>
              </a:ext>
            </a:extLst>
          </p:cNvPr>
          <p:cNvSpPr txBox="1">
            <a:spLocks/>
          </p:cNvSpPr>
          <p:nvPr/>
        </p:nvSpPr>
        <p:spPr>
          <a:xfrm>
            <a:off x="609600" y="1752600"/>
            <a:ext cx="8229600" cy="5257800"/>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457200" lvl="1" indent="0">
              <a:buFont typeface="Arial"/>
              <a:buNone/>
            </a:pPr>
            <a:endParaRPr lang="es-ES" sz="2400" dirty="0">
              <a:latin typeface="Cambria" panose="02040503050406030204" pitchFamily="18" charset="0"/>
              <a:ea typeface="Cambria" panose="02040503050406030204" pitchFamily="18" charset="0"/>
            </a:endParaRPr>
          </a:p>
        </p:txBody>
      </p:sp>
      <p:pic>
        <p:nvPicPr>
          <p:cNvPr id="5" name="Imagen 4">
            <a:extLst>
              <a:ext uri="{FF2B5EF4-FFF2-40B4-BE49-F238E27FC236}">
                <a16:creationId xmlns:a16="http://schemas.microsoft.com/office/drawing/2014/main" id="{58ED171B-479C-7919-D79D-0F36AA1F0477}"/>
              </a:ext>
            </a:extLst>
          </p:cNvPr>
          <p:cNvPicPr>
            <a:picLocks noChangeAspect="1"/>
          </p:cNvPicPr>
          <p:nvPr/>
        </p:nvPicPr>
        <p:blipFill>
          <a:blip r:embed="rId3"/>
          <a:srcRect t="17368" b="12679"/>
          <a:stretch>
            <a:fillRect/>
          </a:stretch>
        </p:blipFill>
        <p:spPr>
          <a:xfrm>
            <a:off x="4798305" y="480409"/>
            <a:ext cx="4381645" cy="1532544"/>
          </a:xfrm>
          <a:prstGeom prst="rect">
            <a:avLst/>
          </a:prstGeom>
        </p:spPr>
      </p:pic>
      <p:sp>
        <p:nvSpPr>
          <p:cNvPr id="7" name="Elipse 6">
            <a:extLst>
              <a:ext uri="{FF2B5EF4-FFF2-40B4-BE49-F238E27FC236}">
                <a16:creationId xmlns:a16="http://schemas.microsoft.com/office/drawing/2014/main" id="{A601ECB6-E246-CA66-30FD-F4A5B50F2D8C}"/>
              </a:ext>
            </a:extLst>
          </p:cNvPr>
          <p:cNvSpPr/>
          <p:nvPr/>
        </p:nvSpPr>
        <p:spPr bwMode="auto">
          <a:xfrm>
            <a:off x="2773781" y="2871326"/>
            <a:ext cx="613458" cy="571661"/>
          </a:xfrm>
          <a:prstGeom prst="ellipse">
            <a:avLst/>
          </a:prstGeom>
          <a:noFill/>
          <a:ln w="38100"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es-ES" sz="2000" dirty="0">
                <a:solidFill>
                  <a:srgbClr val="002060"/>
                </a:solidFill>
              </a:rPr>
              <a:t>x</a:t>
            </a:r>
            <a:r>
              <a:rPr lang="es-ES" baseline="-25000" dirty="0">
                <a:solidFill>
                  <a:srgbClr val="002060"/>
                </a:solidFill>
              </a:rPr>
              <a:t>1</a:t>
            </a:r>
            <a:endParaRPr kumimoji="0" lang="es-ES" sz="1800" b="1" i="0" u="none" strike="noStrike" cap="none" normalizeH="0" baseline="-25000" dirty="0">
              <a:ln>
                <a:noFill/>
              </a:ln>
              <a:solidFill>
                <a:srgbClr val="002060"/>
              </a:solidFill>
              <a:effectLst/>
              <a:latin typeface="Times New Roman" pitchFamily="18" charset="0"/>
            </a:endParaRPr>
          </a:p>
        </p:txBody>
      </p:sp>
      <p:sp>
        <p:nvSpPr>
          <p:cNvPr id="8" name="Elipse 7">
            <a:extLst>
              <a:ext uri="{FF2B5EF4-FFF2-40B4-BE49-F238E27FC236}">
                <a16:creationId xmlns:a16="http://schemas.microsoft.com/office/drawing/2014/main" id="{8B506DAB-706A-C3C4-7211-84BDED120FFB}"/>
              </a:ext>
            </a:extLst>
          </p:cNvPr>
          <p:cNvSpPr/>
          <p:nvPr/>
        </p:nvSpPr>
        <p:spPr bwMode="auto">
          <a:xfrm>
            <a:off x="2763621" y="4072907"/>
            <a:ext cx="613458" cy="571661"/>
          </a:xfrm>
          <a:prstGeom prst="ellipse">
            <a:avLst/>
          </a:prstGeom>
          <a:noFill/>
          <a:ln w="38100"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es-ES" sz="2000" dirty="0">
                <a:solidFill>
                  <a:srgbClr val="002060"/>
                </a:solidFill>
              </a:rPr>
              <a:t>x</a:t>
            </a:r>
            <a:r>
              <a:rPr lang="es-ES" baseline="-25000" dirty="0">
                <a:solidFill>
                  <a:srgbClr val="002060"/>
                </a:solidFill>
              </a:rPr>
              <a:t>2</a:t>
            </a:r>
            <a:endParaRPr kumimoji="0" lang="es-ES" sz="1800" b="1" i="0" u="none" strike="noStrike" cap="none" normalizeH="0" baseline="-25000" dirty="0">
              <a:ln>
                <a:noFill/>
              </a:ln>
              <a:solidFill>
                <a:srgbClr val="002060"/>
              </a:solidFill>
              <a:effectLst/>
              <a:latin typeface="Times New Roman" pitchFamily="18" charset="0"/>
            </a:endParaRPr>
          </a:p>
        </p:txBody>
      </p:sp>
      <p:sp>
        <p:nvSpPr>
          <p:cNvPr id="10" name="Elipse 9">
            <a:extLst>
              <a:ext uri="{FF2B5EF4-FFF2-40B4-BE49-F238E27FC236}">
                <a16:creationId xmlns:a16="http://schemas.microsoft.com/office/drawing/2014/main" id="{008141D4-3B64-7107-16CE-A4B670F99721}"/>
              </a:ext>
            </a:extLst>
          </p:cNvPr>
          <p:cNvSpPr/>
          <p:nvPr/>
        </p:nvSpPr>
        <p:spPr bwMode="auto">
          <a:xfrm>
            <a:off x="2753461" y="5293521"/>
            <a:ext cx="613458" cy="571661"/>
          </a:xfrm>
          <a:prstGeom prst="ellipse">
            <a:avLst/>
          </a:prstGeom>
          <a:noFill/>
          <a:ln w="38100"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es-ES" sz="2000" dirty="0">
                <a:solidFill>
                  <a:srgbClr val="002060"/>
                </a:solidFill>
              </a:rPr>
              <a:t>x</a:t>
            </a:r>
            <a:r>
              <a:rPr lang="es-ES" baseline="-25000" dirty="0">
                <a:solidFill>
                  <a:srgbClr val="002060"/>
                </a:solidFill>
              </a:rPr>
              <a:t>3</a:t>
            </a:r>
            <a:endParaRPr kumimoji="0" lang="es-ES" sz="1800" b="1" i="0" u="none" strike="noStrike" cap="none" normalizeH="0" baseline="-25000" dirty="0">
              <a:ln>
                <a:noFill/>
              </a:ln>
              <a:solidFill>
                <a:srgbClr val="002060"/>
              </a:solidFill>
              <a:effectLst/>
              <a:latin typeface="Times New Roman" pitchFamily="18" charset="0"/>
            </a:endParaRPr>
          </a:p>
        </p:txBody>
      </p:sp>
      <p:sp>
        <p:nvSpPr>
          <p:cNvPr id="11" name="Elipse 10">
            <a:extLst>
              <a:ext uri="{FF2B5EF4-FFF2-40B4-BE49-F238E27FC236}">
                <a16:creationId xmlns:a16="http://schemas.microsoft.com/office/drawing/2014/main" id="{596B87E7-5639-2E6A-420B-23C7255CB7C2}"/>
              </a:ext>
            </a:extLst>
          </p:cNvPr>
          <p:cNvSpPr/>
          <p:nvPr/>
        </p:nvSpPr>
        <p:spPr bwMode="auto">
          <a:xfrm>
            <a:off x="4798305" y="2871326"/>
            <a:ext cx="613458" cy="571661"/>
          </a:xfrm>
          <a:prstGeom prst="ellipse">
            <a:avLst/>
          </a:prstGeom>
          <a:noFill/>
          <a:ln w="38100"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es-ES" sz="2000" dirty="0">
                <a:solidFill>
                  <a:srgbClr val="002060"/>
                </a:solidFill>
              </a:rPr>
              <a:t>h</a:t>
            </a:r>
            <a:r>
              <a:rPr lang="es-ES" baseline="-25000" dirty="0">
                <a:solidFill>
                  <a:srgbClr val="002060"/>
                </a:solidFill>
              </a:rPr>
              <a:t>1</a:t>
            </a:r>
            <a:endParaRPr kumimoji="0" lang="es-ES" sz="1800" b="1" i="0" u="none" strike="noStrike" cap="none" normalizeH="0" baseline="-25000" dirty="0">
              <a:ln>
                <a:noFill/>
              </a:ln>
              <a:solidFill>
                <a:srgbClr val="002060"/>
              </a:solidFill>
              <a:effectLst/>
              <a:latin typeface="Times New Roman" pitchFamily="18" charset="0"/>
            </a:endParaRPr>
          </a:p>
        </p:txBody>
      </p:sp>
      <p:sp>
        <p:nvSpPr>
          <p:cNvPr id="12" name="Elipse 11">
            <a:extLst>
              <a:ext uri="{FF2B5EF4-FFF2-40B4-BE49-F238E27FC236}">
                <a16:creationId xmlns:a16="http://schemas.microsoft.com/office/drawing/2014/main" id="{8752B38B-219B-790F-4A2B-ADCA4AB954AA}"/>
              </a:ext>
            </a:extLst>
          </p:cNvPr>
          <p:cNvSpPr/>
          <p:nvPr/>
        </p:nvSpPr>
        <p:spPr bwMode="auto">
          <a:xfrm>
            <a:off x="4788145" y="4072907"/>
            <a:ext cx="613458" cy="571661"/>
          </a:xfrm>
          <a:prstGeom prst="ellipse">
            <a:avLst/>
          </a:prstGeom>
          <a:noFill/>
          <a:ln w="38100"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es-ES" sz="2000" dirty="0">
                <a:solidFill>
                  <a:srgbClr val="002060"/>
                </a:solidFill>
              </a:rPr>
              <a:t>h</a:t>
            </a:r>
            <a:r>
              <a:rPr lang="es-ES" baseline="-25000" dirty="0">
                <a:solidFill>
                  <a:srgbClr val="002060"/>
                </a:solidFill>
              </a:rPr>
              <a:t>2</a:t>
            </a:r>
            <a:endParaRPr kumimoji="0" lang="es-ES" sz="1800" b="1" i="0" u="none" strike="noStrike" cap="none" normalizeH="0" baseline="-25000" dirty="0">
              <a:ln>
                <a:noFill/>
              </a:ln>
              <a:solidFill>
                <a:srgbClr val="002060"/>
              </a:solidFill>
              <a:effectLst/>
              <a:latin typeface="Times New Roman" pitchFamily="18" charset="0"/>
            </a:endParaRPr>
          </a:p>
        </p:txBody>
      </p:sp>
      <p:sp>
        <p:nvSpPr>
          <p:cNvPr id="13" name="Elipse 12">
            <a:extLst>
              <a:ext uri="{FF2B5EF4-FFF2-40B4-BE49-F238E27FC236}">
                <a16:creationId xmlns:a16="http://schemas.microsoft.com/office/drawing/2014/main" id="{C5A86539-079E-EE97-25A3-1F5F64F409EE}"/>
              </a:ext>
            </a:extLst>
          </p:cNvPr>
          <p:cNvSpPr/>
          <p:nvPr/>
        </p:nvSpPr>
        <p:spPr bwMode="auto">
          <a:xfrm>
            <a:off x="4777985" y="5293521"/>
            <a:ext cx="613458" cy="571661"/>
          </a:xfrm>
          <a:prstGeom prst="ellipse">
            <a:avLst/>
          </a:prstGeom>
          <a:noFill/>
          <a:ln w="38100"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es-ES" sz="2000" dirty="0">
                <a:solidFill>
                  <a:srgbClr val="002060"/>
                </a:solidFill>
              </a:rPr>
              <a:t>h</a:t>
            </a:r>
            <a:r>
              <a:rPr lang="es-ES" baseline="-25000" dirty="0">
                <a:solidFill>
                  <a:srgbClr val="002060"/>
                </a:solidFill>
              </a:rPr>
              <a:t>3</a:t>
            </a:r>
            <a:endParaRPr kumimoji="0" lang="es-ES" sz="1800" b="1" i="0" u="none" strike="noStrike" cap="none" normalizeH="0" baseline="-25000" dirty="0">
              <a:ln>
                <a:noFill/>
              </a:ln>
              <a:solidFill>
                <a:srgbClr val="002060"/>
              </a:solidFill>
              <a:effectLst/>
              <a:latin typeface="Times New Roman" pitchFamily="18" charset="0"/>
            </a:endParaRPr>
          </a:p>
        </p:txBody>
      </p:sp>
      <p:sp>
        <p:nvSpPr>
          <p:cNvPr id="14" name="Elipse 13">
            <a:extLst>
              <a:ext uri="{FF2B5EF4-FFF2-40B4-BE49-F238E27FC236}">
                <a16:creationId xmlns:a16="http://schemas.microsoft.com/office/drawing/2014/main" id="{71B73AA8-444F-6CEB-6B5C-EC061CC74A3E}"/>
              </a:ext>
            </a:extLst>
          </p:cNvPr>
          <p:cNvSpPr/>
          <p:nvPr/>
        </p:nvSpPr>
        <p:spPr bwMode="auto">
          <a:xfrm>
            <a:off x="6822829" y="2871326"/>
            <a:ext cx="613458" cy="571661"/>
          </a:xfrm>
          <a:prstGeom prst="ellipse">
            <a:avLst/>
          </a:prstGeom>
          <a:noFill/>
          <a:ln w="38100"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es-ES" sz="2000" dirty="0">
                <a:solidFill>
                  <a:srgbClr val="002060"/>
                </a:solidFill>
              </a:rPr>
              <a:t>x</a:t>
            </a:r>
            <a:r>
              <a:rPr lang="es-ES" baseline="-25000" dirty="0">
                <a:solidFill>
                  <a:srgbClr val="002060"/>
                </a:solidFill>
              </a:rPr>
              <a:t>2</a:t>
            </a:r>
            <a:endParaRPr kumimoji="0" lang="es-ES" sz="1800" b="1" i="0" u="none" strike="noStrike" cap="none" normalizeH="0" baseline="-25000" dirty="0">
              <a:ln>
                <a:noFill/>
              </a:ln>
              <a:solidFill>
                <a:srgbClr val="002060"/>
              </a:solidFill>
              <a:effectLst/>
              <a:latin typeface="Times New Roman" pitchFamily="18" charset="0"/>
            </a:endParaRPr>
          </a:p>
        </p:txBody>
      </p:sp>
      <p:sp>
        <p:nvSpPr>
          <p:cNvPr id="15" name="Elipse 14">
            <a:extLst>
              <a:ext uri="{FF2B5EF4-FFF2-40B4-BE49-F238E27FC236}">
                <a16:creationId xmlns:a16="http://schemas.microsoft.com/office/drawing/2014/main" id="{7A64B63B-1EA7-7B3D-2623-8FDA3FC1CC40}"/>
              </a:ext>
            </a:extLst>
          </p:cNvPr>
          <p:cNvSpPr/>
          <p:nvPr/>
        </p:nvSpPr>
        <p:spPr bwMode="auto">
          <a:xfrm>
            <a:off x="6812669" y="4072907"/>
            <a:ext cx="613458" cy="571661"/>
          </a:xfrm>
          <a:prstGeom prst="ellipse">
            <a:avLst/>
          </a:prstGeom>
          <a:noFill/>
          <a:ln w="38100"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es-ES" sz="2000" dirty="0">
                <a:solidFill>
                  <a:srgbClr val="002060"/>
                </a:solidFill>
              </a:rPr>
              <a:t>x</a:t>
            </a:r>
            <a:r>
              <a:rPr lang="es-ES" baseline="-25000" dirty="0">
                <a:solidFill>
                  <a:srgbClr val="002060"/>
                </a:solidFill>
              </a:rPr>
              <a:t>3</a:t>
            </a:r>
            <a:endParaRPr kumimoji="0" lang="es-ES" sz="1800" b="1" i="0" u="none" strike="noStrike" cap="none" normalizeH="0" baseline="-25000" dirty="0">
              <a:ln>
                <a:noFill/>
              </a:ln>
              <a:solidFill>
                <a:srgbClr val="002060"/>
              </a:solidFill>
              <a:effectLst/>
              <a:latin typeface="Times New Roman" pitchFamily="18" charset="0"/>
            </a:endParaRPr>
          </a:p>
        </p:txBody>
      </p:sp>
      <p:sp>
        <p:nvSpPr>
          <p:cNvPr id="16" name="Elipse 15">
            <a:extLst>
              <a:ext uri="{FF2B5EF4-FFF2-40B4-BE49-F238E27FC236}">
                <a16:creationId xmlns:a16="http://schemas.microsoft.com/office/drawing/2014/main" id="{130D2F52-EE6A-61CC-9CD8-87454F9C0D7F}"/>
              </a:ext>
            </a:extLst>
          </p:cNvPr>
          <p:cNvSpPr/>
          <p:nvPr/>
        </p:nvSpPr>
        <p:spPr bwMode="auto">
          <a:xfrm>
            <a:off x="6802509" y="5293521"/>
            <a:ext cx="613458" cy="571661"/>
          </a:xfrm>
          <a:prstGeom prst="ellipse">
            <a:avLst/>
          </a:prstGeom>
          <a:noFill/>
          <a:ln w="38100"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es-ES" sz="2000" dirty="0">
                <a:solidFill>
                  <a:srgbClr val="002060"/>
                </a:solidFill>
              </a:rPr>
              <a:t>x</a:t>
            </a:r>
            <a:r>
              <a:rPr lang="es-ES" baseline="-25000" dirty="0">
                <a:solidFill>
                  <a:srgbClr val="002060"/>
                </a:solidFill>
              </a:rPr>
              <a:t>4</a:t>
            </a:r>
            <a:endParaRPr kumimoji="0" lang="es-ES" sz="1800" b="1" i="0" u="none" strike="noStrike" cap="none" normalizeH="0" baseline="-25000" dirty="0">
              <a:ln>
                <a:noFill/>
              </a:ln>
              <a:solidFill>
                <a:srgbClr val="002060"/>
              </a:solidFill>
              <a:effectLst/>
              <a:latin typeface="Times New Roman" pitchFamily="18" charset="0"/>
            </a:endParaRPr>
          </a:p>
        </p:txBody>
      </p:sp>
      <p:cxnSp>
        <p:nvCxnSpPr>
          <p:cNvPr id="20" name="Conector recto de flecha 19">
            <a:extLst>
              <a:ext uri="{FF2B5EF4-FFF2-40B4-BE49-F238E27FC236}">
                <a16:creationId xmlns:a16="http://schemas.microsoft.com/office/drawing/2014/main" id="{6BCE5CEA-2C06-89E0-B8ED-3E67648CA26D}"/>
              </a:ext>
            </a:extLst>
          </p:cNvPr>
          <p:cNvCxnSpPr>
            <a:stCxn id="7" idx="6"/>
          </p:cNvCxnSpPr>
          <p:nvPr/>
        </p:nvCxnSpPr>
        <p:spPr bwMode="auto">
          <a:xfrm>
            <a:off x="3387239" y="3141252"/>
            <a:ext cx="914400" cy="914400"/>
          </a:xfrm>
          <a:prstGeom prst="straightConnector1">
            <a:avLst/>
          </a:prstGeom>
          <a:solidFill>
            <a:schemeClr val="accent1"/>
          </a:solidFill>
          <a:ln>
            <a:noFill/>
            <a:tailEnd type="triangle"/>
          </a:ln>
          <a:effectLst/>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2" name="Conector recto de flecha 21">
            <a:extLst>
              <a:ext uri="{FF2B5EF4-FFF2-40B4-BE49-F238E27FC236}">
                <a16:creationId xmlns:a16="http://schemas.microsoft.com/office/drawing/2014/main" id="{CE0681D7-E8FC-886C-8AFE-46AF502C9277}"/>
              </a:ext>
            </a:extLst>
          </p:cNvPr>
          <p:cNvCxnSpPr>
            <a:stCxn id="11" idx="2"/>
          </p:cNvCxnSpPr>
          <p:nvPr/>
        </p:nvCxnSpPr>
        <p:spPr bwMode="auto">
          <a:xfrm>
            <a:off x="4711657" y="3141252"/>
            <a:ext cx="914400" cy="914400"/>
          </a:xfrm>
          <a:prstGeom prst="straightConnector1">
            <a:avLst/>
          </a:prstGeom>
          <a:solidFill>
            <a:schemeClr val="accent1"/>
          </a:solidFill>
          <a:ln>
            <a:noFill/>
            <a:tailEnd type="triangle"/>
          </a:ln>
          <a:effectLst/>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4" name="Conector recto de flecha 23">
            <a:extLst>
              <a:ext uri="{FF2B5EF4-FFF2-40B4-BE49-F238E27FC236}">
                <a16:creationId xmlns:a16="http://schemas.microsoft.com/office/drawing/2014/main" id="{E27B848E-F9FB-0AA7-6E31-B5FEC30C46E8}"/>
              </a:ext>
            </a:extLst>
          </p:cNvPr>
          <p:cNvCxnSpPr>
            <a:stCxn id="7" idx="6"/>
            <a:endCxn id="7" idx="6"/>
          </p:cNvCxnSpPr>
          <p:nvPr/>
        </p:nvCxnSpPr>
        <p:spPr bwMode="auto">
          <a:xfrm>
            <a:off x="3387239" y="3157157"/>
            <a:ext cx="0" cy="0"/>
          </a:xfrm>
          <a:prstGeom prst="straightConnector1">
            <a:avLst/>
          </a:prstGeom>
          <a:solidFill>
            <a:schemeClr val="accent1"/>
          </a:solidFill>
          <a:ln>
            <a:noFill/>
            <a:tailEnd type="triangle"/>
          </a:ln>
          <a:effectLst/>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7" name="Conector recto de flecha 26">
            <a:extLst>
              <a:ext uri="{FF2B5EF4-FFF2-40B4-BE49-F238E27FC236}">
                <a16:creationId xmlns:a16="http://schemas.microsoft.com/office/drawing/2014/main" id="{4D4C07E1-CE2A-6BDC-E3CD-A698B63EAABF}"/>
              </a:ext>
            </a:extLst>
          </p:cNvPr>
          <p:cNvCxnSpPr>
            <a:stCxn id="7" idx="6"/>
          </p:cNvCxnSpPr>
          <p:nvPr/>
        </p:nvCxnSpPr>
        <p:spPr bwMode="auto">
          <a:xfrm>
            <a:off x="3387239" y="3157157"/>
            <a:ext cx="1324418" cy="0"/>
          </a:xfrm>
          <a:prstGeom prst="straightConnector1">
            <a:avLst/>
          </a:prstGeom>
          <a:solidFill>
            <a:schemeClr val="accent1"/>
          </a:solidFill>
          <a:ln>
            <a:noFill/>
            <a:tailEnd type="triangle"/>
          </a:ln>
          <a:effectLst/>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9" name="Conector recto de flecha 28">
            <a:extLst>
              <a:ext uri="{FF2B5EF4-FFF2-40B4-BE49-F238E27FC236}">
                <a16:creationId xmlns:a16="http://schemas.microsoft.com/office/drawing/2014/main" id="{E3C62280-399E-6740-A5CE-4E8CE4EC53E2}"/>
              </a:ext>
            </a:extLst>
          </p:cNvPr>
          <p:cNvCxnSpPr>
            <a:stCxn id="7" idx="6"/>
            <a:endCxn id="11" idx="2"/>
          </p:cNvCxnSpPr>
          <p:nvPr/>
        </p:nvCxnSpPr>
        <p:spPr bwMode="auto">
          <a:xfrm>
            <a:off x="3387239" y="3157157"/>
            <a:ext cx="1411066" cy="0"/>
          </a:xfrm>
          <a:prstGeom prst="straightConnector1">
            <a:avLst/>
          </a:prstGeom>
          <a:ln w="38100" cap="flat" cmpd="sng" algn="ctr">
            <a:solidFill>
              <a:srgbClr val="7030A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2" name="Conector recto de flecha 31">
            <a:extLst>
              <a:ext uri="{FF2B5EF4-FFF2-40B4-BE49-F238E27FC236}">
                <a16:creationId xmlns:a16="http://schemas.microsoft.com/office/drawing/2014/main" id="{C816C93C-9ECD-8826-9069-89CEFF138705}"/>
              </a:ext>
            </a:extLst>
          </p:cNvPr>
          <p:cNvCxnSpPr/>
          <p:nvPr/>
        </p:nvCxnSpPr>
        <p:spPr bwMode="auto">
          <a:xfrm>
            <a:off x="5407905" y="3157157"/>
            <a:ext cx="1411066" cy="0"/>
          </a:xfrm>
          <a:prstGeom prst="straightConnector1">
            <a:avLst/>
          </a:prstGeom>
          <a:ln w="38100" cap="flat" cmpd="sng" algn="ctr">
            <a:solidFill>
              <a:srgbClr val="7030A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3" name="Conector recto de flecha 32">
            <a:extLst>
              <a:ext uri="{FF2B5EF4-FFF2-40B4-BE49-F238E27FC236}">
                <a16:creationId xmlns:a16="http://schemas.microsoft.com/office/drawing/2014/main" id="{28C9126C-319B-84F2-2D2C-F7EE680AA9D8}"/>
              </a:ext>
            </a:extLst>
          </p:cNvPr>
          <p:cNvCxnSpPr/>
          <p:nvPr/>
        </p:nvCxnSpPr>
        <p:spPr bwMode="auto">
          <a:xfrm>
            <a:off x="3377079" y="4358737"/>
            <a:ext cx="1411066" cy="0"/>
          </a:xfrm>
          <a:prstGeom prst="straightConnector1">
            <a:avLst/>
          </a:prstGeom>
          <a:ln w="38100" cap="flat" cmpd="sng" algn="ctr">
            <a:solidFill>
              <a:srgbClr val="7030A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4" name="Conector recto de flecha 33">
            <a:extLst>
              <a:ext uri="{FF2B5EF4-FFF2-40B4-BE49-F238E27FC236}">
                <a16:creationId xmlns:a16="http://schemas.microsoft.com/office/drawing/2014/main" id="{71683464-A0A4-51DA-E047-1BBE02643C19}"/>
              </a:ext>
            </a:extLst>
          </p:cNvPr>
          <p:cNvCxnSpPr/>
          <p:nvPr/>
        </p:nvCxnSpPr>
        <p:spPr bwMode="auto">
          <a:xfrm>
            <a:off x="5387585" y="5579351"/>
            <a:ext cx="1411066" cy="0"/>
          </a:xfrm>
          <a:prstGeom prst="straightConnector1">
            <a:avLst/>
          </a:prstGeom>
          <a:ln w="38100" cap="flat" cmpd="sng" algn="ctr">
            <a:solidFill>
              <a:srgbClr val="7030A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5" name="Conector recto de flecha 34">
            <a:extLst>
              <a:ext uri="{FF2B5EF4-FFF2-40B4-BE49-F238E27FC236}">
                <a16:creationId xmlns:a16="http://schemas.microsoft.com/office/drawing/2014/main" id="{BB09835C-C086-C675-CCF7-B62B83895008}"/>
              </a:ext>
            </a:extLst>
          </p:cNvPr>
          <p:cNvCxnSpPr/>
          <p:nvPr/>
        </p:nvCxnSpPr>
        <p:spPr bwMode="auto">
          <a:xfrm>
            <a:off x="3366919" y="5579351"/>
            <a:ext cx="1411066" cy="0"/>
          </a:xfrm>
          <a:prstGeom prst="straightConnector1">
            <a:avLst/>
          </a:prstGeom>
          <a:ln w="38100" cap="flat" cmpd="sng" algn="ctr">
            <a:solidFill>
              <a:srgbClr val="7030A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6" name="Conector recto de flecha 35">
            <a:extLst>
              <a:ext uri="{FF2B5EF4-FFF2-40B4-BE49-F238E27FC236}">
                <a16:creationId xmlns:a16="http://schemas.microsoft.com/office/drawing/2014/main" id="{4CD2B25F-C51F-0284-0E08-BFAD8EF7DA4E}"/>
              </a:ext>
            </a:extLst>
          </p:cNvPr>
          <p:cNvCxnSpPr/>
          <p:nvPr/>
        </p:nvCxnSpPr>
        <p:spPr bwMode="auto">
          <a:xfrm>
            <a:off x="5401603" y="4358737"/>
            <a:ext cx="1411066" cy="0"/>
          </a:xfrm>
          <a:prstGeom prst="straightConnector1">
            <a:avLst/>
          </a:prstGeom>
          <a:ln w="38100" cap="flat" cmpd="sng" algn="ctr">
            <a:solidFill>
              <a:srgbClr val="7030A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7" name="Conector recto de flecha 36">
            <a:extLst>
              <a:ext uri="{FF2B5EF4-FFF2-40B4-BE49-F238E27FC236}">
                <a16:creationId xmlns:a16="http://schemas.microsoft.com/office/drawing/2014/main" id="{28C9126C-319B-84F2-2D2C-F7EE680AA9D8}"/>
              </a:ext>
            </a:extLst>
          </p:cNvPr>
          <p:cNvCxnSpPr>
            <a:cxnSpLocks/>
            <a:stCxn id="11" idx="4"/>
            <a:endCxn id="12" idx="0"/>
          </p:cNvCxnSpPr>
          <p:nvPr/>
        </p:nvCxnSpPr>
        <p:spPr bwMode="auto">
          <a:xfrm flipH="1">
            <a:off x="5094874" y="3442987"/>
            <a:ext cx="10160" cy="629920"/>
          </a:xfrm>
          <a:prstGeom prst="straightConnector1">
            <a:avLst/>
          </a:prstGeom>
          <a:ln w="38100" cap="flat" cmpd="sng" algn="ctr">
            <a:solidFill>
              <a:srgbClr val="7030A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0" name="Conector recto de flecha 39">
            <a:extLst>
              <a:ext uri="{FF2B5EF4-FFF2-40B4-BE49-F238E27FC236}">
                <a16:creationId xmlns:a16="http://schemas.microsoft.com/office/drawing/2014/main" id="{0EE11387-89F7-6441-B55D-BA27C081D32C}"/>
              </a:ext>
            </a:extLst>
          </p:cNvPr>
          <p:cNvCxnSpPr>
            <a:cxnSpLocks/>
          </p:cNvCxnSpPr>
          <p:nvPr/>
        </p:nvCxnSpPr>
        <p:spPr bwMode="auto">
          <a:xfrm>
            <a:off x="5088153" y="4644568"/>
            <a:ext cx="0" cy="629920"/>
          </a:xfrm>
          <a:prstGeom prst="straightConnector1">
            <a:avLst/>
          </a:prstGeom>
          <a:ln w="38100" cap="flat" cmpd="sng" algn="ctr">
            <a:solidFill>
              <a:srgbClr val="7030A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476657967"/>
      </p:ext>
    </p:extLst>
  </p:cSld>
  <p:clrMapOvr>
    <a:masterClrMapping/>
  </p:clrMapOvr>
  <p:transition>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36580-DB67-3FA6-497F-8F483F2DB9F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8A6EA89-34F6-F2A8-E37F-53F21E701D53}"/>
                  </a:ext>
                </a:extLst>
              </p:cNvPr>
              <p:cNvSpPr>
                <a:spLocks noGrp="1"/>
              </p:cNvSpPr>
              <p:nvPr>
                <p:ph idx="1"/>
              </p:nvPr>
            </p:nvSpPr>
            <p:spPr>
              <a:xfrm>
                <a:off x="457200" y="992818"/>
                <a:ext cx="8229600" cy="5257800"/>
              </a:xfrm>
            </p:spPr>
            <p:txBody>
              <a:bodyPr>
                <a:noAutofit/>
              </a:bodyPr>
              <a:lstStyle/>
              <a:p>
                <a:pPr marL="0" indent="0">
                  <a:buNone/>
                </a:pPr>
                <a:r>
                  <a:rPr lang="es-ES" b="1" dirty="0"/>
                  <a:t>Representación numérica</a:t>
                </a:r>
              </a:p>
              <a:p>
                <a:pPr marL="0" indent="0">
                  <a:buNone/>
                </a:pPr>
                <a:r>
                  <a:rPr lang="es-ES" dirty="0"/>
                  <a:t>Cada carácter se codifica como número o vector:</a:t>
                </a:r>
              </a:p>
              <a:p>
                <a:r>
                  <a:rPr lang="es-ES" dirty="0"/>
                  <a:t>h → x₁				</a:t>
                </a:r>
              </a:p>
              <a:p>
                <a:r>
                  <a:rPr lang="es-ES" dirty="0"/>
                  <a:t>o → x₂				</a:t>
                </a:r>
                <a:r>
                  <a:rPr lang="es-ES" sz="1400" dirty="0"/>
                  <a:t>Los pesos son los mismos en cada paso</a:t>
                </a:r>
                <a:endParaRPr lang="es-ES" dirty="0"/>
              </a:p>
              <a:p>
                <a:r>
                  <a:rPr lang="es-ES" dirty="0"/>
                  <a:t>l → x₃</a:t>
                </a:r>
              </a:p>
              <a:p>
                <a:r>
                  <a:rPr lang="es-ES" dirty="0"/>
                  <a:t>a → x₄ (etiqueta)</a:t>
                </a:r>
              </a:p>
              <a:p>
                <a:pPr marL="0" indent="0">
                  <a:buNone/>
                </a:pPr>
                <a:r>
                  <a:rPr lang="es-ES" dirty="0"/>
                  <a:t>Modelo:</a:t>
                </a:r>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a:latin typeface="Cambria Math" panose="02040503050406030204" pitchFamily="18" charset="0"/>
                          </a:rPr>
                          <m:t>1</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a:latin typeface="Cambria Math" panose="02040503050406030204" pitchFamily="18" charset="0"/>
                          </a:rPr>
                          <m:t>2</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a:latin typeface="Cambria Math" panose="02040503050406030204" pitchFamily="18" charset="0"/>
                          </a:rPr>
                          <m:t>3</m:t>
                        </m:r>
                      </m:sub>
                    </m:sSub>
                    <m:r>
                      <a:rPr lang="ar-AE">
                        <a:latin typeface="Cambria Math" panose="02040503050406030204" pitchFamily="18" charset="0"/>
                      </a:rPr>
                      <m:t>→</m:t>
                    </m:r>
                    <m:sSub>
                      <m:sSubPr>
                        <m:ctrlPr>
                          <a:rPr lang="ar-AE" i="1">
                            <a:latin typeface="Cambria Math" panose="02040503050406030204" pitchFamily="18" charset="0"/>
                          </a:rPr>
                        </m:ctrlPr>
                      </m:sSubPr>
                      <m:e>
                        <m:acc>
                          <m:accPr>
                            <m:chr m:val="̂"/>
                            <m:ctrlPr>
                              <a:rPr lang="ar-AE" i="1">
                                <a:latin typeface="Cambria Math" panose="02040503050406030204" pitchFamily="18" charset="0"/>
                              </a:rPr>
                            </m:ctrlPr>
                          </m:accPr>
                          <m:e>
                            <m:r>
                              <a:rPr lang="ar-AE" i="1">
                                <a:latin typeface="Cambria Math" panose="02040503050406030204" pitchFamily="18" charset="0"/>
                              </a:rPr>
                              <m:t>𝑥</m:t>
                            </m:r>
                          </m:e>
                        </m:acc>
                      </m:e>
                      <m:sub>
                        <m:r>
                          <a:rPr lang="ar-AE">
                            <a:latin typeface="Cambria Math" panose="02040503050406030204" pitchFamily="18" charset="0"/>
                          </a:rPr>
                          <m:t>4</m:t>
                        </m:r>
                      </m:sub>
                    </m:sSub>
                  </m:oMath>
                </a14:m>
                <a:endParaRPr lang="es-ES" dirty="0"/>
              </a:p>
              <a:p>
                <a:endParaRPr lang="es-ES" dirty="0"/>
              </a:p>
              <a:p>
                <a:endParaRPr lang="es-ES" dirty="0"/>
              </a:p>
              <a:p>
                <a:endParaRPr lang="es-ES" dirty="0"/>
              </a:p>
              <a:p>
                <a:endParaRPr lang="es-ES" dirty="0"/>
              </a:p>
              <a:p>
                <a:r>
                  <a:rPr lang="es-ES" sz="2000" b="1" dirty="0"/>
                  <a:t>Objetivo: </a:t>
                </a:r>
                <a:r>
                  <a:rPr lang="es-ES" sz="2000" dirty="0"/>
                  <a:t>Predecir el siguiente carácter → a</a:t>
                </a:r>
              </a:p>
              <a:p>
                <a:pPr marL="0" indent="0">
                  <a:buNone/>
                </a:pPr>
                <a:endParaRPr lang="ar-AE" dirty="0"/>
              </a:p>
              <a:p>
                <a:pPr lvl="1"/>
                <a:endParaRPr lang="en-US" dirty="0">
                  <a:latin typeface="Cambria" panose="02040503050406030204" pitchFamily="18" charset="0"/>
                  <a:ea typeface="Cambria" panose="02040503050406030204" pitchFamily="18" charset="0"/>
                </a:endParaRPr>
              </a:p>
            </p:txBody>
          </p:sp>
        </mc:Choice>
        <mc:Fallback xmlns="">
          <p:sp>
            <p:nvSpPr>
              <p:cNvPr id="3" name="Content Placeholder 2">
                <a:extLst>
                  <a:ext uri="{FF2B5EF4-FFF2-40B4-BE49-F238E27FC236}">
                    <a16:creationId xmlns:a16="http://schemas.microsoft.com/office/drawing/2014/main" id="{08A6EA89-34F6-F2A8-E37F-53F21E701D53}"/>
                  </a:ext>
                </a:extLst>
              </p:cNvPr>
              <p:cNvSpPr>
                <a:spLocks noGrp="1" noRot="1" noChangeAspect="1" noMove="1" noResize="1" noEditPoints="1" noAdjustHandles="1" noChangeArrowheads="1" noChangeShapeType="1" noTextEdit="1"/>
              </p:cNvSpPr>
              <p:nvPr>
                <p:ph idx="1"/>
              </p:nvPr>
            </p:nvSpPr>
            <p:spPr>
              <a:xfrm>
                <a:off x="457200" y="992818"/>
                <a:ext cx="8229600" cy="5257800"/>
              </a:xfrm>
              <a:blipFill>
                <a:blip r:embed="rId3"/>
                <a:stretch>
                  <a:fillRect l="-1111" t="-928" b="-9745"/>
                </a:stretch>
              </a:blipFill>
            </p:spPr>
            <p:txBody>
              <a:bodyPr/>
              <a:lstStyle/>
              <a:p>
                <a:r>
                  <a:rPr lang="es-ES">
                    <a:noFill/>
                  </a:rPr>
                  <a:t> </a:t>
                </a:r>
              </a:p>
            </p:txBody>
          </p:sp>
        </mc:Fallback>
      </mc:AlternateContent>
      <p:sp>
        <p:nvSpPr>
          <p:cNvPr id="2" name="Title 1">
            <a:extLst>
              <a:ext uri="{FF2B5EF4-FFF2-40B4-BE49-F238E27FC236}">
                <a16:creationId xmlns:a16="http://schemas.microsoft.com/office/drawing/2014/main" id="{CF6FF65B-DCB5-680A-AF29-0CD2E64A5F99}"/>
              </a:ext>
            </a:extLst>
          </p:cNvPr>
          <p:cNvSpPr>
            <a:spLocks noGrp="1"/>
          </p:cNvSpPr>
          <p:nvPr>
            <p:ph type="title"/>
          </p:nvPr>
        </p:nvSpPr>
        <p:spPr/>
        <p:txBody>
          <a:bodyPr>
            <a:normAutofit/>
          </a:bodyPr>
          <a:lstStyle/>
          <a:p>
            <a:r>
              <a:rPr lang="es-ES" dirty="0"/>
              <a:t>RNN </a:t>
            </a:r>
            <a:r>
              <a:rPr dirty="0"/>
              <a:t>ejemplo</a:t>
            </a:r>
          </a:p>
        </p:txBody>
      </p:sp>
      <p:sp>
        <p:nvSpPr>
          <p:cNvPr id="9" name="Content Placeholder 2">
            <a:extLst>
              <a:ext uri="{FF2B5EF4-FFF2-40B4-BE49-F238E27FC236}">
                <a16:creationId xmlns:a16="http://schemas.microsoft.com/office/drawing/2014/main" id="{C3101D54-4509-A653-C367-CEDDCA916344}"/>
              </a:ext>
            </a:extLst>
          </p:cNvPr>
          <p:cNvSpPr txBox="1">
            <a:spLocks/>
          </p:cNvSpPr>
          <p:nvPr/>
        </p:nvSpPr>
        <p:spPr>
          <a:xfrm>
            <a:off x="609600" y="1752600"/>
            <a:ext cx="8229600" cy="5257800"/>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457200" lvl="1" indent="0">
              <a:buFont typeface="Arial"/>
              <a:buNone/>
            </a:pPr>
            <a:endParaRPr lang="es-ES" sz="2400" dirty="0">
              <a:latin typeface="Cambria" panose="02040503050406030204" pitchFamily="18" charset="0"/>
              <a:ea typeface="Cambria" panose="02040503050406030204" pitchFamily="18" charset="0"/>
            </a:endParaRPr>
          </a:p>
        </p:txBody>
      </p:sp>
      <p:sp>
        <p:nvSpPr>
          <p:cNvPr id="7" name="Elipse 6">
            <a:extLst>
              <a:ext uri="{FF2B5EF4-FFF2-40B4-BE49-F238E27FC236}">
                <a16:creationId xmlns:a16="http://schemas.microsoft.com/office/drawing/2014/main" id="{4CC1344F-D95A-6C28-47D4-DB4E811B2F88}"/>
              </a:ext>
            </a:extLst>
          </p:cNvPr>
          <p:cNvSpPr/>
          <p:nvPr/>
        </p:nvSpPr>
        <p:spPr bwMode="auto">
          <a:xfrm>
            <a:off x="3930241" y="2871326"/>
            <a:ext cx="613458" cy="571661"/>
          </a:xfrm>
          <a:prstGeom prst="ellipse">
            <a:avLst/>
          </a:prstGeom>
          <a:noFill/>
          <a:ln w="38100"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es-ES" sz="2000" dirty="0">
                <a:solidFill>
                  <a:srgbClr val="002060"/>
                </a:solidFill>
              </a:rPr>
              <a:t>x</a:t>
            </a:r>
            <a:r>
              <a:rPr lang="es-ES" baseline="-25000" dirty="0">
                <a:solidFill>
                  <a:srgbClr val="002060"/>
                </a:solidFill>
              </a:rPr>
              <a:t>1</a:t>
            </a:r>
            <a:endParaRPr kumimoji="0" lang="es-ES" sz="1800" b="1" i="0" u="none" strike="noStrike" cap="none" normalizeH="0" baseline="-25000" dirty="0">
              <a:ln>
                <a:noFill/>
              </a:ln>
              <a:solidFill>
                <a:srgbClr val="002060"/>
              </a:solidFill>
              <a:effectLst/>
              <a:latin typeface="Times New Roman" pitchFamily="18" charset="0"/>
            </a:endParaRPr>
          </a:p>
        </p:txBody>
      </p:sp>
      <p:sp>
        <p:nvSpPr>
          <p:cNvPr id="8" name="Elipse 7">
            <a:extLst>
              <a:ext uri="{FF2B5EF4-FFF2-40B4-BE49-F238E27FC236}">
                <a16:creationId xmlns:a16="http://schemas.microsoft.com/office/drawing/2014/main" id="{D1A24E55-C395-C38E-3114-643B3FDE6C6E}"/>
              </a:ext>
            </a:extLst>
          </p:cNvPr>
          <p:cNvSpPr/>
          <p:nvPr/>
        </p:nvSpPr>
        <p:spPr bwMode="auto">
          <a:xfrm>
            <a:off x="3920081" y="4072907"/>
            <a:ext cx="613458" cy="571661"/>
          </a:xfrm>
          <a:prstGeom prst="ellipse">
            <a:avLst/>
          </a:prstGeom>
          <a:noFill/>
          <a:ln w="38100"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es-ES" sz="2000" dirty="0">
                <a:solidFill>
                  <a:srgbClr val="002060"/>
                </a:solidFill>
              </a:rPr>
              <a:t>x</a:t>
            </a:r>
            <a:r>
              <a:rPr lang="es-ES" baseline="-25000" dirty="0">
                <a:solidFill>
                  <a:srgbClr val="002060"/>
                </a:solidFill>
              </a:rPr>
              <a:t>2</a:t>
            </a:r>
            <a:endParaRPr kumimoji="0" lang="es-ES" sz="1800" b="1" i="0" u="none" strike="noStrike" cap="none" normalizeH="0" baseline="-25000" dirty="0">
              <a:ln>
                <a:noFill/>
              </a:ln>
              <a:solidFill>
                <a:srgbClr val="002060"/>
              </a:solidFill>
              <a:effectLst/>
              <a:latin typeface="Times New Roman" pitchFamily="18" charset="0"/>
            </a:endParaRPr>
          </a:p>
        </p:txBody>
      </p:sp>
      <p:sp>
        <p:nvSpPr>
          <p:cNvPr id="10" name="Elipse 9">
            <a:extLst>
              <a:ext uri="{FF2B5EF4-FFF2-40B4-BE49-F238E27FC236}">
                <a16:creationId xmlns:a16="http://schemas.microsoft.com/office/drawing/2014/main" id="{83EBC8BF-183F-3109-94D0-F65722940842}"/>
              </a:ext>
            </a:extLst>
          </p:cNvPr>
          <p:cNvSpPr/>
          <p:nvPr/>
        </p:nvSpPr>
        <p:spPr bwMode="auto">
          <a:xfrm>
            <a:off x="3909921" y="5293521"/>
            <a:ext cx="613458" cy="571661"/>
          </a:xfrm>
          <a:prstGeom prst="ellipse">
            <a:avLst/>
          </a:prstGeom>
          <a:noFill/>
          <a:ln w="38100"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es-ES" sz="2000" dirty="0">
                <a:solidFill>
                  <a:srgbClr val="002060"/>
                </a:solidFill>
              </a:rPr>
              <a:t>x</a:t>
            </a:r>
            <a:r>
              <a:rPr lang="es-ES" baseline="-25000" dirty="0">
                <a:solidFill>
                  <a:srgbClr val="002060"/>
                </a:solidFill>
              </a:rPr>
              <a:t>3</a:t>
            </a:r>
            <a:endParaRPr kumimoji="0" lang="es-ES" sz="1800" b="1" i="0" u="none" strike="noStrike" cap="none" normalizeH="0" baseline="-25000" dirty="0">
              <a:ln>
                <a:noFill/>
              </a:ln>
              <a:solidFill>
                <a:srgbClr val="002060"/>
              </a:solidFill>
              <a:effectLst/>
              <a:latin typeface="Times New Roman" pitchFamily="18" charset="0"/>
            </a:endParaRPr>
          </a:p>
        </p:txBody>
      </p:sp>
      <p:sp>
        <p:nvSpPr>
          <p:cNvPr id="11" name="Elipse 10">
            <a:extLst>
              <a:ext uri="{FF2B5EF4-FFF2-40B4-BE49-F238E27FC236}">
                <a16:creationId xmlns:a16="http://schemas.microsoft.com/office/drawing/2014/main" id="{E6A44FAC-0459-205C-6E6D-D4F9C670FA69}"/>
              </a:ext>
            </a:extLst>
          </p:cNvPr>
          <p:cNvSpPr/>
          <p:nvPr/>
        </p:nvSpPr>
        <p:spPr bwMode="auto">
          <a:xfrm>
            <a:off x="5954765" y="2871326"/>
            <a:ext cx="613458" cy="571661"/>
          </a:xfrm>
          <a:prstGeom prst="ellipse">
            <a:avLst/>
          </a:prstGeom>
          <a:noFill/>
          <a:ln w="38100"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es-ES" sz="2000" dirty="0">
                <a:solidFill>
                  <a:srgbClr val="002060"/>
                </a:solidFill>
              </a:rPr>
              <a:t>h</a:t>
            </a:r>
            <a:r>
              <a:rPr lang="es-ES" baseline="-25000" dirty="0">
                <a:solidFill>
                  <a:srgbClr val="002060"/>
                </a:solidFill>
              </a:rPr>
              <a:t>1</a:t>
            </a:r>
            <a:endParaRPr kumimoji="0" lang="es-ES" sz="1800" b="1" i="0" u="none" strike="noStrike" cap="none" normalizeH="0" baseline="-25000" dirty="0">
              <a:ln>
                <a:noFill/>
              </a:ln>
              <a:solidFill>
                <a:srgbClr val="002060"/>
              </a:solidFill>
              <a:effectLst/>
              <a:latin typeface="Times New Roman" pitchFamily="18" charset="0"/>
            </a:endParaRPr>
          </a:p>
        </p:txBody>
      </p:sp>
      <p:sp>
        <p:nvSpPr>
          <p:cNvPr id="12" name="Elipse 11">
            <a:extLst>
              <a:ext uri="{FF2B5EF4-FFF2-40B4-BE49-F238E27FC236}">
                <a16:creationId xmlns:a16="http://schemas.microsoft.com/office/drawing/2014/main" id="{B4DA37A4-FB66-0A4B-DDBE-070CE915BECF}"/>
              </a:ext>
            </a:extLst>
          </p:cNvPr>
          <p:cNvSpPr/>
          <p:nvPr/>
        </p:nvSpPr>
        <p:spPr bwMode="auto">
          <a:xfrm>
            <a:off x="5944605" y="4072907"/>
            <a:ext cx="613458" cy="571661"/>
          </a:xfrm>
          <a:prstGeom prst="ellipse">
            <a:avLst/>
          </a:prstGeom>
          <a:noFill/>
          <a:ln w="38100"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es-ES" sz="2000" dirty="0">
                <a:solidFill>
                  <a:srgbClr val="002060"/>
                </a:solidFill>
              </a:rPr>
              <a:t>h</a:t>
            </a:r>
            <a:r>
              <a:rPr lang="es-ES" baseline="-25000" dirty="0">
                <a:solidFill>
                  <a:srgbClr val="002060"/>
                </a:solidFill>
              </a:rPr>
              <a:t>2</a:t>
            </a:r>
            <a:endParaRPr kumimoji="0" lang="es-ES" sz="1800" b="1" i="0" u="none" strike="noStrike" cap="none" normalizeH="0" baseline="-25000" dirty="0">
              <a:ln>
                <a:noFill/>
              </a:ln>
              <a:solidFill>
                <a:srgbClr val="002060"/>
              </a:solidFill>
              <a:effectLst/>
              <a:latin typeface="Times New Roman" pitchFamily="18" charset="0"/>
            </a:endParaRPr>
          </a:p>
        </p:txBody>
      </p:sp>
      <p:sp>
        <p:nvSpPr>
          <p:cNvPr id="13" name="Elipse 12">
            <a:extLst>
              <a:ext uri="{FF2B5EF4-FFF2-40B4-BE49-F238E27FC236}">
                <a16:creationId xmlns:a16="http://schemas.microsoft.com/office/drawing/2014/main" id="{F6640F1F-5172-142D-898C-EF7F5478563D}"/>
              </a:ext>
            </a:extLst>
          </p:cNvPr>
          <p:cNvSpPr/>
          <p:nvPr/>
        </p:nvSpPr>
        <p:spPr bwMode="auto">
          <a:xfrm>
            <a:off x="5934445" y="5293521"/>
            <a:ext cx="613458" cy="571661"/>
          </a:xfrm>
          <a:prstGeom prst="ellipse">
            <a:avLst/>
          </a:prstGeom>
          <a:noFill/>
          <a:ln w="38100"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es-ES" sz="2000" dirty="0">
                <a:solidFill>
                  <a:srgbClr val="002060"/>
                </a:solidFill>
              </a:rPr>
              <a:t>h</a:t>
            </a:r>
            <a:r>
              <a:rPr lang="es-ES" baseline="-25000" dirty="0">
                <a:solidFill>
                  <a:srgbClr val="002060"/>
                </a:solidFill>
              </a:rPr>
              <a:t>3</a:t>
            </a:r>
            <a:endParaRPr kumimoji="0" lang="es-ES" sz="1800" b="1" i="0" u="none" strike="noStrike" cap="none" normalizeH="0" baseline="-25000" dirty="0">
              <a:ln>
                <a:noFill/>
              </a:ln>
              <a:solidFill>
                <a:srgbClr val="002060"/>
              </a:solidFill>
              <a:effectLst/>
              <a:latin typeface="Times New Roman" pitchFamily="18" charset="0"/>
            </a:endParaRPr>
          </a:p>
        </p:txBody>
      </p:sp>
      <p:sp>
        <p:nvSpPr>
          <p:cNvPr id="14" name="Elipse 13">
            <a:extLst>
              <a:ext uri="{FF2B5EF4-FFF2-40B4-BE49-F238E27FC236}">
                <a16:creationId xmlns:a16="http://schemas.microsoft.com/office/drawing/2014/main" id="{D6F049C2-394E-41C2-B036-D22DAD171E55}"/>
              </a:ext>
            </a:extLst>
          </p:cNvPr>
          <p:cNvSpPr/>
          <p:nvPr/>
        </p:nvSpPr>
        <p:spPr bwMode="auto">
          <a:xfrm>
            <a:off x="7979289" y="2871326"/>
            <a:ext cx="613458" cy="571661"/>
          </a:xfrm>
          <a:prstGeom prst="ellipse">
            <a:avLst/>
          </a:prstGeom>
          <a:noFill/>
          <a:ln w="38100"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es-ES" sz="2000" dirty="0">
                <a:solidFill>
                  <a:srgbClr val="002060"/>
                </a:solidFill>
              </a:rPr>
              <a:t>x</a:t>
            </a:r>
            <a:r>
              <a:rPr lang="es-ES" baseline="-25000" dirty="0">
                <a:solidFill>
                  <a:srgbClr val="002060"/>
                </a:solidFill>
              </a:rPr>
              <a:t>2</a:t>
            </a:r>
            <a:endParaRPr kumimoji="0" lang="es-ES" sz="1800" b="1" i="0" u="none" strike="noStrike" cap="none" normalizeH="0" baseline="-25000" dirty="0">
              <a:ln>
                <a:noFill/>
              </a:ln>
              <a:solidFill>
                <a:srgbClr val="002060"/>
              </a:solidFill>
              <a:effectLst/>
              <a:latin typeface="Times New Roman" pitchFamily="18" charset="0"/>
            </a:endParaRPr>
          </a:p>
        </p:txBody>
      </p:sp>
      <p:sp>
        <p:nvSpPr>
          <p:cNvPr id="15" name="Elipse 14">
            <a:extLst>
              <a:ext uri="{FF2B5EF4-FFF2-40B4-BE49-F238E27FC236}">
                <a16:creationId xmlns:a16="http://schemas.microsoft.com/office/drawing/2014/main" id="{A5599CD8-DC6C-1ADE-F09F-C99DCC0126E4}"/>
              </a:ext>
            </a:extLst>
          </p:cNvPr>
          <p:cNvSpPr/>
          <p:nvPr/>
        </p:nvSpPr>
        <p:spPr bwMode="auto">
          <a:xfrm>
            <a:off x="7969129" y="4072907"/>
            <a:ext cx="613458" cy="571661"/>
          </a:xfrm>
          <a:prstGeom prst="ellipse">
            <a:avLst/>
          </a:prstGeom>
          <a:noFill/>
          <a:ln w="38100"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es-ES" sz="2000" dirty="0">
                <a:solidFill>
                  <a:srgbClr val="002060"/>
                </a:solidFill>
              </a:rPr>
              <a:t>x</a:t>
            </a:r>
            <a:r>
              <a:rPr lang="es-ES" baseline="-25000" dirty="0">
                <a:solidFill>
                  <a:srgbClr val="002060"/>
                </a:solidFill>
              </a:rPr>
              <a:t>3</a:t>
            </a:r>
            <a:endParaRPr kumimoji="0" lang="es-ES" sz="1800" b="1" i="0" u="none" strike="noStrike" cap="none" normalizeH="0" baseline="-25000" dirty="0">
              <a:ln>
                <a:noFill/>
              </a:ln>
              <a:solidFill>
                <a:srgbClr val="002060"/>
              </a:solidFill>
              <a:effectLst/>
              <a:latin typeface="Times New Roman" pitchFamily="18" charset="0"/>
            </a:endParaRPr>
          </a:p>
        </p:txBody>
      </p:sp>
      <p:sp>
        <p:nvSpPr>
          <p:cNvPr id="16" name="Elipse 15">
            <a:extLst>
              <a:ext uri="{FF2B5EF4-FFF2-40B4-BE49-F238E27FC236}">
                <a16:creationId xmlns:a16="http://schemas.microsoft.com/office/drawing/2014/main" id="{19E30435-0389-A1F0-9296-82B1E926BC13}"/>
              </a:ext>
            </a:extLst>
          </p:cNvPr>
          <p:cNvSpPr/>
          <p:nvPr/>
        </p:nvSpPr>
        <p:spPr bwMode="auto">
          <a:xfrm>
            <a:off x="7958969" y="5293521"/>
            <a:ext cx="613458" cy="571661"/>
          </a:xfrm>
          <a:prstGeom prst="ellipse">
            <a:avLst/>
          </a:prstGeom>
          <a:noFill/>
          <a:ln w="381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es-ES" sz="2000" dirty="0">
                <a:solidFill>
                  <a:srgbClr val="C00000"/>
                </a:solidFill>
              </a:rPr>
              <a:t>x</a:t>
            </a:r>
            <a:r>
              <a:rPr lang="es-ES" baseline="-25000" dirty="0">
                <a:solidFill>
                  <a:srgbClr val="C00000"/>
                </a:solidFill>
              </a:rPr>
              <a:t>4</a:t>
            </a:r>
            <a:endParaRPr kumimoji="0" lang="es-ES" sz="1800" b="1" i="0" u="none" strike="noStrike" cap="none" normalizeH="0" baseline="-25000" dirty="0">
              <a:ln>
                <a:noFill/>
              </a:ln>
              <a:solidFill>
                <a:srgbClr val="C00000"/>
              </a:solidFill>
              <a:effectLst/>
            </a:endParaRPr>
          </a:p>
        </p:txBody>
      </p:sp>
      <p:cxnSp>
        <p:nvCxnSpPr>
          <p:cNvPr id="20" name="Conector recto de flecha 19">
            <a:extLst>
              <a:ext uri="{FF2B5EF4-FFF2-40B4-BE49-F238E27FC236}">
                <a16:creationId xmlns:a16="http://schemas.microsoft.com/office/drawing/2014/main" id="{E35D91DE-8510-8E4E-E596-75D81BD65E35}"/>
              </a:ext>
            </a:extLst>
          </p:cNvPr>
          <p:cNvCxnSpPr>
            <a:stCxn id="7" idx="6"/>
          </p:cNvCxnSpPr>
          <p:nvPr/>
        </p:nvCxnSpPr>
        <p:spPr bwMode="auto">
          <a:xfrm>
            <a:off x="4543699" y="3141252"/>
            <a:ext cx="914400" cy="914400"/>
          </a:xfrm>
          <a:prstGeom prst="straightConnector1">
            <a:avLst/>
          </a:prstGeom>
          <a:solidFill>
            <a:schemeClr val="accent1"/>
          </a:solidFill>
          <a:ln>
            <a:noFill/>
            <a:tailEnd type="triangle"/>
          </a:ln>
          <a:effectLst/>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2" name="Conector recto de flecha 21">
            <a:extLst>
              <a:ext uri="{FF2B5EF4-FFF2-40B4-BE49-F238E27FC236}">
                <a16:creationId xmlns:a16="http://schemas.microsoft.com/office/drawing/2014/main" id="{E3E219C6-74D6-A19C-A752-77034926F191}"/>
              </a:ext>
            </a:extLst>
          </p:cNvPr>
          <p:cNvCxnSpPr>
            <a:stCxn id="11" idx="2"/>
          </p:cNvCxnSpPr>
          <p:nvPr/>
        </p:nvCxnSpPr>
        <p:spPr bwMode="auto">
          <a:xfrm>
            <a:off x="5868117" y="3141252"/>
            <a:ext cx="914400" cy="914400"/>
          </a:xfrm>
          <a:prstGeom prst="straightConnector1">
            <a:avLst/>
          </a:prstGeom>
          <a:solidFill>
            <a:schemeClr val="accent1"/>
          </a:solidFill>
          <a:ln>
            <a:noFill/>
            <a:tailEnd type="triangle"/>
          </a:ln>
          <a:effectLst/>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4" name="Conector recto de flecha 23">
            <a:extLst>
              <a:ext uri="{FF2B5EF4-FFF2-40B4-BE49-F238E27FC236}">
                <a16:creationId xmlns:a16="http://schemas.microsoft.com/office/drawing/2014/main" id="{1417D95C-E7B1-EBAF-F480-7A568C508F6D}"/>
              </a:ext>
            </a:extLst>
          </p:cNvPr>
          <p:cNvCxnSpPr>
            <a:stCxn id="7" idx="6"/>
            <a:endCxn id="7" idx="6"/>
          </p:cNvCxnSpPr>
          <p:nvPr/>
        </p:nvCxnSpPr>
        <p:spPr bwMode="auto">
          <a:xfrm>
            <a:off x="4543699" y="3157157"/>
            <a:ext cx="0" cy="0"/>
          </a:xfrm>
          <a:prstGeom prst="straightConnector1">
            <a:avLst/>
          </a:prstGeom>
          <a:solidFill>
            <a:schemeClr val="accent1"/>
          </a:solidFill>
          <a:ln>
            <a:noFill/>
            <a:tailEnd type="triangle"/>
          </a:ln>
          <a:effectLst/>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7" name="Conector recto de flecha 26">
            <a:extLst>
              <a:ext uri="{FF2B5EF4-FFF2-40B4-BE49-F238E27FC236}">
                <a16:creationId xmlns:a16="http://schemas.microsoft.com/office/drawing/2014/main" id="{50D592DC-B475-5C20-5BDC-7EA3AC2091B8}"/>
              </a:ext>
            </a:extLst>
          </p:cNvPr>
          <p:cNvCxnSpPr>
            <a:stCxn id="7" idx="6"/>
          </p:cNvCxnSpPr>
          <p:nvPr/>
        </p:nvCxnSpPr>
        <p:spPr bwMode="auto">
          <a:xfrm>
            <a:off x="4543699" y="3157157"/>
            <a:ext cx="1324418" cy="0"/>
          </a:xfrm>
          <a:prstGeom prst="straightConnector1">
            <a:avLst/>
          </a:prstGeom>
          <a:solidFill>
            <a:schemeClr val="accent1"/>
          </a:solidFill>
          <a:ln>
            <a:noFill/>
            <a:tailEnd type="triangle"/>
          </a:ln>
          <a:effectLst/>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9" name="Conector recto de flecha 28">
            <a:extLst>
              <a:ext uri="{FF2B5EF4-FFF2-40B4-BE49-F238E27FC236}">
                <a16:creationId xmlns:a16="http://schemas.microsoft.com/office/drawing/2014/main" id="{BB58EC4E-43BD-4E0F-CCAF-3A47683DB7C3}"/>
              </a:ext>
            </a:extLst>
          </p:cNvPr>
          <p:cNvCxnSpPr>
            <a:stCxn id="7" idx="6"/>
            <a:endCxn id="11" idx="2"/>
          </p:cNvCxnSpPr>
          <p:nvPr/>
        </p:nvCxnSpPr>
        <p:spPr bwMode="auto">
          <a:xfrm>
            <a:off x="4543699" y="3157157"/>
            <a:ext cx="1411066" cy="0"/>
          </a:xfrm>
          <a:prstGeom prst="straightConnector1">
            <a:avLst/>
          </a:prstGeom>
          <a:ln w="38100" cap="flat" cmpd="sng" algn="ctr">
            <a:solidFill>
              <a:srgbClr val="7030A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2" name="Conector recto de flecha 31">
            <a:extLst>
              <a:ext uri="{FF2B5EF4-FFF2-40B4-BE49-F238E27FC236}">
                <a16:creationId xmlns:a16="http://schemas.microsoft.com/office/drawing/2014/main" id="{2345EB51-2822-BD80-E425-2DF09A12B4F9}"/>
              </a:ext>
            </a:extLst>
          </p:cNvPr>
          <p:cNvCxnSpPr/>
          <p:nvPr/>
        </p:nvCxnSpPr>
        <p:spPr bwMode="auto">
          <a:xfrm>
            <a:off x="6564365" y="3157157"/>
            <a:ext cx="1411066" cy="0"/>
          </a:xfrm>
          <a:prstGeom prst="straightConnector1">
            <a:avLst/>
          </a:prstGeom>
          <a:ln w="38100" cap="flat" cmpd="sng" algn="ctr">
            <a:solidFill>
              <a:srgbClr val="7030A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3" name="Conector recto de flecha 32">
            <a:extLst>
              <a:ext uri="{FF2B5EF4-FFF2-40B4-BE49-F238E27FC236}">
                <a16:creationId xmlns:a16="http://schemas.microsoft.com/office/drawing/2014/main" id="{03D8CE68-B10E-6486-F273-A5FFD9AFF2B0}"/>
              </a:ext>
            </a:extLst>
          </p:cNvPr>
          <p:cNvCxnSpPr/>
          <p:nvPr/>
        </p:nvCxnSpPr>
        <p:spPr bwMode="auto">
          <a:xfrm>
            <a:off x="4533539" y="4358737"/>
            <a:ext cx="1411066" cy="0"/>
          </a:xfrm>
          <a:prstGeom prst="straightConnector1">
            <a:avLst/>
          </a:prstGeom>
          <a:ln w="38100" cap="flat" cmpd="sng" algn="ctr">
            <a:solidFill>
              <a:srgbClr val="7030A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4" name="Conector recto de flecha 33">
            <a:extLst>
              <a:ext uri="{FF2B5EF4-FFF2-40B4-BE49-F238E27FC236}">
                <a16:creationId xmlns:a16="http://schemas.microsoft.com/office/drawing/2014/main" id="{D7DD8E4E-BCA4-3DB5-1D73-10E0D0DC3046}"/>
              </a:ext>
            </a:extLst>
          </p:cNvPr>
          <p:cNvCxnSpPr/>
          <p:nvPr/>
        </p:nvCxnSpPr>
        <p:spPr bwMode="auto">
          <a:xfrm>
            <a:off x="6544045" y="5579351"/>
            <a:ext cx="1411066" cy="0"/>
          </a:xfrm>
          <a:prstGeom prst="straightConnector1">
            <a:avLst/>
          </a:prstGeom>
          <a:ln w="38100" cap="flat" cmpd="sng" algn="ctr">
            <a:solidFill>
              <a:srgbClr val="7030A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5" name="Conector recto de flecha 34">
            <a:extLst>
              <a:ext uri="{FF2B5EF4-FFF2-40B4-BE49-F238E27FC236}">
                <a16:creationId xmlns:a16="http://schemas.microsoft.com/office/drawing/2014/main" id="{0F95100D-0F9A-EAD9-61FE-6C8DFB0D7EF9}"/>
              </a:ext>
            </a:extLst>
          </p:cNvPr>
          <p:cNvCxnSpPr/>
          <p:nvPr/>
        </p:nvCxnSpPr>
        <p:spPr bwMode="auto">
          <a:xfrm>
            <a:off x="4523379" y="5579351"/>
            <a:ext cx="1411066" cy="0"/>
          </a:xfrm>
          <a:prstGeom prst="straightConnector1">
            <a:avLst/>
          </a:prstGeom>
          <a:ln w="38100" cap="flat" cmpd="sng" algn="ctr">
            <a:solidFill>
              <a:srgbClr val="7030A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6" name="Conector recto de flecha 35">
            <a:extLst>
              <a:ext uri="{FF2B5EF4-FFF2-40B4-BE49-F238E27FC236}">
                <a16:creationId xmlns:a16="http://schemas.microsoft.com/office/drawing/2014/main" id="{D92FCB6F-4FCD-7FBF-E1A7-D602785A901A}"/>
              </a:ext>
            </a:extLst>
          </p:cNvPr>
          <p:cNvCxnSpPr/>
          <p:nvPr/>
        </p:nvCxnSpPr>
        <p:spPr bwMode="auto">
          <a:xfrm>
            <a:off x="6558063" y="4358737"/>
            <a:ext cx="1411066" cy="0"/>
          </a:xfrm>
          <a:prstGeom prst="straightConnector1">
            <a:avLst/>
          </a:prstGeom>
          <a:ln w="38100" cap="flat" cmpd="sng" algn="ctr">
            <a:solidFill>
              <a:srgbClr val="7030A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7" name="Conector recto de flecha 36">
            <a:extLst>
              <a:ext uri="{FF2B5EF4-FFF2-40B4-BE49-F238E27FC236}">
                <a16:creationId xmlns:a16="http://schemas.microsoft.com/office/drawing/2014/main" id="{9B0A25AD-0177-A018-FFFB-B81C888F41DB}"/>
              </a:ext>
            </a:extLst>
          </p:cNvPr>
          <p:cNvCxnSpPr>
            <a:cxnSpLocks/>
            <a:stCxn id="11" idx="4"/>
            <a:endCxn id="12" idx="0"/>
          </p:cNvCxnSpPr>
          <p:nvPr/>
        </p:nvCxnSpPr>
        <p:spPr bwMode="auto">
          <a:xfrm flipH="1">
            <a:off x="6251334" y="3442987"/>
            <a:ext cx="10160" cy="629920"/>
          </a:xfrm>
          <a:prstGeom prst="straightConnector1">
            <a:avLst/>
          </a:prstGeom>
          <a:ln w="38100" cap="flat" cmpd="sng" algn="ctr">
            <a:solidFill>
              <a:srgbClr val="7030A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0" name="Conector recto de flecha 39">
            <a:extLst>
              <a:ext uri="{FF2B5EF4-FFF2-40B4-BE49-F238E27FC236}">
                <a16:creationId xmlns:a16="http://schemas.microsoft.com/office/drawing/2014/main" id="{59A75A33-2493-10F6-5826-57AD2E8A0174}"/>
              </a:ext>
            </a:extLst>
          </p:cNvPr>
          <p:cNvCxnSpPr>
            <a:cxnSpLocks/>
          </p:cNvCxnSpPr>
          <p:nvPr/>
        </p:nvCxnSpPr>
        <p:spPr bwMode="auto">
          <a:xfrm>
            <a:off x="6244613" y="4644568"/>
            <a:ext cx="0" cy="629920"/>
          </a:xfrm>
          <a:prstGeom prst="straightConnector1">
            <a:avLst/>
          </a:prstGeom>
          <a:ln w="38100" cap="flat" cmpd="sng" algn="ctr">
            <a:solidFill>
              <a:srgbClr val="7030A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8531A375-093B-F77F-F34B-F6EF3FBA49AE}"/>
                  </a:ext>
                </a:extLst>
              </p:cNvPr>
              <p:cNvSpPr txBox="1"/>
              <p:nvPr/>
            </p:nvSpPr>
            <p:spPr>
              <a:xfrm>
                <a:off x="4421480" y="2765919"/>
                <a:ext cx="1828800" cy="41857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ar-AE" sz="1800" i="1" kern="1200" smtClean="0">
                              <a:solidFill>
                                <a:schemeClr val="tx1"/>
                              </a:solidFill>
                              <a:latin typeface="Cambria Math" panose="02040503050406030204" pitchFamily="18" charset="0"/>
                              <a:ea typeface="+mn-ea"/>
                              <a:cs typeface="+mn-cs"/>
                            </a:rPr>
                          </m:ctrlPr>
                        </m:sSubPr>
                        <m:e>
                          <m:r>
                            <a:rPr lang="ar-AE" sz="1800" i="1" kern="1200">
                              <a:solidFill>
                                <a:schemeClr val="tx1"/>
                              </a:solidFill>
                              <a:latin typeface="Cambria Math" panose="02040503050406030204" pitchFamily="18" charset="0"/>
                              <a:ea typeface="+mn-ea"/>
                              <a:cs typeface="+mn-cs"/>
                            </a:rPr>
                            <m:t>𝑊</m:t>
                          </m:r>
                        </m:e>
                        <m:sub>
                          <m:r>
                            <a:rPr lang="ar-AE" sz="1800" i="1" kern="1200">
                              <a:solidFill>
                                <a:schemeClr val="tx1"/>
                              </a:solidFill>
                              <a:latin typeface="Cambria Math" panose="02040503050406030204" pitchFamily="18" charset="0"/>
                              <a:ea typeface="+mn-ea"/>
                              <a:cs typeface="+mn-cs"/>
                            </a:rPr>
                            <m:t>𝑥</m:t>
                          </m:r>
                          <m:r>
                            <a:rPr lang="ar-AE" sz="1800" i="1" kern="1200">
                              <a:solidFill>
                                <a:schemeClr val="tx1"/>
                              </a:solidFill>
                              <a:latin typeface="Cambria Math" panose="02040503050406030204" pitchFamily="18" charset="0"/>
                              <a:ea typeface="+mn-ea"/>
                              <a:cs typeface="+mn-cs"/>
                            </a:rPr>
                            <m:t>h</m:t>
                          </m:r>
                        </m:sub>
                      </m:sSub>
                    </m:oMath>
                  </m:oMathPara>
                </a14:m>
                <a:endParaRPr lang="es-ES" dirty="0"/>
              </a:p>
            </p:txBody>
          </p:sp>
        </mc:Choice>
        <mc:Fallback xmlns="">
          <p:sp>
            <p:nvSpPr>
              <p:cNvPr id="6" name="CuadroTexto 5">
                <a:extLst>
                  <a:ext uri="{FF2B5EF4-FFF2-40B4-BE49-F238E27FC236}">
                    <a16:creationId xmlns:a16="http://schemas.microsoft.com/office/drawing/2014/main" id="{8531A375-093B-F77F-F34B-F6EF3FBA49AE}"/>
                  </a:ext>
                </a:extLst>
              </p:cNvPr>
              <p:cNvSpPr txBox="1">
                <a:spLocks noRot="1" noChangeAspect="1" noMove="1" noResize="1" noEditPoints="1" noAdjustHandles="1" noChangeArrowheads="1" noChangeShapeType="1" noTextEdit="1"/>
              </p:cNvSpPr>
              <p:nvPr/>
            </p:nvSpPr>
            <p:spPr>
              <a:xfrm>
                <a:off x="4421480" y="2765919"/>
                <a:ext cx="1828800" cy="418576"/>
              </a:xfrm>
              <a:prstGeom prst="rect">
                <a:avLst/>
              </a:prstGeom>
              <a:blipFill>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9780C4D5-DAB0-0684-68E0-1359D2609231}"/>
                  </a:ext>
                </a:extLst>
              </p:cNvPr>
              <p:cNvSpPr txBox="1"/>
              <p:nvPr/>
            </p:nvSpPr>
            <p:spPr>
              <a:xfrm>
                <a:off x="6967424" y="2762113"/>
                <a:ext cx="693922" cy="43832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ar-AE" sz="1800" i="1" kern="1200">
                              <a:solidFill>
                                <a:schemeClr val="tx1"/>
                              </a:solidFill>
                              <a:latin typeface="Cambria Math" panose="02040503050406030204" pitchFamily="18" charset="0"/>
                              <a:ea typeface="+mn-ea"/>
                              <a:cs typeface="+mn-cs"/>
                            </a:rPr>
                          </m:ctrlPr>
                        </m:sSubPr>
                        <m:e>
                          <m:r>
                            <a:rPr lang="ar-AE" sz="1800" i="1" kern="1200">
                              <a:solidFill>
                                <a:schemeClr val="tx1"/>
                              </a:solidFill>
                              <a:latin typeface="Cambria Math" panose="02040503050406030204" pitchFamily="18" charset="0"/>
                              <a:ea typeface="+mn-ea"/>
                              <a:cs typeface="+mn-cs"/>
                            </a:rPr>
                            <m:t>𝑊</m:t>
                          </m:r>
                        </m:e>
                        <m:sub>
                          <m:r>
                            <a:rPr lang="ar-AE" sz="1800" i="1" kern="1200">
                              <a:solidFill>
                                <a:schemeClr val="tx1"/>
                              </a:solidFill>
                              <a:latin typeface="Cambria Math" panose="02040503050406030204" pitchFamily="18" charset="0"/>
                              <a:ea typeface="+mn-ea"/>
                              <a:cs typeface="+mn-cs"/>
                            </a:rPr>
                            <m:t>h</m:t>
                          </m:r>
                          <m:r>
                            <a:rPr lang="ar-AE" sz="1800" i="1" kern="1200">
                              <a:solidFill>
                                <a:schemeClr val="tx1"/>
                              </a:solidFill>
                              <a:latin typeface="Cambria Math" panose="02040503050406030204" pitchFamily="18" charset="0"/>
                              <a:ea typeface="+mn-ea"/>
                              <a:cs typeface="+mn-cs"/>
                            </a:rPr>
                            <m:t>𝑦</m:t>
                          </m:r>
                        </m:sub>
                      </m:sSub>
                    </m:oMath>
                  </m:oMathPara>
                </a14:m>
                <a:endParaRPr lang="es-ES" dirty="0"/>
              </a:p>
            </p:txBody>
          </p:sp>
        </mc:Choice>
        <mc:Fallback xmlns="">
          <p:sp>
            <p:nvSpPr>
              <p:cNvPr id="17" name="CuadroTexto 16">
                <a:extLst>
                  <a:ext uri="{FF2B5EF4-FFF2-40B4-BE49-F238E27FC236}">
                    <a16:creationId xmlns:a16="http://schemas.microsoft.com/office/drawing/2014/main" id="{9780C4D5-DAB0-0684-68E0-1359D2609231}"/>
                  </a:ext>
                </a:extLst>
              </p:cNvPr>
              <p:cNvSpPr txBox="1">
                <a:spLocks noRot="1" noChangeAspect="1" noMove="1" noResize="1" noEditPoints="1" noAdjustHandles="1" noChangeArrowheads="1" noChangeShapeType="1" noTextEdit="1"/>
              </p:cNvSpPr>
              <p:nvPr/>
            </p:nvSpPr>
            <p:spPr>
              <a:xfrm>
                <a:off x="6967424" y="2762113"/>
                <a:ext cx="693922" cy="438325"/>
              </a:xfrm>
              <a:prstGeom prst="rect">
                <a:avLst/>
              </a:prstGeom>
              <a:blipFill>
                <a:blip r:embed="rId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5F661578-DE16-BC87-8106-A39C38EC4CE8}"/>
                  </a:ext>
                </a:extLst>
              </p:cNvPr>
              <p:cNvSpPr txBox="1"/>
              <p:nvPr/>
            </p:nvSpPr>
            <p:spPr>
              <a:xfrm>
                <a:off x="6261494" y="3532491"/>
                <a:ext cx="627991" cy="41857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ar-AE" sz="1800" i="1" kern="1200">
                              <a:solidFill>
                                <a:schemeClr val="tx1"/>
                              </a:solidFill>
                              <a:latin typeface="Cambria Math" panose="02040503050406030204" pitchFamily="18" charset="0"/>
                              <a:ea typeface="+mn-ea"/>
                              <a:cs typeface="+mn-cs"/>
                            </a:rPr>
                          </m:ctrlPr>
                        </m:sSubPr>
                        <m:e>
                          <m:r>
                            <a:rPr lang="ar-AE" sz="1800" i="1" kern="1200">
                              <a:solidFill>
                                <a:schemeClr val="tx1"/>
                              </a:solidFill>
                              <a:latin typeface="Cambria Math" panose="02040503050406030204" pitchFamily="18" charset="0"/>
                              <a:ea typeface="+mn-ea"/>
                              <a:cs typeface="+mn-cs"/>
                            </a:rPr>
                            <m:t>𝑊</m:t>
                          </m:r>
                        </m:e>
                        <m:sub>
                          <m:r>
                            <a:rPr lang="ar-AE" sz="1800" i="1" kern="1200">
                              <a:solidFill>
                                <a:schemeClr val="tx1"/>
                              </a:solidFill>
                              <a:latin typeface="Cambria Math" panose="02040503050406030204" pitchFamily="18" charset="0"/>
                              <a:ea typeface="+mn-ea"/>
                              <a:cs typeface="+mn-cs"/>
                            </a:rPr>
                            <m:t>hh</m:t>
                          </m:r>
                        </m:sub>
                      </m:sSub>
                    </m:oMath>
                  </m:oMathPara>
                </a14:m>
                <a:endParaRPr lang="es-ES" dirty="0"/>
              </a:p>
            </p:txBody>
          </p:sp>
        </mc:Choice>
        <mc:Fallback xmlns="">
          <p:sp>
            <p:nvSpPr>
              <p:cNvPr id="18" name="CuadroTexto 17">
                <a:extLst>
                  <a:ext uri="{FF2B5EF4-FFF2-40B4-BE49-F238E27FC236}">
                    <a16:creationId xmlns:a16="http://schemas.microsoft.com/office/drawing/2014/main" id="{5F661578-DE16-BC87-8106-A39C38EC4CE8}"/>
                  </a:ext>
                </a:extLst>
              </p:cNvPr>
              <p:cNvSpPr txBox="1">
                <a:spLocks noRot="1" noChangeAspect="1" noMove="1" noResize="1" noEditPoints="1" noAdjustHandles="1" noChangeArrowheads="1" noChangeShapeType="1" noTextEdit="1"/>
              </p:cNvSpPr>
              <p:nvPr/>
            </p:nvSpPr>
            <p:spPr>
              <a:xfrm>
                <a:off x="6261494" y="3532491"/>
                <a:ext cx="627991" cy="418576"/>
              </a:xfrm>
              <a:prstGeom prst="rect">
                <a:avLst/>
              </a:prstGeom>
              <a:blipFill>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9B2A1B63-DC38-E402-77DD-02E972345FEA}"/>
                  </a:ext>
                </a:extLst>
              </p:cNvPr>
              <p:cNvSpPr txBox="1"/>
              <p:nvPr/>
            </p:nvSpPr>
            <p:spPr>
              <a:xfrm>
                <a:off x="6251334" y="4682507"/>
                <a:ext cx="627991" cy="41857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ar-AE" sz="1800" i="1" kern="1200">
                              <a:solidFill>
                                <a:schemeClr val="tx1"/>
                              </a:solidFill>
                              <a:latin typeface="Cambria Math" panose="02040503050406030204" pitchFamily="18" charset="0"/>
                              <a:ea typeface="+mn-ea"/>
                              <a:cs typeface="+mn-cs"/>
                            </a:rPr>
                          </m:ctrlPr>
                        </m:sSubPr>
                        <m:e>
                          <m:r>
                            <a:rPr lang="ar-AE" sz="1800" i="1" kern="1200">
                              <a:solidFill>
                                <a:schemeClr val="tx1"/>
                              </a:solidFill>
                              <a:latin typeface="Cambria Math" panose="02040503050406030204" pitchFamily="18" charset="0"/>
                              <a:ea typeface="+mn-ea"/>
                              <a:cs typeface="+mn-cs"/>
                            </a:rPr>
                            <m:t>𝑊</m:t>
                          </m:r>
                        </m:e>
                        <m:sub>
                          <m:r>
                            <a:rPr lang="ar-AE" sz="1800" i="1" kern="1200">
                              <a:solidFill>
                                <a:schemeClr val="tx1"/>
                              </a:solidFill>
                              <a:latin typeface="Cambria Math" panose="02040503050406030204" pitchFamily="18" charset="0"/>
                              <a:ea typeface="+mn-ea"/>
                              <a:cs typeface="+mn-cs"/>
                            </a:rPr>
                            <m:t>hh</m:t>
                          </m:r>
                        </m:sub>
                      </m:sSub>
                    </m:oMath>
                  </m:oMathPara>
                </a14:m>
                <a:endParaRPr lang="es-ES" dirty="0"/>
              </a:p>
            </p:txBody>
          </p:sp>
        </mc:Choice>
        <mc:Fallback xmlns="">
          <p:sp>
            <p:nvSpPr>
              <p:cNvPr id="19" name="CuadroTexto 18">
                <a:extLst>
                  <a:ext uri="{FF2B5EF4-FFF2-40B4-BE49-F238E27FC236}">
                    <a16:creationId xmlns:a16="http://schemas.microsoft.com/office/drawing/2014/main" id="{9B2A1B63-DC38-E402-77DD-02E972345FEA}"/>
                  </a:ext>
                </a:extLst>
              </p:cNvPr>
              <p:cNvSpPr txBox="1">
                <a:spLocks noRot="1" noChangeAspect="1" noMove="1" noResize="1" noEditPoints="1" noAdjustHandles="1" noChangeArrowheads="1" noChangeShapeType="1" noTextEdit="1"/>
              </p:cNvSpPr>
              <p:nvPr/>
            </p:nvSpPr>
            <p:spPr>
              <a:xfrm>
                <a:off x="6251334" y="4682507"/>
                <a:ext cx="627991" cy="418576"/>
              </a:xfrm>
              <a:prstGeom prst="rect">
                <a:avLst/>
              </a:prstGeom>
              <a:blipFill>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D1EB20CF-D5BD-2122-2765-EB81AF3FD348}"/>
                  </a:ext>
                </a:extLst>
              </p:cNvPr>
              <p:cNvSpPr txBox="1"/>
              <p:nvPr/>
            </p:nvSpPr>
            <p:spPr>
              <a:xfrm>
                <a:off x="4329802" y="3992665"/>
                <a:ext cx="1828800" cy="41857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ar-AE" sz="1800" i="1" kern="1200" smtClean="0">
                              <a:solidFill>
                                <a:schemeClr val="tx1"/>
                              </a:solidFill>
                              <a:latin typeface="Cambria Math" panose="02040503050406030204" pitchFamily="18" charset="0"/>
                              <a:ea typeface="+mn-ea"/>
                              <a:cs typeface="+mn-cs"/>
                            </a:rPr>
                          </m:ctrlPr>
                        </m:sSubPr>
                        <m:e>
                          <m:r>
                            <a:rPr lang="ar-AE" sz="1800" i="1" kern="1200">
                              <a:solidFill>
                                <a:schemeClr val="tx1"/>
                              </a:solidFill>
                              <a:latin typeface="Cambria Math" panose="02040503050406030204" pitchFamily="18" charset="0"/>
                              <a:ea typeface="+mn-ea"/>
                              <a:cs typeface="+mn-cs"/>
                            </a:rPr>
                            <m:t>𝑊</m:t>
                          </m:r>
                        </m:e>
                        <m:sub>
                          <m:r>
                            <a:rPr lang="ar-AE" sz="1800" i="1" kern="1200">
                              <a:solidFill>
                                <a:schemeClr val="tx1"/>
                              </a:solidFill>
                              <a:latin typeface="Cambria Math" panose="02040503050406030204" pitchFamily="18" charset="0"/>
                              <a:ea typeface="+mn-ea"/>
                              <a:cs typeface="+mn-cs"/>
                            </a:rPr>
                            <m:t>𝑥</m:t>
                          </m:r>
                          <m:r>
                            <a:rPr lang="ar-AE" sz="1800" i="1" kern="1200">
                              <a:solidFill>
                                <a:schemeClr val="tx1"/>
                              </a:solidFill>
                              <a:latin typeface="Cambria Math" panose="02040503050406030204" pitchFamily="18" charset="0"/>
                              <a:ea typeface="+mn-ea"/>
                              <a:cs typeface="+mn-cs"/>
                            </a:rPr>
                            <m:t>h</m:t>
                          </m:r>
                        </m:sub>
                      </m:sSub>
                    </m:oMath>
                  </m:oMathPara>
                </a14:m>
                <a:endParaRPr lang="es-ES" dirty="0"/>
              </a:p>
            </p:txBody>
          </p:sp>
        </mc:Choice>
        <mc:Fallback xmlns="">
          <p:sp>
            <p:nvSpPr>
              <p:cNvPr id="21" name="CuadroTexto 20">
                <a:extLst>
                  <a:ext uri="{FF2B5EF4-FFF2-40B4-BE49-F238E27FC236}">
                    <a16:creationId xmlns:a16="http://schemas.microsoft.com/office/drawing/2014/main" id="{D1EB20CF-D5BD-2122-2765-EB81AF3FD348}"/>
                  </a:ext>
                </a:extLst>
              </p:cNvPr>
              <p:cNvSpPr txBox="1">
                <a:spLocks noRot="1" noChangeAspect="1" noMove="1" noResize="1" noEditPoints="1" noAdjustHandles="1" noChangeArrowheads="1" noChangeShapeType="1" noTextEdit="1"/>
              </p:cNvSpPr>
              <p:nvPr/>
            </p:nvSpPr>
            <p:spPr>
              <a:xfrm>
                <a:off x="4329802" y="3992665"/>
                <a:ext cx="1828800" cy="418576"/>
              </a:xfrm>
              <a:prstGeom prst="rect">
                <a:avLst/>
              </a:prstGeom>
              <a:blipFill>
                <a:blip r:embed="rId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E565BEEC-1BC4-2718-313F-A1E21C81943E}"/>
                  </a:ext>
                </a:extLst>
              </p:cNvPr>
              <p:cNvSpPr txBox="1"/>
              <p:nvPr/>
            </p:nvSpPr>
            <p:spPr>
              <a:xfrm>
                <a:off x="4291508" y="5171023"/>
                <a:ext cx="1828800" cy="41857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ar-AE" sz="1800" i="1" kern="1200" smtClean="0">
                              <a:solidFill>
                                <a:schemeClr val="tx1"/>
                              </a:solidFill>
                              <a:latin typeface="Cambria Math" panose="02040503050406030204" pitchFamily="18" charset="0"/>
                              <a:ea typeface="+mn-ea"/>
                              <a:cs typeface="+mn-cs"/>
                            </a:rPr>
                          </m:ctrlPr>
                        </m:sSubPr>
                        <m:e>
                          <m:r>
                            <a:rPr lang="ar-AE" sz="1800" i="1" kern="1200">
                              <a:solidFill>
                                <a:schemeClr val="tx1"/>
                              </a:solidFill>
                              <a:latin typeface="Cambria Math" panose="02040503050406030204" pitchFamily="18" charset="0"/>
                              <a:ea typeface="+mn-ea"/>
                              <a:cs typeface="+mn-cs"/>
                            </a:rPr>
                            <m:t>𝑊</m:t>
                          </m:r>
                        </m:e>
                        <m:sub>
                          <m:r>
                            <a:rPr lang="ar-AE" sz="1800" i="1" kern="1200">
                              <a:solidFill>
                                <a:schemeClr val="tx1"/>
                              </a:solidFill>
                              <a:latin typeface="Cambria Math" panose="02040503050406030204" pitchFamily="18" charset="0"/>
                              <a:ea typeface="+mn-ea"/>
                              <a:cs typeface="+mn-cs"/>
                            </a:rPr>
                            <m:t>𝑥</m:t>
                          </m:r>
                          <m:r>
                            <a:rPr lang="ar-AE" sz="1800" i="1" kern="1200">
                              <a:solidFill>
                                <a:schemeClr val="tx1"/>
                              </a:solidFill>
                              <a:latin typeface="Cambria Math" panose="02040503050406030204" pitchFamily="18" charset="0"/>
                              <a:ea typeface="+mn-ea"/>
                              <a:cs typeface="+mn-cs"/>
                            </a:rPr>
                            <m:t>h</m:t>
                          </m:r>
                        </m:sub>
                      </m:sSub>
                    </m:oMath>
                  </m:oMathPara>
                </a14:m>
                <a:endParaRPr lang="es-ES" dirty="0"/>
              </a:p>
            </p:txBody>
          </p:sp>
        </mc:Choice>
        <mc:Fallback xmlns="">
          <p:sp>
            <p:nvSpPr>
              <p:cNvPr id="23" name="CuadroTexto 22">
                <a:extLst>
                  <a:ext uri="{FF2B5EF4-FFF2-40B4-BE49-F238E27FC236}">
                    <a16:creationId xmlns:a16="http://schemas.microsoft.com/office/drawing/2014/main" id="{E565BEEC-1BC4-2718-313F-A1E21C81943E}"/>
                  </a:ext>
                </a:extLst>
              </p:cNvPr>
              <p:cNvSpPr txBox="1">
                <a:spLocks noRot="1" noChangeAspect="1" noMove="1" noResize="1" noEditPoints="1" noAdjustHandles="1" noChangeArrowheads="1" noChangeShapeType="1" noTextEdit="1"/>
              </p:cNvSpPr>
              <p:nvPr/>
            </p:nvSpPr>
            <p:spPr>
              <a:xfrm>
                <a:off x="4291508" y="5171023"/>
                <a:ext cx="1828800" cy="418576"/>
              </a:xfrm>
              <a:prstGeom prst="rect">
                <a:avLst/>
              </a:prstGeom>
              <a:blipFill>
                <a:blip r:embed="rId9"/>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E132A340-C73E-D92D-49DB-71C784FEDD01}"/>
                  </a:ext>
                </a:extLst>
              </p:cNvPr>
              <p:cNvSpPr txBox="1"/>
              <p:nvPr/>
            </p:nvSpPr>
            <p:spPr>
              <a:xfrm>
                <a:off x="6979858" y="3978906"/>
                <a:ext cx="693922" cy="43832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ar-AE" sz="1800" i="1" kern="1200">
                              <a:solidFill>
                                <a:schemeClr val="tx1"/>
                              </a:solidFill>
                              <a:latin typeface="Cambria Math" panose="02040503050406030204" pitchFamily="18" charset="0"/>
                              <a:ea typeface="+mn-ea"/>
                              <a:cs typeface="+mn-cs"/>
                            </a:rPr>
                          </m:ctrlPr>
                        </m:sSubPr>
                        <m:e>
                          <m:r>
                            <a:rPr lang="ar-AE" sz="1800" i="1" kern="1200">
                              <a:solidFill>
                                <a:schemeClr val="tx1"/>
                              </a:solidFill>
                              <a:latin typeface="Cambria Math" panose="02040503050406030204" pitchFamily="18" charset="0"/>
                              <a:ea typeface="+mn-ea"/>
                              <a:cs typeface="+mn-cs"/>
                            </a:rPr>
                            <m:t>𝑊</m:t>
                          </m:r>
                        </m:e>
                        <m:sub>
                          <m:r>
                            <a:rPr lang="ar-AE" sz="1800" i="1" kern="1200">
                              <a:solidFill>
                                <a:schemeClr val="tx1"/>
                              </a:solidFill>
                              <a:latin typeface="Cambria Math" panose="02040503050406030204" pitchFamily="18" charset="0"/>
                              <a:ea typeface="+mn-ea"/>
                              <a:cs typeface="+mn-cs"/>
                            </a:rPr>
                            <m:t>h</m:t>
                          </m:r>
                          <m:r>
                            <a:rPr lang="ar-AE" sz="1800" i="1" kern="1200">
                              <a:solidFill>
                                <a:schemeClr val="tx1"/>
                              </a:solidFill>
                              <a:latin typeface="Cambria Math" panose="02040503050406030204" pitchFamily="18" charset="0"/>
                              <a:ea typeface="+mn-ea"/>
                              <a:cs typeface="+mn-cs"/>
                            </a:rPr>
                            <m:t>𝑦</m:t>
                          </m:r>
                        </m:sub>
                      </m:sSub>
                    </m:oMath>
                  </m:oMathPara>
                </a14:m>
                <a:endParaRPr lang="es-ES" dirty="0"/>
              </a:p>
            </p:txBody>
          </p:sp>
        </mc:Choice>
        <mc:Fallback xmlns="">
          <p:sp>
            <p:nvSpPr>
              <p:cNvPr id="25" name="CuadroTexto 24">
                <a:extLst>
                  <a:ext uri="{FF2B5EF4-FFF2-40B4-BE49-F238E27FC236}">
                    <a16:creationId xmlns:a16="http://schemas.microsoft.com/office/drawing/2014/main" id="{E132A340-C73E-D92D-49DB-71C784FEDD01}"/>
                  </a:ext>
                </a:extLst>
              </p:cNvPr>
              <p:cNvSpPr txBox="1">
                <a:spLocks noRot="1" noChangeAspect="1" noMove="1" noResize="1" noEditPoints="1" noAdjustHandles="1" noChangeArrowheads="1" noChangeShapeType="1" noTextEdit="1"/>
              </p:cNvSpPr>
              <p:nvPr/>
            </p:nvSpPr>
            <p:spPr>
              <a:xfrm>
                <a:off x="6979858" y="3978906"/>
                <a:ext cx="693922" cy="438325"/>
              </a:xfrm>
              <a:prstGeom prst="rect">
                <a:avLst/>
              </a:prstGeom>
              <a:blipFill>
                <a:blip r:embed="rId10"/>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6" name="CuadroTexto 25">
                <a:extLst>
                  <a:ext uri="{FF2B5EF4-FFF2-40B4-BE49-F238E27FC236}">
                    <a16:creationId xmlns:a16="http://schemas.microsoft.com/office/drawing/2014/main" id="{8EC9C4A2-9B46-10BB-B3CD-223808A0F6A3}"/>
                  </a:ext>
                </a:extLst>
              </p:cNvPr>
              <p:cNvSpPr txBox="1"/>
              <p:nvPr/>
            </p:nvSpPr>
            <p:spPr>
              <a:xfrm>
                <a:off x="6967468" y="5195699"/>
                <a:ext cx="693922" cy="43832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ar-AE" sz="1800" i="1" kern="1200">
                              <a:solidFill>
                                <a:schemeClr val="tx1"/>
                              </a:solidFill>
                              <a:latin typeface="Cambria Math" panose="02040503050406030204" pitchFamily="18" charset="0"/>
                              <a:ea typeface="+mn-ea"/>
                              <a:cs typeface="+mn-cs"/>
                            </a:rPr>
                          </m:ctrlPr>
                        </m:sSubPr>
                        <m:e>
                          <m:r>
                            <a:rPr lang="ar-AE" sz="1800" i="1" kern="1200">
                              <a:solidFill>
                                <a:schemeClr val="tx1"/>
                              </a:solidFill>
                              <a:latin typeface="Cambria Math" panose="02040503050406030204" pitchFamily="18" charset="0"/>
                              <a:ea typeface="+mn-ea"/>
                              <a:cs typeface="+mn-cs"/>
                            </a:rPr>
                            <m:t>𝑊</m:t>
                          </m:r>
                        </m:e>
                        <m:sub>
                          <m:r>
                            <a:rPr lang="ar-AE" sz="1800" i="1" kern="1200">
                              <a:solidFill>
                                <a:schemeClr val="tx1"/>
                              </a:solidFill>
                              <a:latin typeface="Cambria Math" panose="02040503050406030204" pitchFamily="18" charset="0"/>
                              <a:ea typeface="+mn-ea"/>
                              <a:cs typeface="+mn-cs"/>
                            </a:rPr>
                            <m:t>h</m:t>
                          </m:r>
                          <m:r>
                            <a:rPr lang="ar-AE" sz="1800" i="1" kern="1200">
                              <a:solidFill>
                                <a:schemeClr val="tx1"/>
                              </a:solidFill>
                              <a:latin typeface="Cambria Math" panose="02040503050406030204" pitchFamily="18" charset="0"/>
                              <a:ea typeface="+mn-ea"/>
                              <a:cs typeface="+mn-cs"/>
                            </a:rPr>
                            <m:t>𝑦</m:t>
                          </m:r>
                        </m:sub>
                      </m:sSub>
                    </m:oMath>
                  </m:oMathPara>
                </a14:m>
                <a:endParaRPr lang="es-ES" dirty="0"/>
              </a:p>
            </p:txBody>
          </p:sp>
        </mc:Choice>
        <mc:Fallback xmlns="">
          <p:sp>
            <p:nvSpPr>
              <p:cNvPr id="26" name="CuadroTexto 25">
                <a:extLst>
                  <a:ext uri="{FF2B5EF4-FFF2-40B4-BE49-F238E27FC236}">
                    <a16:creationId xmlns:a16="http://schemas.microsoft.com/office/drawing/2014/main" id="{8EC9C4A2-9B46-10BB-B3CD-223808A0F6A3}"/>
                  </a:ext>
                </a:extLst>
              </p:cNvPr>
              <p:cNvSpPr txBox="1">
                <a:spLocks noRot="1" noChangeAspect="1" noMove="1" noResize="1" noEditPoints="1" noAdjustHandles="1" noChangeArrowheads="1" noChangeShapeType="1" noTextEdit="1"/>
              </p:cNvSpPr>
              <p:nvPr/>
            </p:nvSpPr>
            <p:spPr>
              <a:xfrm>
                <a:off x="6967468" y="5195699"/>
                <a:ext cx="693922" cy="438325"/>
              </a:xfrm>
              <a:prstGeom prst="rect">
                <a:avLst/>
              </a:prstGeom>
              <a:blipFill>
                <a:blip r:embed="rId11"/>
                <a:stretch>
                  <a:fillRect/>
                </a:stretch>
              </a:blipFill>
            </p:spPr>
            <p:txBody>
              <a:bodyPr/>
              <a:lstStyle/>
              <a:p>
                <a:r>
                  <a:rPr lang="es-ES">
                    <a:noFill/>
                  </a:rPr>
                  <a:t> </a:t>
                </a:r>
              </a:p>
            </p:txBody>
          </p:sp>
        </mc:Fallback>
      </mc:AlternateContent>
    </p:spTree>
    <p:extLst>
      <p:ext uri="{BB962C8B-B14F-4D97-AF65-F5344CB8AC3E}">
        <p14:creationId xmlns:p14="http://schemas.microsoft.com/office/powerpoint/2010/main" val="3262623606"/>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6A7B31-6695-5C83-8CBC-1E86C059365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894AAB39-B276-A9C4-5846-401EDE330CA8}"/>
                  </a:ext>
                </a:extLst>
              </p:cNvPr>
              <p:cNvSpPr txBox="1"/>
              <p:nvPr/>
            </p:nvSpPr>
            <p:spPr>
              <a:xfrm>
                <a:off x="2545259" y="4024451"/>
                <a:ext cx="1828800" cy="41857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ar-AE" sz="1800" i="1" kern="1200" smtClean="0">
                              <a:solidFill>
                                <a:schemeClr val="tx1"/>
                              </a:solidFill>
                              <a:latin typeface="Cambria Math" panose="02040503050406030204" pitchFamily="18" charset="0"/>
                              <a:ea typeface="+mn-ea"/>
                              <a:cs typeface="+mn-cs"/>
                            </a:rPr>
                          </m:ctrlPr>
                        </m:sSubPr>
                        <m:e>
                          <m:r>
                            <a:rPr lang="ar-AE" sz="1800" i="1" kern="1200">
                              <a:solidFill>
                                <a:schemeClr val="tx1"/>
                              </a:solidFill>
                              <a:latin typeface="Cambria Math" panose="02040503050406030204" pitchFamily="18" charset="0"/>
                              <a:ea typeface="+mn-ea"/>
                              <a:cs typeface="+mn-cs"/>
                            </a:rPr>
                            <m:t>𝑊</m:t>
                          </m:r>
                        </m:e>
                        <m:sub>
                          <m:r>
                            <a:rPr lang="ar-AE" sz="1800" i="1" kern="1200">
                              <a:solidFill>
                                <a:schemeClr val="tx1"/>
                              </a:solidFill>
                              <a:latin typeface="Cambria Math" panose="02040503050406030204" pitchFamily="18" charset="0"/>
                              <a:ea typeface="+mn-ea"/>
                              <a:cs typeface="+mn-cs"/>
                            </a:rPr>
                            <m:t>𝑥</m:t>
                          </m:r>
                          <m:r>
                            <a:rPr lang="ar-AE" sz="1800" i="1" kern="1200">
                              <a:solidFill>
                                <a:schemeClr val="tx1"/>
                              </a:solidFill>
                              <a:latin typeface="Cambria Math" panose="02040503050406030204" pitchFamily="18" charset="0"/>
                              <a:ea typeface="+mn-ea"/>
                              <a:cs typeface="+mn-cs"/>
                            </a:rPr>
                            <m:t>h</m:t>
                          </m:r>
                        </m:sub>
                      </m:sSub>
                    </m:oMath>
                  </m:oMathPara>
                </a14:m>
                <a:endParaRPr lang="es-ES" dirty="0"/>
              </a:p>
            </p:txBody>
          </p:sp>
        </mc:Choice>
        <mc:Fallback xmlns="">
          <p:sp>
            <p:nvSpPr>
              <p:cNvPr id="21" name="CuadroTexto 20">
                <a:extLst>
                  <a:ext uri="{FF2B5EF4-FFF2-40B4-BE49-F238E27FC236}">
                    <a16:creationId xmlns:a16="http://schemas.microsoft.com/office/drawing/2014/main" id="{894AAB39-B276-A9C4-5846-401EDE330CA8}"/>
                  </a:ext>
                </a:extLst>
              </p:cNvPr>
              <p:cNvSpPr txBox="1">
                <a:spLocks noRot="1" noChangeAspect="1" noMove="1" noResize="1" noEditPoints="1" noAdjustHandles="1" noChangeArrowheads="1" noChangeShapeType="1" noTextEdit="1"/>
              </p:cNvSpPr>
              <p:nvPr/>
            </p:nvSpPr>
            <p:spPr>
              <a:xfrm>
                <a:off x="2545259" y="4024451"/>
                <a:ext cx="1828800" cy="418576"/>
              </a:xfrm>
              <a:prstGeom prst="rect">
                <a:avLst/>
              </a:prstGeom>
              <a:blipFill>
                <a:blip r:embed="rId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9F51425-9D44-E3C5-5F29-A6BD7F1AEDE5}"/>
                  </a:ext>
                </a:extLst>
              </p:cNvPr>
              <p:cNvSpPr>
                <a:spLocks noGrp="1"/>
              </p:cNvSpPr>
              <p:nvPr>
                <p:ph idx="1"/>
              </p:nvPr>
            </p:nvSpPr>
            <p:spPr>
              <a:xfrm>
                <a:off x="457200" y="992818"/>
                <a:ext cx="8229600" cy="5778372"/>
              </a:xfrm>
            </p:spPr>
            <p:txBody>
              <a:bodyPr>
                <a:noAutofit/>
              </a:bodyPr>
              <a:lstStyle/>
              <a:p>
                <a:pPr marL="0" indent="0">
                  <a:buNone/>
                </a:pPr>
                <a:r>
                  <a:rPr lang="es-ES" b="1" dirty="0"/>
                  <a:t>Estructura básica</a:t>
                </a:r>
              </a:p>
              <a:p>
                <a:r>
                  <a:rPr lang="es-ES" sz="2000" dirty="0"/>
                  <a:t>Mismos pesos en cada paso, en momentos diferentes del tratamiento de la secuencia,                            estos pesos se van moviendo a lo largo de la secuencia</a:t>
                </a:r>
              </a:p>
              <a:p>
                <a:r>
                  <a:rPr lang="es-ES" sz="2000" dirty="0"/>
                  <a:t>Las operaciones son secuenciales</a:t>
                </a:r>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pPr marL="0" indent="0">
                  <a:buNone/>
                </a:pPr>
                <a14:m>
                  <m:oMathPara xmlns:m="http://schemas.openxmlformats.org/officeDocument/2006/math">
                    <m:oMathParaPr>
                      <m:jc m:val="centerGroup"/>
                    </m:oMathParaPr>
                    <m:oMath xmlns:m="http://schemas.openxmlformats.org/officeDocument/2006/math">
                      <m:sSub>
                        <m:sSubPr>
                          <m:ctrlPr>
                            <a:rPr lang="ar-AE" sz="2000" i="1" kern="1200">
                              <a:solidFill>
                                <a:schemeClr val="tx1"/>
                              </a:solidFill>
                              <a:latin typeface="Cambria Math" panose="02040503050406030204" pitchFamily="18" charset="0"/>
                            </a:rPr>
                          </m:ctrlPr>
                        </m:sSubPr>
                        <m:e>
                          <m:r>
                            <a:rPr lang="es-ES" sz="2000" b="0" i="1" kern="1200" smtClean="0">
                              <a:solidFill>
                                <a:schemeClr val="tx1"/>
                              </a:solidFill>
                              <a:latin typeface="Cambria Math" panose="02040503050406030204" pitchFamily="18" charset="0"/>
                            </a:rPr>
                            <m:t>𝑦</m:t>
                          </m:r>
                        </m:e>
                        <m:sub>
                          <m:r>
                            <a:rPr lang="es-ES" sz="2000" b="0" i="1" kern="1200" smtClean="0">
                              <a:solidFill>
                                <a:schemeClr val="tx1"/>
                              </a:solidFill>
                              <a:latin typeface="Cambria Math" panose="02040503050406030204" pitchFamily="18" charset="0"/>
                            </a:rPr>
                            <m:t> </m:t>
                          </m:r>
                        </m:sub>
                      </m:sSub>
                      <m:r>
                        <a:rPr lang="ar-AE" sz="2000" kern="1200">
                          <a:solidFill>
                            <a:schemeClr val="tx1"/>
                          </a:solidFill>
                          <a:latin typeface="Cambria Math" panose="02040503050406030204" pitchFamily="18" charset="0"/>
                        </a:rPr>
                        <m:t>=</m:t>
                      </m:r>
                      <m:sSub>
                        <m:sSubPr>
                          <m:ctrlPr>
                            <a:rPr lang="ar-AE" sz="2000" i="1" kern="1200">
                              <a:solidFill>
                                <a:schemeClr val="tx1"/>
                              </a:solidFill>
                              <a:latin typeface="Cambria Math" panose="02040503050406030204" pitchFamily="18" charset="0"/>
                            </a:rPr>
                          </m:ctrlPr>
                        </m:sSubPr>
                        <m:e>
                          <m:r>
                            <a:rPr lang="ar-AE" sz="2000" i="1" kern="1200">
                              <a:solidFill>
                                <a:schemeClr val="tx1"/>
                              </a:solidFill>
                              <a:latin typeface="Cambria Math" panose="02040503050406030204" pitchFamily="18" charset="0"/>
                            </a:rPr>
                            <m:t>𝑊</m:t>
                          </m:r>
                        </m:e>
                        <m:sub>
                          <m:r>
                            <a:rPr lang="ar-AE" sz="2000" i="1" kern="1200">
                              <a:solidFill>
                                <a:schemeClr val="tx1"/>
                              </a:solidFill>
                              <a:latin typeface="Cambria Math" panose="02040503050406030204" pitchFamily="18" charset="0"/>
                            </a:rPr>
                            <m:t>h</m:t>
                          </m:r>
                          <m:r>
                            <a:rPr lang="es-ES" sz="2000" b="0" i="1" kern="1200" smtClean="0">
                              <a:solidFill>
                                <a:schemeClr val="tx1"/>
                              </a:solidFill>
                              <a:latin typeface="Cambria Math" panose="02040503050406030204" pitchFamily="18" charset="0"/>
                            </a:rPr>
                            <m:t>𝑦</m:t>
                          </m:r>
                        </m:sub>
                      </m:sSub>
                      <m:sSub>
                        <m:sSubPr>
                          <m:ctrlPr>
                            <a:rPr lang="ar-AE" sz="2000" i="1" kern="1200">
                              <a:solidFill>
                                <a:schemeClr val="tx1"/>
                              </a:solidFill>
                              <a:latin typeface="Cambria Math" panose="02040503050406030204" pitchFamily="18" charset="0"/>
                            </a:rPr>
                          </m:ctrlPr>
                        </m:sSubPr>
                        <m:e>
                          <m:r>
                            <a:rPr lang="es-ES" sz="2000" b="0" i="1" kern="1200" smtClean="0">
                              <a:solidFill>
                                <a:schemeClr val="tx1"/>
                              </a:solidFill>
                              <a:latin typeface="Cambria Math" panose="02040503050406030204" pitchFamily="18" charset="0"/>
                            </a:rPr>
                            <m:t>h</m:t>
                          </m:r>
                        </m:e>
                        <m:sub>
                          <m:r>
                            <a:rPr lang="es-ES" sz="2000" b="0" i="0" kern="1200" smtClean="0">
                              <a:solidFill>
                                <a:schemeClr val="tx1"/>
                              </a:solidFill>
                              <a:latin typeface="Cambria Math" panose="02040503050406030204" pitchFamily="18" charset="0"/>
                            </a:rPr>
                            <m:t>2</m:t>
                          </m:r>
                        </m:sub>
                      </m:sSub>
                      <m:r>
                        <a:rPr lang="ar-AE" sz="2000" kern="1200">
                          <a:solidFill>
                            <a:schemeClr val="tx1"/>
                          </a:solidFill>
                          <a:latin typeface="Cambria Math" panose="02040503050406030204" pitchFamily="18" charset="0"/>
                        </a:rPr>
                        <m:t>+</m:t>
                      </m:r>
                      <m:sSub>
                        <m:sSubPr>
                          <m:ctrlPr>
                            <a:rPr lang="ar-AE" sz="2000" i="1" kern="1200">
                              <a:solidFill>
                                <a:schemeClr val="tx1"/>
                              </a:solidFill>
                              <a:latin typeface="Cambria Math" panose="02040503050406030204" pitchFamily="18" charset="0"/>
                            </a:rPr>
                          </m:ctrlPr>
                        </m:sSubPr>
                        <m:e>
                          <m:r>
                            <a:rPr lang="ar-AE" sz="2000" i="1" kern="1200">
                              <a:solidFill>
                                <a:schemeClr val="tx1"/>
                              </a:solidFill>
                              <a:latin typeface="Cambria Math" panose="02040503050406030204" pitchFamily="18" charset="0"/>
                            </a:rPr>
                            <m:t>𝑏</m:t>
                          </m:r>
                        </m:e>
                        <m:sub>
                          <m:r>
                            <a:rPr lang="es-ES" sz="2000" b="0" i="1" kern="1200" smtClean="0">
                              <a:solidFill>
                                <a:schemeClr val="tx1"/>
                              </a:solidFill>
                              <a:latin typeface="Cambria Math" panose="02040503050406030204" pitchFamily="18" charset="0"/>
                            </a:rPr>
                            <m:t>𝑦</m:t>
                          </m:r>
                        </m:sub>
                      </m:sSub>
                      <m:r>
                        <a:rPr lang="es-ES" sz="2000" i="1" kern="1200">
                          <a:solidFill>
                            <a:schemeClr val="tx1"/>
                          </a:solidFill>
                          <a:latin typeface="Cambria Math" panose="02040503050406030204" pitchFamily="18" charset="0"/>
                        </a:rPr>
                        <m:t> </m:t>
                      </m:r>
                    </m:oMath>
                  </m:oMathPara>
                </a14:m>
                <a:endParaRPr lang="es-ES" sz="2000" dirty="0"/>
              </a:p>
              <a:p>
                <a:pPr marL="0" indent="0">
                  <a:buNone/>
                </a:pPr>
                <a:endParaRPr lang="ar-AE" sz="2000" dirty="0"/>
              </a:p>
              <a:p>
                <a:pPr marL="0" indent="0">
                  <a:buNone/>
                </a:pPr>
                <a14:m>
                  <m:oMathPara xmlns:m="http://schemas.openxmlformats.org/officeDocument/2006/math">
                    <m:oMathParaPr>
                      <m:jc m:val="centerGroup"/>
                    </m:oMathParaPr>
                    <m:oMath xmlns:m="http://schemas.openxmlformats.org/officeDocument/2006/math">
                      <m:sSub>
                        <m:sSubPr>
                          <m:ctrlPr>
                            <a:rPr lang="ar-AE" sz="2000" i="1" kern="1200">
                              <a:solidFill>
                                <a:schemeClr val="tx1"/>
                              </a:solidFill>
                              <a:latin typeface="Cambria Math" panose="02040503050406030204" pitchFamily="18" charset="0"/>
                            </a:rPr>
                          </m:ctrlPr>
                        </m:sSubPr>
                        <m:e>
                          <m:r>
                            <a:rPr lang="ar-AE" sz="2000" i="1" kern="1200">
                              <a:solidFill>
                                <a:schemeClr val="tx1"/>
                              </a:solidFill>
                              <a:latin typeface="Cambria Math" panose="02040503050406030204" pitchFamily="18" charset="0"/>
                            </a:rPr>
                            <m:t>h</m:t>
                          </m:r>
                        </m:e>
                        <m:sub>
                          <m:r>
                            <a:rPr lang="ar-AE" sz="2000" kern="1200">
                              <a:solidFill>
                                <a:schemeClr val="tx1"/>
                              </a:solidFill>
                              <a:latin typeface="Cambria Math" panose="02040503050406030204" pitchFamily="18" charset="0"/>
                            </a:rPr>
                            <m:t>2</m:t>
                          </m:r>
                        </m:sub>
                      </m:sSub>
                      <m:r>
                        <a:rPr lang="ar-AE" sz="2000" kern="1200">
                          <a:solidFill>
                            <a:schemeClr val="tx1"/>
                          </a:solidFill>
                          <a:latin typeface="Cambria Math" panose="02040503050406030204" pitchFamily="18" charset="0"/>
                        </a:rPr>
                        <m:t>=</m:t>
                      </m:r>
                      <m:r>
                        <a:rPr lang="ar-AE" sz="2000" i="1" kern="1200">
                          <a:solidFill>
                            <a:schemeClr val="tx1"/>
                          </a:solidFill>
                          <a:latin typeface="Cambria Math" panose="02040503050406030204" pitchFamily="18" charset="0"/>
                        </a:rPr>
                        <m:t>𝑓</m:t>
                      </m:r>
                      <m:d>
                        <m:dPr>
                          <m:ctrlPr>
                            <a:rPr lang="ar-AE" sz="2000" i="1" kern="1200">
                              <a:solidFill>
                                <a:schemeClr val="tx1"/>
                              </a:solidFill>
                              <a:latin typeface="Cambria Math" panose="02040503050406030204" pitchFamily="18" charset="0"/>
                            </a:rPr>
                          </m:ctrlPr>
                        </m:dPr>
                        <m:e>
                          <m:sSub>
                            <m:sSubPr>
                              <m:ctrlPr>
                                <a:rPr lang="ar-AE" sz="2000" i="1" kern="1200">
                                  <a:solidFill>
                                    <a:schemeClr val="tx1"/>
                                  </a:solidFill>
                                  <a:latin typeface="Cambria Math" panose="02040503050406030204" pitchFamily="18" charset="0"/>
                                </a:rPr>
                              </m:ctrlPr>
                            </m:sSubPr>
                            <m:e>
                              <m:r>
                                <a:rPr lang="ar-AE" sz="2000" i="1" kern="1200">
                                  <a:solidFill>
                                    <a:schemeClr val="tx1"/>
                                  </a:solidFill>
                                  <a:latin typeface="Cambria Math" panose="02040503050406030204" pitchFamily="18" charset="0"/>
                                </a:rPr>
                                <m:t>𝑊</m:t>
                              </m:r>
                            </m:e>
                            <m:sub>
                              <m:r>
                                <a:rPr lang="ar-AE" sz="2000" i="1" kern="1200">
                                  <a:solidFill>
                                    <a:schemeClr val="tx1"/>
                                  </a:solidFill>
                                  <a:latin typeface="Cambria Math" panose="02040503050406030204" pitchFamily="18" charset="0"/>
                                </a:rPr>
                                <m:t>𝑥</m:t>
                              </m:r>
                              <m:r>
                                <a:rPr lang="ar-AE" sz="2000" i="1" kern="1200">
                                  <a:solidFill>
                                    <a:schemeClr val="tx1"/>
                                  </a:solidFill>
                                  <a:latin typeface="Cambria Math" panose="02040503050406030204" pitchFamily="18" charset="0"/>
                                </a:rPr>
                                <m:t>h</m:t>
                              </m:r>
                            </m:sub>
                          </m:sSub>
                          <m:sSub>
                            <m:sSubPr>
                              <m:ctrlPr>
                                <a:rPr lang="ar-AE" sz="2000" i="1" kern="1200" smtClean="0">
                                  <a:solidFill>
                                    <a:schemeClr val="tx1"/>
                                  </a:solidFill>
                                  <a:latin typeface="Cambria Math" panose="02040503050406030204" pitchFamily="18" charset="0"/>
                                </a:rPr>
                              </m:ctrlPr>
                            </m:sSubPr>
                            <m:e>
                              <m:r>
                                <a:rPr lang="ar-AE" sz="2000" i="1" kern="1200">
                                  <a:solidFill>
                                    <a:schemeClr val="tx1"/>
                                  </a:solidFill>
                                  <a:latin typeface="Cambria Math" panose="02040503050406030204" pitchFamily="18" charset="0"/>
                                </a:rPr>
                                <m:t>𝑥</m:t>
                              </m:r>
                            </m:e>
                            <m:sub>
                              <m:r>
                                <a:rPr lang="es-ES" sz="2000" b="0" i="1" kern="1200" smtClean="0">
                                  <a:solidFill>
                                    <a:schemeClr val="tx1"/>
                                  </a:solidFill>
                                  <a:latin typeface="Cambria Math" panose="02040503050406030204" pitchFamily="18" charset="0"/>
                                </a:rPr>
                                <m:t> </m:t>
                              </m:r>
                            </m:sub>
                          </m:sSub>
                          <m:r>
                            <a:rPr lang="ar-AE" sz="2000" kern="1200">
                              <a:solidFill>
                                <a:schemeClr val="tx1"/>
                              </a:solidFill>
                              <a:latin typeface="Cambria Math" panose="02040503050406030204" pitchFamily="18" charset="0"/>
                            </a:rPr>
                            <m:t>+</m:t>
                          </m:r>
                          <m:sSub>
                            <m:sSubPr>
                              <m:ctrlPr>
                                <a:rPr lang="ar-AE" sz="2000" i="1" kern="1200">
                                  <a:solidFill>
                                    <a:schemeClr val="tx1"/>
                                  </a:solidFill>
                                  <a:latin typeface="Cambria Math" panose="02040503050406030204" pitchFamily="18" charset="0"/>
                                </a:rPr>
                              </m:ctrlPr>
                            </m:sSubPr>
                            <m:e>
                              <m:r>
                                <a:rPr lang="ar-AE" sz="2000" i="1" kern="1200">
                                  <a:solidFill>
                                    <a:schemeClr val="tx1"/>
                                  </a:solidFill>
                                  <a:latin typeface="Cambria Math" panose="02040503050406030204" pitchFamily="18" charset="0"/>
                                </a:rPr>
                                <m:t>𝑊</m:t>
                              </m:r>
                            </m:e>
                            <m:sub>
                              <m:r>
                                <a:rPr lang="ar-AE" sz="2000" i="1" kern="1200">
                                  <a:solidFill>
                                    <a:schemeClr val="tx1"/>
                                  </a:solidFill>
                                  <a:latin typeface="Cambria Math" panose="02040503050406030204" pitchFamily="18" charset="0"/>
                                </a:rPr>
                                <m:t>hh</m:t>
                              </m:r>
                            </m:sub>
                          </m:sSub>
                          <m:sSub>
                            <m:sSubPr>
                              <m:ctrlPr>
                                <a:rPr lang="ar-AE" sz="2000" i="1" kern="1200">
                                  <a:solidFill>
                                    <a:schemeClr val="tx1"/>
                                  </a:solidFill>
                                  <a:latin typeface="Cambria Math" panose="02040503050406030204" pitchFamily="18" charset="0"/>
                                </a:rPr>
                              </m:ctrlPr>
                            </m:sSubPr>
                            <m:e>
                              <m:r>
                                <a:rPr lang="ar-AE" sz="2000" i="1" kern="1200">
                                  <a:solidFill>
                                    <a:schemeClr val="tx1"/>
                                  </a:solidFill>
                                  <a:latin typeface="Cambria Math" panose="02040503050406030204" pitchFamily="18" charset="0"/>
                                </a:rPr>
                                <m:t>h</m:t>
                              </m:r>
                            </m:e>
                            <m:sub>
                              <m:r>
                                <a:rPr lang="ar-AE" sz="2000" kern="1200">
                                  <a:solidFill>
                                    <a:schemeClr val="tx1"/>
                                  </a:solidFill>
                                  <a:latin typeface="Cambria Math" panose="02040503050406030204" pitchFamily="18" charset="0"/>
                                </a:rPr>
                                <m:t>1</m:t>
                              </m:r>
                            </m:sub>
                          </m:sSub>
                          <m:r>
                            <a:rPr lang="ar-AE" sz="2000" kern="1200">
                              <a:solidFill>
                                <a:schemeClr val="tx1"/>
                              </a:solidFill>
                              <a:latin typeface="Cambria Math" panose="02040503050406030204" pitchFamily="18" charset="0"/>
                            </a:rPr>
                            <m:t>+</m:t>
                          </m:r>
                          <m:sSub>
                            <m:sSubPr>
                              <m:ctrlPr>
                                <a:rPr lang="ar-AE" sz="2000" i="1" kern="1200">
                                  <a:solidFill>
                                    <a:schemeClr val="tx1"/>
                                  </a:solidFill>
                                  <a:latin typeface="Cambria Math" panose="02040503050406030204" pitchFamily="18" charset="0"/>
                                </a:rPr>
                              </m:ctrlPr>
                            </m:sSubPr>
                            <m:e>
                              <m:r>
                                <a:rPr lang="ar-AE" sz="2000" i="1" kern="1200">
                                  <a:solidFill>
                                    <a:schemeClr val="tx1"/>
                                  </a:solidFill>
                                  <a:latin typeface="Cambria Math" panose="02040503050406030204" pitchFamily="18" charset="0"/>
                                </a:rPr>
                                <m:t>𝑏</m:t>
                              </m:r>
                            </m:e>
                            <m:sub>
                              <m:r>
                                <a:rPr lang="ar-AE" sz="2000" i="1" kern="1200">
                                  <a:solidFill>
                                    <a:schemeClr val="tx1"/>
                                  </a:solidFill>
                                  <a:latin typeface="Cambria Math" panose="02040503050406030204" pitchFamily="18" charset="0"/>
                                </a:rPr>
                                <m:t>h</m:t>
                              </m:r>
                            </m:sub>
                          </m:sSub>
                        </m:e>
                      </m:d>
                    </m:oMath>
                  </m:oMathPara>
                </a14:m>
                <a:endParaRPr lang="es-ES" sz="2000" dirty="0"/>
              </a:p>
              <a:p>
                <a:pPr lvl="1"/>
                <a:endParaRPr lang="en-US" dirty="0">
                  <a:latin typeface="Cambria" panose="02040503050406030204" pitchFamily="18" charset="0"/>
                  <a:ea typeface="Cambria" panose="02040503050406030204" pitchFamily="18" charset="0"/>
                </a:endParaRPr>
              </a:p>
            </p:txBody>
          </p:sp>
        </mc:Choice>
        <mc:Fallback xmlns="">
          <p:sp>
            <p:nvSpPr>
              <p:cNvPr id="3" name="Content Placeholder 2">
                <a:extLst>
                  <a:ext uri="{FF2B5EF4-FFF2-40B4-BE49-F238E27FC236}">
                    <a16:creationId xmlns:a16="http://schemas.microsoft.com/office/drawing/2014/main" id="{59F51425-9D44-E3C5-5F29-A6BD7F1AEDE5}"/>
                  </a:ext>
                </a:extLst>
              </p:cNvPr>
              <p:cNvSpPr>
                <a:spLocks noGrp="1" noRot="1" noChangeAspect="1" noMove="1" noResize="1" noEditPoints="1" noAdjustHandles="1" noChangeArrowheads="1" noChangeShapeType="1" noTextEdit="1"/>
              </p:cNvSpPr>
              <p:nvPr>
                <p:ph idx="1"/>
              </p:nvPr>
            </p:nvSpPr>
            <p:spPr>
              <a:xfrm>
                <a:off x="457200" y="992818"/>
                <a:ext cx="8229600" cy="5778372"/>
              </a:xfrm>
              <a:blipFill>
                <a:blip r:embed="rId4"/>
                <a:stretch>
                  <a:fillRect l="-1111" t="-844" r="-519" b="-316"/>
                </a:stretch>
              </a:blipFill>
            </p:spPr>
            <p:txBody>
              <a:bodyPr/>
              <a:lstStyle/>
              <a:p>
                <a:r>
                  <a:rPr lang="es-ES">
                    <a:noFill/>
                  </a:rPr>
                  <a:t> </a:t>
                </a:r>
              </a:p>
            </p:txBody>
          </p:sp>
        </mc:Fallback>
      </mc:AlternateContent>
      <p:sp>
        <p:nvSpPr>
          <p:cNvPr id="2" name="Title 1">
            <a:extLst>
              <a:ext uri="{FF2B5EF4-FFF2-40B4-BE49-F238E27FC236}">
                <a16:creationId xmlns:a16="http://schemas.microsoft.com/office/drawing/2014/main" id="{09839BFD-E795-6123-340A-0D2F7298B5EA}"/>
              </a:ext>
            </a:extLst>
          </p:cNvPr>
          <p:cNvSpPr>
            <a:spLocks noGrp="1"/>
          </p:cNvSpPr>
          <p:nvPr>
            <p:ph type="title"/>
          </p:nvPr>
        </p:nvSpPr>
        <p:spPr/>
        <p:txBody>
          <a:bodyPr>
            <a:normAutofit/>
          </a:bodyPr>
          <a:lstStyle/>
          <a:p>
            <a:r>
              <a:rPr lang="es-ES" dirty="0"/>
              <a:t>RNN </a:t>
            </a:r>
            <a:r>
              <a:rPr dirty="0"/>
              <a:t>ejemplo</a:t>
            </a:r>
          </a:p>
        </p:txBody>
      </p:sp>
      <p:sp>
        <p:nvSpPr>
          <p:cNvPr id="9" name="Content Placeholder 2">
            <a:extLst>
              <a:ext uri="{FF2B5EF4-FFF2-40B4-BE49-F238E27FC236}">
                <a16:creationId xmlns:a16="http://schemas.microsoft.com/office/drawing/2014/main" id="{A10FE7A7-3529-A71A-B492-FA36F903169C}"/>
              </a:ext>
            </a:extLst>
          </p:cNvPr>
          <p:cNvSpPr txBox="1">
            <a:spLocks/>
          </p:cNvSpPr>
          <p:nvPr/>
        </p:nvSpPr>
        <p:spPr>
          <a:xfrm>
            <a:off x="609600" y="1752600"/>
            <a:ext cx="8229600" cy="5257800"/>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457200" lvl="1" indent="0">
              <a:buFont typeface="Arial"/>
              <a:buNone/>
            </a:pPr>
            <a:endParaRPr lang="es-ES" sz="2400" dirty="0">
              <a:latin typeface="Cambria" panose="02040503050406030204" pitchFamily="18" charset="0"/>
              <a:ea typeface="Cambria" panose="02040503050406030204" pitchFamily="18" charset="0"/>
            </a:endParaRPr>
          </a:p>
        </p:txBody>
      </p:sp>
      <p:sp>
        <p:nvSpPr>
          <p:cNvPr id="8" name="Elipse 7">
            <a:extLst>
              <a:ext uri="{FF2B5EF4-FFF2-40B4-BE49-F238E27FC236}">
                <a16:creationId xmlns:a16="http://schemas.microsoft.com/office/drawing/2014/main" id="{7C531AED-A0B6-DCA3-3B1E-8500D9B920F0}"/>
              </a:ext>
            </a:extLst>
          </p:cNvPr>
          <p:cNvSpPr/>
          <p:nvPr/>
        </p:nvSpPr>
        <p:spPr bwMode="auto">
          <a:xfrm>
            <a:off x="2135538" y="4104693"/>
            <a:ext cx="613458" cy="571661"/>
          </a:xfrm>
          <a:prstGeom prst="ellipse">
            <a:avLst/>
          </a:prstGeom>
          <a:noFill/>
          <a:ln w="38100"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es-ES" sz="2000" dirty="0">
                <a:solidFill>
                  <a:srgbClr val="002060"/>
                </a:solidFill>
              </a:rPr>
              <a:t>x</a:t>
            </a:r>
            <a:endParaRPr kumimoji="0" lang="es-ES" sz="1800" b="1" i="0" u="none" strike="noStrike" cap="none" normalizeH="0" baseline="-25000" dirty="0">
              <a:ln>
                <a:noFill/>
              </a:ln>
              <a:solidFill>
                <a:srgbClr val="002060"/>
              </a:solidFill>
              <a:effectLst/>
              <a:latin typeface="Times New Roman" pitchFamily="18" charset="0"/>
            </a:endParaRPr>
          </a:p>
        </p:txBody>
      </p:sp>
      <p:sp>
        <p:nvSpPr>
          <p:cNvPr id="11" name="Elipse 10">
            <a:extLst>
              <a:ext uri="{FF2B5EF4-FFF2-40B4-BE49-F238E27FC236}">
                <a16:creationId xmlns:a16="http://schemas.microsoft.com/office/drawing/2014/main" id="{28B60A13-5568-79FC-6B64-BDD133FE45FF}"/>
              </a:ext>
            </a:extLst>
          </p:cNvPr>
          <p:cNvSpPr/>
          <p:nvPr/>
        </p:nvSpPr>
        <p:spPr bwMode="auto">
          <a:xfrm>
            <a:off x="4170222" y="2903112"/>
            <a:ext cx="613458" cy="571661"/>
          </a:xfrm>
          <a:prstGeom prst="ellipse">
            <a:avLst/>
          </a:prstGeom>
          <a:noFill/>
          <a:ln w="38100"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es-ES" sz="2000" dirty="0">
                <a:solidFill>
                  <a:srgbClr val="002060"/>
                </a:solidFill>
              </a:rPr>
              <a:t>h</a:t>
            </a:r>
            <a:r>
              <a:rPr lang="es-ES" baseline="-25000" dirty="0">
                <a:solidFill>
                  <a:srgbClr val="002060"/>
                </a:solidFill>
              </a:rPr>
              <a:t>1</a:t>
            </a:r>
            <a:endParaRPr kumimoji="0" lang="es-ES" sz="1800" b="1" i="0" u="none" strike="noStrike" cap="none" normalizeH="0" baseline="-25000" dirty="0">
              <a:ln>
                <a:noFill/>
              </a:ln>
              <a:solidFill>
                <a:srgbClr val="002060"/>
              </a:solidFill>
              <a:effectLst/>
              <a:latin typeface="Times New Roman" pitchFamily="18" charset="0"/>
            </a:endParaRPr>
          </a:p>
        </p:txBody>
      </p:sp>
      <p:sp>
        <p:nvSpPr>
          <p:cNvPr id="12" name="Elipse 11">
            <a:extLst>
              <a:ext uri="{FF2B5EF4-FFF2-40B4-BE49-F238E27FC236}">
                <a16:creationId xmlns:a16="http://schemas.microsoft.com/office/drawing/2014/main" id="{669393F6-5E8E-ACE5-FFD3-2D4B0C661FC9}"/>
              </a:ext>
            </a:extLst>
          </p:cNvPr>
          <p:cNvSpPr/>
          <p:nvPr/>
        </p:nvSpPr>
        <p:spPr bwMode="auto">
          <a:xfrm>
            <a:off x="4160062" y="4104693"/>
            <a:ext cx="613458" cy="571661"/>
          </a:xfrm>
          <a:prstGeom prst="ellipse">
            <a:avLst/>
          </a:prstGeom>
          <a:noFill/>
          <a:ln w="38100"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es-ES" sz="2000" dirty="0">
                <a:solidFill>
                  <a:srgbClr val="002060"/>
                </a:solidFill>
              </a:rPr>
              <a:t>h</a:t>
            </a:r>
            <a:r>
              <a:rPr lang="es-ES" baseline="-25000" dirty="0">
                <a:solidFill>
                  <a:srgbClr val="002060"/>
                </a:solidFill>
              </a:rPr>
              <a:t>2</a:t>
            </a:r>
            <a:endParaRPr kumimoji="0" lang="es-ES" sz="1800" b="1" i="0" u="none" strike="noStrike" cap="none" normalizeH="0" baseline="-25000" dirty="0">
              <a:ln>
                <a:noFill/>
              </a:ln>
              <a:solidFill>
                <a:srgbClr val="002060"/>
              </a:solidFill>
              <a:effectLst/>
              <a:latin typeface="Times New Roman" pitchFamily="18" charset="0"/>
            </a:endParaRPr>
          </a:p>
        </p:txBody>
      </p:sp>
      <p:sp>
        <p:nvSpPr>
          <p:cNvPr id="15" name="Elipse 14">
            <a:extLst>
              <a:ext uri="{FF2B5EF4-FFF2-40B4-BE49-F238E27FC236}">
                <a16:creationId xmlns:a16="http://schemas.microsoft.com/office/drawing/2014/main" id="{1D0A23C8-C6D5-9A58-51FD-3AA53AD7E3BB}"/>
              </a:ext>
            </a:extLst>
          </p:cNvPr>
          <p:cNvSpPr/>
          <p:nvPr/>
        </p:nvSpPr>
        <p:spPr bwMode="auto">
          <a:xfrm>
            <a:off x="6184586" y="4104693"/>
            <a:ext cx="613458" cy="571661"/>
          </a:xfrm>
          <a:prstGeom prst="ellipse">
            <a:avLst/>
          </a:prstGeom>
          <a:noFill/>
          <a:ln w="38100"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es-ES" sz="2000" dirty="0">
                <a:solidFill>
                  <a:srgbClr val="002060"/>
                </a:solidFill>
              </a:rPr>
              <a:t>y</a:t>
            </a:r>
            <a:endParaRPr kumimoji="0" lang="es-ES" sz="1800" b="1" i="0" u="none" strike="noStrike" cap="none" normalizeH="0" baseline="-25000" dirty="0">
              <a:ln>
                <a:noFill/>
              </a:ln>
              <a:solidFill>
                <a:srgbClr val="002060"/>
              </a:solidFill>
              <a:effectLst/>
              <a:latin typeface="Times New Roman" pitchFamily="18" charset="0"/>
            </a:endParaRPr>
          </a:p>
        </p:txBody>
      </p:sp>
      <p:cxnSp>
        <p:nvCxnSpPr>
          <p:cNvPr id="22" name="Conector recto de flecha 21">
            <a:extLst>
              <a:ext uri="{FF2B5EF4-FFF2-40B4-BE49-F238E27FC236}">
                <a16:creationId xmlns:a16="http://schemas.microsoft.com/office/drawing/2014/main" id="{B77B602D-7ED9-4868-0E51-CD781ACFEB27}"/>
              </a:ext>
            </a:extLst>
          </p:cNvPr>
          <p:cNvCxnSpPr>
            <a:stCxn id="11" idx="2"/>
          </p:cNvCxnSpPr>
          <p:nvPr/>
        </p:nvCxnSpPr>
        <p:spPr bwMode="auto">
          <a:xfrm>
            <a:off x="4083574" y="3173038"/>
            <a:ext cx="914400" cy="914400"/>
          </a:xfrm>
          <a:prstGeom prst="straightConnector1">
            <a:avLst/>
          </a:prstGeom>
          <a:solidFill>
            <a:schemeClr val="accent1"/>
          </a:solidFill>
          <a:ln>
            <a:noFill/>
            <a:tailEnd type="triangle"/>
          </a:ln>
          <a:effectLst/>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4" name="Conector recto de flecha 23">
            <a:extLst>
              <a:ext uri="{FF2B5EF4-FFF2-40B4-BE49-F238E27FC236}">
                <a16:creationId xmlns:a16="http://schemas.microsoft.com/office/drawing/2014/main" id="{4280BD23-A57B-18C9-8AAA-21603BF8F93D}"/>
              </a:ext>
            </a:extLst>
          </p:cNvPr>
          <p:cNvCxnSpPr>
            <a:cxnSpLocks/>
          </p:cNvCxnSpPr>
          <p:nvPr/>
        </p:nvCxnSpPr>
        <p:spPr bwMode="auto">
          <a:xfrm>
            <a:off x="2759156" y="3188943"/>
            <a:ext cx="0" cy="0"/>
          </a:xfrm>
          <a:prstGeom prst="straightConnector1">
            <a:avLst/>
          </a:prstGeom>
          <a:solidFill>
            <a:schemeClr val="accent1"/>
          </a:solidFill>
          <a:ln>
            <a:noFill/>
            <a:tailEnd type="triangle"/>
          </a:ln>
          <a:effectLst/>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3" name="Conector recto de flecha 32">
            <a:extLst>
              <a:ext uri="{FF2B5EF4-FFF2-40B4-BE49-F238E27FC236}">
                <a16:creationId xmlns:a16="http://schemas.microsoft.com/office/drawing/2014/main" id="{3915EBA7-6380-C832-4F62-0E8234B2D5A6}"/>
              </a:ext>
            </a:extLst>
          </p:cNvPr>
          <p:cNvCxnSpPr/>
          <p:nvPr/>
        </p:nvCxnSpPr>
        <p:spPr bwMode="auto">
          <a:xfrm>
            <a:off x="2748996" y="4390523"/>
            <a:ext cx="1411066" cy="0"/>
          </a:xfrm>
          <a:prstGeom prst="straightConnector1">
            <a:avLst/>
          </a:prstGeom>
          <a:ln w="38100" cap="flat" cmpd="sng" algn="ctr">
            <a:solidFill>
              <a:srgbClr val="7030A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6" name="Conector recto de flecha 35">
            <a:extLst>
              <a:ext uri="{FF2B5EF4-FFF2-40B4-BE49-F238E27FC236}">
                <a16:creationId xmlns:a16="http://schemas.microsoft.com/office/drawing/2014/main" id="{D99BA435-65C5-1CF4-0F7E-47D5EC5BADF9}"/>
              </a:ext>
            </a:extLst>
          </p:cNvPr>
          <p:cNvCxnSpPr/>
          <p:nvPr/>
        </p:nvCxnSpPr>
        <p:spPr bwMode="auto">
          <a:xfrm>
            <a:off x="4773520" y="4390523"/>
            <a:ext cx="1411066" cy="0"/>
          </a:xfrm>
          <a:prstGeom prst="straightConnector1">
            <a:avLst/>
          </a:prstGeom>
          <a:ln w="38100" cap="flat" cmpd="sng" algn="ctr">
            <a:solidFill>
              <a:srgbClr val="7030A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7" name="Conector recto de flecha 36">
            <a:extLst>
              <a:ext uri="{FF2B5EF4-FFF2-40B4-BE49-F238E27FC236}">
                <a16:creationId xmlns:a16="http://schemas.microsoft.com/office/drawing/2014/main" id="{2AB756B1-151A-D598-7CEC-DEE770275D92}"/>
              </a:ext>
            </a:extLst>
          </p:cNvPr>
          <p:cNvCxnSpPr>
            <a:cxnSpLocks/>
            <a:stCxn id="11" idx="4"/>
            <a:endCxn id="12" idx="0"/>
          </p:cNvCxnSpPr>
          <p:nvPr/>
        </p:nvCxnSpPr>
        <p:spPr bwMode="auto">
          <a:xfrm flipH="1">
            <a:off x="4466791" y="3474773"/>
            <a:ext cx="10160" cy="629920"/>
          </a:xfrm>
          <a:prstGeom prst="straightConnector1">
            <a:avLst/>
          </a:prstGeom>
          <a:ln w="38100" cap="flat" cmpd="sng" algn="ctr">
            <a:solidFill>
              <a:srgbClr val="7030A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0" name="Conector recto de flecha 39">
            <a:extLst>
              <a:ext uri="{FF2B5EF4-FFF2-40B4-BE49-F238E27FC236}">
                <a16:creationId xmlns:a16="http://schemas.microsoft.com/office/drawing/2014/main" id="{43F4996E-4852-D4B7-48DE-BC26B2CAE6CF}"/>
              </a:ext>
            </a:extLst>
          </p:cNvPr>
          <p:cNvCxnSpPr>
            <a:cxnSpLocks/>
          </p:cNvCxnSpPr>
          <p:nvPr/>
        </p:nvCxnSpPr>
        <p:spPr bwMode="auto">
          <a:xfrm>
            <a:off x="4460070" y="4676354"/>
            <a:ext cx="0" cy="629920"/>
          </a:xfrm>
          <a:prstGeom prst="straightConnector1">
            <a:avLst/>
          </a:prstGeom>
          <a:ln w="38100" cap="flat" cmpd="sng" algn="ctr">
            <a:solidFill>
              <a:srgbClr val="7030A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363C395C-47DC-1133-F938-6AD1ED8DA0B4}"/>
                  </a:ext>
                </a:extLst>
              </p:cNvPr>
              <p:cNvSpPr txBox="1"/>
              <p:nvPr/>
            </p:nvSpPr>
            <p:spPr>
              <a:xfrm>
                <a:off x="4476951" y="3564277"/>
                <a:ext cx="627991" cy="41857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ar-AE" sz="1800" i="1" kern="1200">
                              <a:solidFill>
                                <a:schemeClr val="tx1"/>
                              </a:solidFill>
                              <a:latin typeface="Cambria Math" panose="02040503050406030204" pitchFamily="18" charset="0"/>
                              <a:ea typeface="+mn-ea"/>
                              <a:cs typeface="+mn-cs"/>
                            </a:rPr>
                          </m:ctrlPr>
                        </m:sSubPr>
                        <m:e>
                          <m:r>
                            <a:rPr lang="ar-AE" sz="1800" i="1" kern="1200">
                              <a:solidFill>
                                <a:schemeClr val="tx1"/>
                              </a:solidFill>
                              <a:latin typeface="Cambria Math" panose="02040503050406030204" pitchFamily="18" charset="0"/>
                              <a:ea typeface="+mn-ea"/>
                              <a:cs typeface="+mn-cs"/>
                            </a:rPr>
                            <m:t>𝑊</m:t>
                          </m:r>
                        </m:e>
                        <m:sub>
                          <m:r>
                            <a:rPr lang="ar-AE" sz="1800" i="1" kern="1200">
                              <a:solidFill>
                                <a:schemeClr val="tx1"/>
                              </a:solidFill>
                              <a:latin typeface="Cambria Math" panose="02040503050406030204" pitchFamily="18" charset="0"/>
                              <a:ea typeface="+mn-ea"/>
                              <a:cs typeface="+mn-cs"/>
                            </a:rPr>
                            <m:t>hh</m:t>
                          </m:r>
                        </m:sub>
                      </m:sSub>
                    </m:oMath>
                  </m:oMathPara>
                </a14:m>
                <a:endParaRPr lang="es-ES" dirty="0"/>
              </a:p>
            </p:txBody>
          </p:sp>
        </mc:Choice>
        <mc:Fallback xmlns="">
          <p:sp>
            <p:nvSpPr>
              <p:cNvPr id="18" name="CuadroTexto 17">
                <a:extLst>
                  <a:ext uri="{FF2B5EF4-FFF2-40B4-BE49-F238E27FC236}">
                    <a16:creationId xmlns:a16="http://schemas.microsoft.com/office/drawing/2014/main" id="{363C395C-47DC-1133-F938-6AD1ED8DA0B4}"/>
                  </a:ext>
                </a:extLst>
              </p:cNvPr>
              <p:cNvSpPr txBox="1">
                <a:spLocks noRot="1" noChangeAspect="1" noMove="1" noResize="1" noEditPoints="1" noAdjustHandles="1" noChangeArrowheads="1" noChangeShapeType="1" noTextEdit="1"/>
              </p:cNvSpPr>
              <p:nvPr/>
            </p:nvSpPr>
            <p:spPr>
              <a:xfrm>
                <a:off x="4476951" y="3564277"/>
                <a:ext cx="627991" cy="418576"/>
              </a:xfrm>
              <a:prstGeom prst="rect">
                <a:avLst/>
              </a:prstGeom>
              <a:blipFill>
                <a:blip r:embed="rId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F410BF69-1577-912D-0EB9-545C61B38917}"/>
                  </a:ext>
                </a:extLst>
              </p:cNvPr>
              <p:cNvSpPr txBox="1"/>
              <p:nvPr/>
            </p:nvSpPr>
            <p:spPr>
              <a:xfrm>
                <a:off x="5195315" y="4010692"/>
                <a:ext cx="693922" cy="43832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ar-AE" sz="1800" i="1" kern="1200">
                              <a:solidFill>
                                <a:schemeClr val="tx1"/>
                              </a:solidFill>
                              <a:latin typeface="Cambria Math" panose="02040503050406030204" pitchFamily="18" charset="0"/>
                              <a:ea typeface="+mn-ea"/>
                              <a:cs typeface="+mn-cs"/>
                            </a:rPr>
                          </m:ctrlPr>
                        </m:sSubPr>
                        <m:e>
                          <m:r>
                            <a:rPr lang="ar-AE" sz="1800" i="1" kern="1200">
                              <a:solidFill>
                                <a:schemeClr val="tx1"/>
                              </a:solidFill>
                              <a:latin typeface="Cambria Math" panose="02040503050406030204" pitchFamily="18" charset="0"/>
                              <a:ea typeface="+mn-ea"/>
                              <a:cs typeface="+mn-cs"/>
                            </a:rPr>
                            <m:t>𝑊</m:t>
                          </m:r>
                        </m:e>
                        <m:sub>
                          <m:r>
                            <a:rPr lang="ar-AE" sz="1800" i="1" kern="1200">
                              <a:solidFill>
                                <a:schemeClr val="tx1"/>
                              </a:solidFill>
                              <a:latin typeface="Cambria Math" panose="02040503050406030204" pitchFamily="18" charset="0"/>
                              <a:ea typeface="+mn-ea"/>
                              <a:cs typeface="+mn-cs"/>
                            </a:rPr>
                            <m:t>h</m:t>
                          </m:r>
                          <m:r>
                            <a:rPr lang="ar-AE" sz="1800" i="1" kern="1200">
                              <a:solidFill>
                                <a:schemeClr val="tx1"/>
                              </a:solidFill>
                              <a:latin typeface="Cambria Math" panose="02040503050406030204" pitchFamily="18" charset="0"/>
                              <a:ea typeface="+mn-ea"/>
                              <a:cs typeface="+mn-cs"/>
                            </a:rPr>
                            <m:t>𝑦</m:t>
                          </m:r>
                        </m:sub>
                      </m:sSub>
                    </m:oMath>
                  </m:oMathPara>
                </a14:m>
                <a:endParaRPr lang="es-ES" dirty="0"/>
              </a:p>
            </p:txBody>
          </p:sp>
        </mc:Choice>
        <mc:Fallback xmlns="">
          <p:sp>
            <p:nvSpPr>
              <p:cNvPr id="25" name="CuadroTexto 24">
                <a:extLst>
                  <a:ext uri="{FF2B5EF4-FFF2-40B4-BE49-F238E27FC236}">
                    <a16:creationId xmlns:a16="http://schemas.microsoft.com/office/drawing/2014/main" id="{F410BF69-1577-912D-0EB9-545C61B38917}"/>
                  </a:ext>
                </a:extLst>
              </p:cNvPr>
              <p:cNvSpPr txBox="1">
                <a:spLocks noRot="1" noChangeAspect="1" noMove="1" noResize="1" noEditPoints="1" noAdjustHandles="1" noChangeArrowheads="1" noChangeShapeType="1" noTextEdit="1"/>
              </p:cNvSpPr>
              <p:nvPr/>
            </p:nvSpPr>
            <p:spPr>
              <a:xfrm>
                <a:off x="5195315" y="4010692"/>
                <a:ext cx="693922" cy="438325"/>
              </a:xfrm>
              <a:prstGeom prst="rect">
                <a:avLst/>
              </a:prstGeom>
              <a:blipFill>
                <a:blip r:embed="rId6"/>
                <a:stretch>
                  <a:fillRect/>
                </a:stretch>
              </a:blipFill>
            </p:spPr>
            <p:txBody>
              <a:bodyPr/>
              <a:lstStyle/>
              <a:p>
                <a:r>
                  <a:rPr lang="es-ES">
                    <a:noFill/>
                  </a:rPr>
                  <a:t> </a:t>
                </a:r>
              </a:p>
            </p:txBody>
          </p:sp>
        </mc:Fallback>
      </mc:AlternateContent>
      <p:cxnSp>
        <p:nvCxnSpPr>
          <p:cNvPr id="30" name="Conector: curvado 29">
            <a:extLst>
              <a:ext uri="{FF2B5EF4-FFF2-40B4-BE49-F238E27FC236}">
                <a16:creationId xmlns:a16="http://schemas.microsoft.com/office/drawing/2014/main" id="{7E4AB994-ADCF-65F1-4FC5-D7770FCC9C2B}"/>
              </a:ext>
            </a:extLst>
          </p:cNvPr>
          <p:cNvCxnSpPr/>
          <p:nvPr/>
        </p:nvCxnSpPr>
        <p:spPr bwMode="auto">
          <a:xfrm rot="16200000" flipH="1">
            <a:off x="4675083" y="4610945"/>
            <a:ext cx="289585" cy="212089"/>
          </a:xfrm>
          <a:prstGeom prst="curvedConnector3">
            <a:avLst/>
          </a:prstGeom>
          <a:solidFill>
            <a:schemeClr val="accent1"/>
          </a:solidFill>
          <a:ln w="19050" cap="flat" cmpd="sng" algn="ctr">
            <a:solidFill>
              <a:srgbClr val="7030A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9" name="Conector: curvado 38">
            <a:extLst>
              <a:ext uri="{FF2B5EF4-FFF2-40B4-BE49-F238E27FC236}">
                <a16:creationId xmlns:a16="http://schemas.microsoft.com/office/drawing/2014/main" id="{B881DA66-A934-3458-F012-A39C660DC987}"/>
              </a:ext>
            </a:extLst>
          </p:cNvPr>
          <p:cNvCxnSpPr/>
          <p:nvPr/>
        </p:nvCxnSpPr>
        <p:spPr bwMode="auto">
          <a:xfrm rot="5400000">
            <a:off x="6607395" y="3815313"/>
            <a:ext cx="289586" cy="289175"/>
          </a:xfrm>
          <a:prstGeom prst="curvedConnector3">
            <a:avLst/>
          </a:prstGeom>
          <a:solidFill>
            <a:schemeClr val="accent1"/>
          </a:solidFill>
          <a:ln w="19050" cap="flat" cmpd="sng" algn="ctr">
            <a:solidFill>
              <a:srgbClr val="7030A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mc:AlternateContent xmlns:mc="http://schemas.openxmlformats.org/markup-compatibility/2006" xmlns:a14="http://schemas.microsoft.com/office/drawing/2010/main">
        <mc:Choice Requires="a14">
          <p:sp>
            <p:nvSpPr>
              <p:cNvPr id="42" name="CuadroTexto 41">
                <a:extLst>
                  <a:ext uri="{FF2B5EF4-FFF2-40B4-BE49-F238E27FC236}">
                    <a16:creationId xmlns:a16="http://schemas.microsoft.com/office/drawing/2014/main" id="{7C387976-4E20-5E31-6253-9642D73571FE}"/>
                  </a:ext>
                </a:extLst>
              </p:cNvPr>
              <p:cNvSpPr txBox="1"/>
              <p:nvPr/>
            </p:nvSpPr>
            <p:spPr>
              <a:xfrm>
                <a:off x="6671178" y="3505640"/>
                <a:ext cx="693922" cy="43832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ar-AE" sz="1800" i="1" kern="1200" smtClean="0">
                              <a:solidFill>
                                <a:schemeClr val="tx1"/>
                              </a:solidFill>
                              <a:latin typeface="Cambria Math" panose="02040503050406030204" pitchFamily="18" charset="0"/>
                              <a:ea typeface="+mn-ea"/>
                              <a:cs typeface="+mn-cs"/>
                            </a:rPr>
                          </m:ctrlPr>
                        </m:sSubPr>
                        <m:e>
                          <m:r>
                            <a:rPr lang="es-ES" sz="1800" b="1" i="1" kern="1200" smtClean="0">
                              <a:solidFill>
                                <a:schemeClr val="tx1"/>
                              </a:solidFill>
                              <a:latin typeface="Cambria Math" panose="02040503050406030204" pitchFamily="18" charset="0"/>
                              <a:ea typeface="+mn-ea"/>
                              <a:cs typeface="+mn-cs"/>
                            </a:rPr>
                            <m:t>𝒃</m:t>
                          </m:r>
                        </m:e>
                        <m:sub>
                          <m:r>
                            <a:rPr lang="ar-AE" sz="1800" i="1" kern="1200">
                              <a:solidFill>
                                <a:schemeClr val="tx1"/>
                              </a:solidFill>
                              <a:latin typeface="Cambria Math" panose="02040503050406030204" pitchFamily="18" charset="0"/>
                              <a:ea typeface="+mn-ea"/>
                              <a:cs typeface="+mn-cs"/>
                            </a:rPr>
                            <m:t>𝑦</m:t>
                          </m:r>
                        </m:sub>
                      </m:sSub>
                    </m:oMath>
                  </m:oMathPara>
                </a14:m>
                <a:endParaRPr lang="es-ES" dirty="0"/>
              </a:p>
            </p:txBody>
          </p:sp>
        </mc:Choice>
        <mc:Fallback xmlns="">
          <p:sp>
            <p:nvSpPr>
              <p:cNvPr id="42" name="CuadroTexto 41">
                <a:extLst>
                  <a:ext uri="{FF2B5EF4-FFF2-40B4-BE49-F238E27FC236}">
                    <a16:creationId xmlns:a16="http://schemas.microsoft.com/office/drawing/2014/main" id="{7C387976-4E20-5E31-6253-9642D73571FE}"/>
                  </a:ext>
                </a:extLst>
              </p:cNvPr>
              <p:cNvSpPr txBox="1">
                <a:spLocks noRot="1" noChangeAspect="1" noMove="1" noResize="1" noEditPoints="1" noAdjustHandles="1" noChangeArrowheads="1" noChangeShapeType="1" noTextEdit="1"/>
              </p:cNvSpPr>
              <p:nvPr/>
            </p:nvSpPr>
            <p:spPr>
              <a:xfrm>
                <a:off x="6671178" y="3505640"/>
                <a:ext cx="693922" cy="438325"/>
              </a:xfrm>
              <a:prstGeom prst="rect">
                <a:avLst/>
              </a:prstGeom>
              <a:blipFill>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3" name="CuadroTexto 42">
                <a:extLst>
                  <a:ext uri="{FF2B5EF4-FFF2-40B4-BE49-F238E27FC236}">
                    <a16:creationId xmlns:a16="http://schemas.microsoft.com/office/drawing/2014/main" id="{834EA207-C5FB-4344-AFB8-21C84079A159}"/>
                  </a:ext>
                </a:extLst>
              </p:cNvPr>
              <p:cNvSpPr txBox="1"/>
              <p:nvPr/>
            </p:nvSpPr>
            <p:spPr>
              <a:xfrm>
                <a:off x="4578959" y="4770355"/>
                <a:ext cx="693922" cy="41857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ar-AE" sz="1800" i="1" kern="1200" smtClean="0">
                              <a:solidFill>
                                <a:schemeClr val="tx1"/>
                              </a:solidFill>
                              <a:latin typeface="Cambria Math" panose="02040503050406030204" pitchFamily="18" charset="0"/>
                              <a:ea typeface="+mn-ea"/>
                              <a:cs typeface="+mn-cs"/>
                            </a:rPr>
                          </m:ctrlPr>
                        </m:sSubPr>
                        <m:e>
                          <m:r>
                            <a:rPr lang="es-ES" sz="1800" b="1" i="1" kern="1200" smtClean="0">
                              <a:solidFill>
                                <a:schemeClr val="tx1"/>
                              </a:solidFill>
                              <a:latin typeface="Cambria Math" panose="02040503050406030204" pitchFamily="18" charset="0"/>
                              <a:ea typeface="+mn-ea"/>
                              <a:cs typeface="+mn-cs"/>
                            </a:rPr>
                            <m:t>𝒃</m:t>
                          </m:r>
                        </m:e>
                        <m:sub>
                          <m:r>
                            <a:rPr lang="es-ES" sz="1800" b="1" i="1" kern="1200" smtClean="0">
                              <a:solidFill>
                                <a:schemeClr val="tx1"/>
                              </a:solidFill>
                              <a:latin typeface="Cambria Math" panose="02040503050406030204" pitchFamily="18" charset="0"/>
                              <a:ea typeface="+mn-ea"/>
                              <a:cs typeface="+mn-cs"/>
                            </a:rPr>
                            <m:t>𝒉</m:t>
                          </m:r>
                        </m:sub>
                      </m:sSub>
                    </m:oMath>
                  </m:oMathPara>
                </a14:m>
                <a:endParaRPr lang="es-ES" dirty="0"/>
              </a:p>
            </p:txBody>
          </p:sp>
        </mc:Choice>
        <mc:Fallback xmlns="">
          <p:sp>
            <p:nvSpPr>
              <p:cNvPr id="43" name="CuadroTexto 42">
                <a:extLst>
                  <a:ext uri="{FF2B5EF4-FFF2-40B4-BE49-F238E27FC236}">
                    <a16:creationId xmlns:a16="http://schemas.microsoft.com/office/drawing/2014/main" id="{834EA207-C5FB-4344-AFB8-21C84079A159}"/>
                  </a:ext>
                </a:extLst>
              </p:cNvPr>
              <p:cNvSpPr txBox="1">
                <a:spLocks noRot="1" noChangeAspect="1" noMove="1" noResize="1" noEditPoints="1" noAdjustHandles="1" noChangeArrowheads="1" noChangeShapeType="1" noTextEdit="1"/>
              </p:cNvSpPr>
              <p:nvPr/>
            </p:nvSpPr>
            <p:spPr>
              <a:xfrm>
                <a:off x="4578959" y="4770355"/>
                <a:ext cx="693922" cy="418576"/>
              </a:xfrm>
              <a:prstGeom prst="rect">
                <a:avLst/>
              </a:prstGeom>
              <a:blipFill>
                <a:blip r:embed="rId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782D5A96-0E00-3C65-E8B9-B269DE6AC19F}"/>
                  </a:ext>
                </a:extLst>
              </p:cNvPr>
              <p:cNvSpPr txBox="1"/>
              <p:nvPr/>
            </p:nvSpPr>
            <p:spPr>
              <a:xfrm>
                <a:off x="4499934" y="1752600"/>
                <a:ext cx="2455609" cy="44627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sz="1800" b="1" i="1" kern="1200" smtClean="0">
                          <a:solidFill>
                            <a:schemeClr val="tx1"/>
                          </a:solidFill>
                          <a:latin typeface="Cambria Math" panose="02040503050406030204" pitchFamily="18" charset="0"/>
                        </a:rPr>
                        <m:t>(</m:t>
                      </m:r>
                      <m:sSub>
                        <m:sSubPr>
                          <m:ctrlPr>
                            <a:rPr lang="ar-AE" sz="1800" i="1" kern="1200" smtClean="0">
                              <a:solidFill>
                                <a:schemeClr val="tx1"/>
                              </a:solidFill>
                              <a:latin typeface="Cambria Math" panose="02040503050406030204" pitchFamily="18" charset="0"/>
                            </a:rPr>
                          </m:ctrlPr>
                        </m:sSubPr>
                        <m:e>
                          <m:r>
                            <a:rPr lang="ar-AE" sz="1800" i="1" kern="1200">
                              <a:solidFill>
                                <a:schemeClr val="tx1"/>
                              </a:solidFill>
                              <a:latin typeface="Cambria Math" panose="02040503050406030204" pitchFamily="18" charset="0"/>
                            </a:rPr>
                            <m:t>𝑊</m:t>
                          </m:r>
                        </m:e>
                        <m:sub>
                          <m:r>
                            <a:rPr lang="ar-AE" sz="1800" i="1" kern="1200">
                              <a:solidFill>
                                <a:schemeClr val="tx1"/>
                              </a:solidFill>
                              <a:latin typeface="Cambria Math" panose="02040503050406030204" pitchFamily="18" charset="0"/>
                            </a:rPr>
                            <m:t>𝑥</m:t>
                          </m:r>
                          <m:r>
                            <a:rPr lang="ar-AE" sz="1800" i="1" kern="1200">
                              <a:solidFill>
                                <a:schemeClr val="tx1"/>
                              </a:solidFill>
                              <a:latin typeface="Cambria Math" panose="02040503050406030204" pitchFamily="18" charset="0"/>
                            </a:rPr>
                            <m:t>h</m:t>
                          </m:r>
                        </m:sub>
                      </m:sSub>
                      <m:r>
                        <a:rPr lang="es-ES" sz="1800" b="1" i="1" kern="1200" smtClean="0">
                          <a:solidFill>
                            <a:schemeClr val="tx1"/>
                          </a:solidFill>
                          <a:latin typeface="Cambria Math" panose="02040503050406030204" pitchFamily="18" charset="0"/>
                        </a:rPr>
                        <m:t>, </m:t>
                      </m:r>
                      <m:sSub>
                        <m:sSubPr>
                          <m:ctrlPr>
                            <a:rPr lang="ar-AE" sz="1800" i="1" kern="1200">
                              <a:solidFill>
                                <a:schemeClr val="tx1"/>
                              </a:solidFill>
                              <a:latin typeface="Cambria Math" panose="02040503050406030204" pitchFamily="18" charset="0"/>
                            </a:rPr>
                          </m:ctrlPr>
                        </m:sSubPr>
                        <m:e>
                          <m:r>
                            <a:rPr lang="ar-AE" sz="1800" i="1" kern="1200">
                              <a:solidFill>
                                <a:schemeClr val="tx1"/>
                              </a:solidFill>
                              <a:latin typeface="Cambria Math" panose="02040503050406030204" pitchFamily="18" charset="0"/>
                            </a:rPr>
                            <m:t>𝑊</m:t>
                          </m:r>
                        </m:e>
                        <m:sub>
                          <m:r>
                            <a:rPr lang="ar-AE" sz="1800" i="1" kern="1200">
                              <a:solidFill>
                                <a:schemeClr val="tx1"/>
                              </a:solidFill>
                              <a:latin typeface="Cambria Math" panose="02040503050406030204" pitchFamily="18" charset="0"/>
                            </a:rPr>
                            <m:t>hh</m:t>
                          </m:r>
                        </m:sub>
                      </m:sSub>
                      <m:r>
                        <a:rPr lang="es-ES" sz="1800" b="1" i="1" kern="1200" smtClean="0">
                          <a:solidFill>
                            <a:schemeClr val="tx1"/>
                          </a:solidFill>
                          <a:latin typeface="Cambria Math" panose="02040503050406030204" pitchFamily="18" charset="0"/>
                        </a:rPr>
                        <m:t>, </m:t>
                      </m:r>
                      <m:sSub>
                        <m:sSubPr>
                          <m:ctrlPr>
                            <a:rPr lang="ar-AE" i="1">
                              <a:solidFill>
                                <a:schemeClr val="tx1"/>
                              </a:solidFill>
                              <a:latin typeface="Cambria Math" panose="02040503050406030204" pitchFamily="18" charset="0"/>
                            </a:rPr>
                          </m:ctrlPr>
                        </m:sSubPr>
                        <m:e>
                          <m:r>
                            <a:rPr lang="ar-AE" i="1">
                              <a:solidFill>
                                <a:schemeClr val="tx1"/>
                              </a:solidFill>
                              <a:latin typeface="Cambria Math" panose="02040503050406030204" pitchFamily="18" charset="0"/>
                            </a:rPr>
                            <m:t>𝑊</m:t>
                          </m:r>
                        </m:e>
                        <m:sub>
                          <m:r>
                            <a:rPr lang="ar-AE" i="1">
                              <a:solidFill>
                                <a:schemeClr val="tx1"/>
                              </a:solidFill>
                              <a:latin typeface="Cambria Math" panose="02040503050406030204" pitchFamily="18" charset="0"/>
                            </a:rPr>
                            <m:t>h</m:t>
                          </m:r>
                          <m:r>
                            <a:rPr lang="es-ES" b="1" i="1" smtClean="0">
                              <a:solidFill>
                                <a:schemeClr val="tx1"/>
                              </a:solidFill>
                              <a:latin typeface="Cambria Math" panose="02040503050406030204" pitchFamily="18" charset="0"/>
                            </a:rPr>
                            <m:t>𝒚</m:t>
                          </m:r>
                        </m:sub>
                      </m:sSub>
                      <m:r>
                        <a:rPr lang="es-ES" b="1" i="1" smtClean="0">
                          <a:solidFill>
                            <a:schemeClr val="tx1"/>
                          </a:solidFill>
                          <a:latin typeface="Cambria Math" panose="02040503050406030204" pitchFamily="18" charset="0"/>
                        </a:rPr>
                        <m:t>,</m:t>
                      </m:r>
                      <m:sSub>
                        <m:sSubPr>
                          <m:ctrlPr>
                            <a:rPr lang="ar-AE" i="1">
                              <a:solidFill>
                                <a:schemeClr val="tx1"/>
                              </a:solidFill>
                              <a:latin typeface="Cambria Math" panose="02040503050406030204" pitchFamily="18" charset="0"/>
                            </a:rPr>
                          </m:ctrlPr>
                        </m:sSubPr>
                        <m:e>
                          <m:r>
                            <a:rPr lang="ar-AE" i="1">
                              <a:solidFill>
                                <a:schemeClr val="tx1"/>
                              </a:solidFill>
                              <a:latin typeface="Cambria Math" panose="02040503050406030204" pitchFamily="18" charset="0"/>
                            </a:rPr>
                            <m:t>𝑏</m:t>
                          </m:r>
                        </m:e>
                        <m:sub>
                          <m:r>
                            <a:rPr lang="ar-AE" i="1">
                              <a:solidFill>
                                <a:schemeClr val="tx1"/>
                              </a:solidFill>
                              <a:latin typeface="Cambria Math" panose="02040503050406030204" pitchFamily="18" charset="0"/>
                            </a:rPr>
                            <m:t>h</m:t>
                          </m:r>
                        </m:sub>
                      </m:sSub>
                      <m:r>
                        <a:rPr lang="es-ES">
                          <a:solidFill>
                            <a:schemeClr val="tx1"/>
                          </a:solidFill>
                          <a:latin typeface="Cambria Math" panose="02040503050406030204" pitchFamily="18" charset="0"/>
                        </a:rPr>
                        <m:t>,</m:t>
                      </m:r>
                      <m:sSub>
                        <m:sSubPr>
                          <m:ctrlPr>
                            <a:rPr lang="ar-AE" i="1">
                              <a:solidFill>
                                <a:schemeClr val="tx1"/>
                              </a:solidFill>
                              <a:latin typeface="Cambria Math" panose="02040503050406030204" pitchFamily="18" charset="0"/>
                            </a:rPr>
                          </m:ctrlPr>
                        </m:sSubPr>
                        <m:e>
                          <m:r>
                            <a:rPr lang="ar-AE" i="1">
                              <a:solidFill>
                                <a:schemeClr val="tx1"/>
                              </a:solidFill>
                              <a:latin typeface="Cambria Math" panose="02040503050406030204" pitchFamily="18" charset="0"/>
                            </a:rPr>
                            <m:t>𝑏</m:t>
                          </m:r>
                        </m:e>
                        <m:sub>
                          <m:r>
                            <a:rPr lang="es-ES" b="0" i="1">
                              <a:solidFill>
                                <a:schemeClr val="tx1"/>
                              </a:solidFill>
                              <a:latin typeface="Cambria Math" panose="02040503050406030204" pitchFamily="18" charset="0"/>
                            </a:rPr>
                            <m:t>𝑦</m:t>
                          </m:r>
                        </m:sub>
                      </m:sSub>
                      <m:r>
                        <a:rPr lang="es-ES" b="0" i="1" smtClean="0">
                          <a:solidFill>
                            <a:schemeClr val="tx1"/>
                          </a:solidFill>
                          <a:latin typeface="Cambria Math" panose="02040503050406030204" pitchFamily="18" charset="0"/>
                        </a:rPr>
                        <m:t>)</m:t>
                      </m:r>
                    </m:oMath>
                  </m:oMathPara>
                </a14:m>
                <a:endParaRPr lang="es-ES" dirty="0"/>
              </a:p>
            </p:txBody>
          </p:sp>
        </mc:Choice>
        <mc:Fallback xmlns="">
          <p:sp>
            <p:nvSpPr>
              <p:cNvPr id="4" name="CuadroTexto 3">
                <a:extLst>
                  <a:ext uri="{FF2B5EF4-FFF2-40B4-BE49-F238E27FC236}">
                    <a16:creationId xmlns:a16="http://schemas.microsoft.com/office/drawing/2014/main" id="{782D5A96-0E00-3C65-E8B9-B269DE6AC19F}"/>
                  </a:ext>
                </a:extLst>
              </p:cNvPr>
              <p:cNvSpPr txBox="1">
                <a:spLocks noRot="1" noChangeAspect="1" noMove="1" noResize="1" noEditPoints="1" noAdjustHandles="1" noChangeArrowheads="1" noChangeShapeType="1" noTextEdit="1"/>
              </p:cNvSpPr>
              <p:nvPr/>
            </p:nvSpPr>
            <p:spPr>
              <a:xfrm>
                <a:off x="4499934" y="1752600"/>
                <a:ext cx="2455609" cy="446276"/>
              </a:xfrm>
              <a:prstGeom prst="rect">
                <a:avLst/>
              </a:prstGeom>
              <a:blipFill>
                <a:blip r:embed="rId9"/>
                <a:stretch>
                  <a:fillRect/>
                </a:stretch>
              </a:blipFill>
            </p:spPr>
            <p:txBody>
              <a:bodyPr/>
              <a:lstStyle/>
              <a:p>
                <a:r>
                  <a:rPr lang="es-ES">
                    <a:noFill/>
                  </a:rPr>
                  <a:t> </a:t>
                </a:r>
              </a:p>
            </p:txBody>
          </p:sp>
        </mc:Fallback>
      </mc:AlternateContent>
      <p:sp>
        <p:nvSpPr>
          <p:cNvPr id="10" name="Elipse 9">
            <a:extLst>
              <a:ext uri="{FF2B5EF4-FFF2-40B4-BE49-F238E27FC236}">
                <a16:creationId xmlns:a16="http://schemas.microsoft.com/office/drawing/2014/main" id="{8C32F353-287F-0D97-CF58-24F54A73678E}"/>
              </a:ext>
            </a:extLst>
          </p:cNvPr>
          <p:cNvSpPr/>
          <p:nvPr/>
        </p:nvSpPr>
        <p:spPr bwMode="auto">
          <a:xfrm>
            <a:off x="3776845" y="6269572"/>
            <a:ext cx="700106" cy="571661"/>
          </a:xfrm>
          <a:prstGeom prst="ellipse">
            <a:avLst/>
          </a:prstGeom>
          <a:noFill/>
          <a:ln w="571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kumimoji="0" lang="es-ES" sz="1800" b="1" i="0" u="none" strike="noStrike" cap="none" normalizeH="0" baseline="-25000" dirty="0">
              <a:ln>
                <a:noFill/>
              </a:ln>
              <a:solidFill>
                <a:srgbClr val="002060"/>
              </a:solidFill>
              <a:effectLst/>
              <a:latin typeface="Times New Roman" pitchFamily="18" charset="0"/>
            </a:endParaRPr>
          </a:p>
        </p:txBody>
      </p:sp>
      <p:sp>
        <p:nvSpPr>
          <p:cNvPr id="13" name="Elipse 12">
            <a:extLst>
              <a:ext uri="{FF2B5EF4-FFF2-40B4-BE49-F238E27FC236}">
                <a16:creationId xmlns:a16="http://schemas.microsoft.com/office/drawing/2014/main" id="{49D2842F-B0AD-4C1B-2C93-261E79E3D9D7}"/>
              </a:ext>
            </a:extLst>
          </p:cNvPr>
          <p:cNvSpPr/>
          <p:nvPr/>
        </p:nvSpPr>
        <p:spPr bwMode="auto">
          <a:xfrm>
            <a:off x="4721022" y="6251821"/>
            <a:ext cx="833111" cy="571661"/>
          </a:xfrm>
          <a:prstGeom prst="ellipse">
            <a:avLst/>
          </a:prstGeom>
          <a:noFill/>
          <a:ln w="571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kumimoji="0" lang="es-ES" sz="1800" b="1" i="0" u="none" strike="noStrike" cap="none" normalizeH="0" baseline="-25000" dirty="0">
              <a:ln>
                <a:noFill/>
              </a:ln>
              <a:solidFill>
                <a:srgbClr val="002060"/>
              </a:solidFill>
              <a:effectLst/>
              <a:latin typeface="Times New Roman" pitchFamily="18" charset="0"/>
            </a:endParaRPr>
          </a:p>
        </p:txBody>
      </p:sp>
      <p:sp>
        <p:nvSpPr>
          <p:cNvPr id="14" name="Elipse 13">
            <a:extLst>
              <a:ext uri="{FF2B5EF4-FFF2-40B4-BE49-F238E27FC236}">
                <a16:creationId xmlns:a16="http://schemas.microsoft.com/office/drawing/2014/main" id="{0829E9A4-6B65-483B-E5B4-41C02DA81253}"/>
              </a:ext>
            </a:extLst>
          </p:cNvPr>
          <p:cNvSpPr/>
          <p:nvPr/>
        </p:nvSpPr>
        <p:spPr bwMode="auto">
          <a:xfrm>
            <a:off x="5700423" y="6251821"/>
            <a:ext cx="484163" cy="571661"/>
          </a:xfrm>
          <a:prstGeom prst="ellipse">
            <a:avLst/>
          </a:prstGeom>
          <a:noFill/>
          <a:ln w="571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kumimoji="0" lang="es-ES" sz="1800" b="1" i="0" u="none" strike="noStrike" cap="none" normalizeH="0" baseline="-25000" dirty="0">
              <a:ln>
                <a:noFill/>
              </a:ln>
              <a:solidFill>
                <a:srgbClr val="002060"/>
              </a:solidFill>
              <a:effectLst/>
              <a:latin typeface="Times New Roman" pitchFamily="18" charset="0"/>
            </a:endParaRPr>
          </a:p>
        </p:txBody>
      </p:sp>
      <p:sp>
        <p:nvSpPr>
          <p:cNvPr id="16" name="Elipse 15">
            <a:extLst>
              <a:ext uri="{FF2B5EF4-FFF2-40B4-BE49-F238E27FC236}">
                <a16:creationId xmlns:a16="http://schemas.microsoft.com/office/drawing/2014/main" id="{BFFB865F-E847-F9F7-C1CD-D8994D6E64FD}"/>
              </a:ext>
            </a:extLst>
          </p:cNvPr>
          <p:cNvSpPr/>
          <p:nvPr/>
        </p:nvSpPr>
        <p:spPr bwMode="auto">
          <a:xfrm>
            <a:off x="4083575" y="5580568"/>
            <a:ext cx="842346" cy="571661"/>
          </a:xfrm>
          <a:prstGeom prst="ellipse">
            <a:avLst/>
          </a:prstGeom>
          <a:noFill/>
          <a:ln w="571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kumimoji="0" lang="es-ES" sz="1800" b="1" i="0" u="none" strike="noStrike" cap="none" normalizeH="0" baseline="-25000" dirty="0">
              <a:ln>
                <a:noFill/>
              </a:ln>
              <a:solidFill>
                <a:srgbClr val="002060"/>
              </a:solidFill>
              <a:effectLst/>
              <a:latin typeface="Times New Roman" pitchFamily="18" charset="0"/>
            </a:endParaRPr>
          </a:p>
        </p:txBody>
      </p:sp>
      <p:sp>
        <p:nvSpPr>
          <p:cNvPr id="17" name="Elipse 16">
            <a:extLst>
              <a:ext uri="{FF2B5EF4-FFF2-40B4-BE49-F238E27FC236}">
                <a16:creationId xmlns:a16="http://schemas.microsoft.com/office/drawing/2014/main" id="{BE499D84-D6E9-3044-ABED-5589CD45DCCC}"/>
              </a:ext>
            </a:extLst>
          </p:cNvPr>
          <p:cNvSpPr/>
          <p:nvPr/>
        </p:nvSpPr>
        <p:spPr bwMode="auto">
          <a:xfrm>
            <a:off x="5110046" y="5602840"/>
            <a:ext cx="444087" cy="549390"/>
          </a:xfrm>
          <a:prstGeom prst="ellipse">
            <a:avLst/>
          </a:prstGeom>
          <a:noFill/>
          <a:ln w="571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kumimoji="0" lang="es-ES" sz="1800" b="1" i="0" u="none" strike="noStrike" cap="none" normalizeH="0" baseline="-25000" dirty="0">
              <a:ln>
                <a:noFill/>
              </a:ln>
              <a:solidFill>
                <a:srgbClr val="002060"/>
              </a:solidFill>
              <a:effectLst/>
              <a:latin typeface="Times New Roman" pitchFamily="18" charset="0"/>
            </a:endParaRPr>
          </a:p>
        </p:txBody>
      </p:sp>
    </p:spTree>
    <p:extLst>
      <p:ext uri="{BB962C8B-B14F-4D97-AF65-F5344CB8AC3E}">
        <p14:creationId xmlns:p14="http://schemas.microsoft.com/office/powerpoint/2010/main" val="2863210145"/>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3000"/>
                                        <p:tgtEl>
                                          <p:spTgt spid="10"/>
                                        </p:tgtEl>
                                      </p:cBhvr>
                                    </p:animEffect>
                                  </p:childTnLst>
                                </p:cTn>
                              </p:par>
                              <p:par>
                                <p:cTn id="8" presetID="32" presetClass="emph" presetSubtype="0" fill="hold" nodeType="withEffect">
                                  <p:stCondLst>
                                    <p:cond delay="0"/>
                                  </p:stCondLst>
                                  <p:childTnLst>
                                    <p:animRot by="120000">
                                      <p:cBhvr>
                                        <p:cTn id="9" dur="300" fill="hold">
                                          <p:stCondLst>
                                            <p:cond delay="0"/>
                                          </p:stCondLst>
                                        </p:cTn>
                                        <p:tgtEl>
                                          <p:spTgt spid="33"/>
                                        </p:tgtEl>
                                        <p:attrNameLst>
                                          <p:attrName>r</p:attrName>
                                        </p:attrNameLst>
                                      </p:cBhvr>
                                    </p:animRot>
                                    <p:animRot by="-240000">
                                      <p:cBhvr>
                                        <p:cTn id="10" dur="600" fill="hold">
                                          <p:stCondLst>
                                            <p:cond delay="600"/>
                                          </p:stCondLst>
                                        </p:cTn>
                                        <p:tgtEl>
                                          <p:spTgt spid="33"/>
                                        </p:tgtEl>
                                        <p:attrNameLst>
                                          <p:attrName>r</p:attrName>
                                        </p:attrNameLst>
                                      </p:cBhvr>
                                    </p:animRot>
                                    <p:animRot by="240000">
                                      <p:cBhvr>
                                        <p:cTn id="11" dur="600" fill="hold">
                                          <p:stCondLst>
                                            <p:cond delay="1200"/>
                                          </p:stCondLst>
                                        </p:cTn>
                                        <p:tgtEl>
                                          <p:spTgt spid="33"/>
                                        </p:tgtEl>
                                        <p:attrNameLst>
                                          <p:attrName>r</p:attrName>
                                        </p:attrNameLst>
                                      </p:cBhvr>
                                    </p:animRot>
                                    <p:animRot by="-240000">
                                      <p:cBhvr>
                                        <p:cTn id="12" dur="600" fill="hold">
                                          <p:stCondLst>
                                            <p:cond delay="1800"/>
                                          </p:stCondLst>
                                        </p:cTn>
                                        <p:tgtEl>
                                          <p:spTgt spid="33"/>
                                        </p:tgtEl>
                                        <p:attrNameLst>
                                          <p:attrName>r</p:attrName>
                                        </p:attrNameLst>
                                      </p:cBhvr>
                                    </p:animRot>
                                    <p:animRot by="120000">
                                      <p:cBhvr>
                                        <p:cTn id="13" dur="600" fill="hold">
                                          <p:stCondLst>
                                            <p:cond delay="2400"/>
                                          </p:stCondLst>
                                        </p:cTn>
                                        <p:tgtEl>
                                          <p:spTgt spid="33"/>
                                        </p:tgtEl>
                                        <p:attrNameLst>
                                          <p:attrName>r</p:attrName>
                                        </p:attrNameLst>
                                      </p:cBhvr>
                                    </p:animRo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3000"/>
                                        <p:tgtEl>
                                          <p:spTgt spid="13"/>
                                        </p:tgtEl>
                                      </p:cBhvr>
                                    </p:animEffect>
                                  </p:childTnLst>
                                </p:cTn>
                              </p:par>
                              <p:par>
                                <p:cTn id="19" presetID="32" presetClass="emph" presetSubtype="0" fill="hold" nodeType="withEffect">
                                  <p:stCondLst>
                                    <p:cond delay="0"/>
                                  </p:stCondLst>
                                  <p:childTnLst>
                                    <p:animRot by="120000">
                                      <p:cBhvr>
                                        <p:cTn id="20" dur="300" fill="hold">
                                          <p:stCondLst>
                                            <p:cond delay="0"/>
                                          </p:stCondLst>
                                        </p:cTn>
                                        <p:tgtEl>
                                          <p:spTgt spid="37"/>
                                        </p:tgtEl>
                                        <p:attrNameLst>
                                          <p:attrName>r</p:attrName>
                                        </p:attrNameLst>
                                      </p:cBhvr>
                                    </p:animRot>
                                    <p:animRot by="-240000">
                                      <p:cBhvr>
                                        <p:cTn id="21" dur="600" fill="hold">
                                          <p:stCondLst>
                                            <p:cond delay="600"/>
                                          </p:stCondLst>
                                        </p:cTn>
                                        <p:tgtEl>
                                          <p:spTgt spid="37"/>
                                        </p:tgtEl>
                                        <p:attrNameLst>
                                          <p:attrName>r</p:attrName>
                                        </p:attrNameLst>
                                      </p:cBhvr>
                                    </p:animRot>
                                    <p:animRot by="240000">
                                      <p:cBhvr>
                                        <p:cTn id="22" dur="600" fill="hold">
                                          <p:stCondLst>
                                            <p:cond delay="1200"/>
                                          </p:stCondLst>
                                        </p:cTn>
                                        <p:tgtEl>
                                          <p:spTgt spid="37"/>
                                        </p:tgtEl>
                                        <p:attrNameLst>
                                          <p:attrName>r</p:attrName>
                                        </p:attrNameLst>
                                      </p:cBhvr>
                                    </p:animRot>
                                    <p:animRot by="-240000">
                                      <p:cBhvr>
                                        <p:cTn id="23" dur="600" fill="hold">
                                          <p:stCondLst>
                                            <p:cond delay="1800"/>
                                          </p:stCondLst>
                                        </p:cTn>
                                        <p:tgtEl>
                                          <p:spTgt spid="37"/>
                                        </p:tgtEl>
                                        <p:attrNameLst>
                                          <p:attrName>r</p:attrName>
                                        </p:attrNameLst>
                                      </p:cBhvr>
                                    </p:animRot>
                                    <p:animRot by="120000">
                                      <p:cBhvr>
                                        <p:cTn id="24" dur="600" fill="hold">
                                          <p:stCondLst>
                                            <p:cond delay="2400"/>
                                          </p:stCondLst>
                                        </p:cTn>
                                        <p:tgtEl>
                                          <p:spTgt spid="37"/>
                                        </p:tgtEl>
                                        <p:attrNameLst>
                                          <p:attrName>r</p:attrName>
                                        </p:attrNameLst>
                                      </p:cBhvr>
                                    </p:animRo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3000"/>
                                        <p:tgtEl>
                                          <p:spTgt spid="1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3"/>
                                        </p:tgtEl>
                                        <p:attrNameLst>
                                          <p:attrName>style.visibility</p:attrName>
                                        </p:attrNameLst>
                                      </p:cBhvr>
                                      <p:to>
                                        <p:strVal val="visible"/>
                                      </p:to>
                                    </p:set>
                                    <p:animEffect transition="in" filter="fade">
                                      <p:cBhvr>
                                        <p:cTn id="32" dur="3000"/>
                                        <p:tgtEl>
                                          <p:spTgt spid="43"/>
                                        </p:tgtEl>
                                      </p:cBhvr>
                                    </p:animEffect>
                                  </p:childTnLst>
                                </p:cTn>
                              </p:par>
                              <p:par>
                                <p:cTn id="33" presetID="10" presetClass="entr" presetSubtype="0" fill="hold" nodeType="withEffect">
                                  <p:stCondLst>
                                    <p:cond delay="0"/>
                                  </p:stCondLst>
                                  <p:childTnLst>
                                    <p:set>
                                      <p:cBhvr>
                                        <p:cTn id="34" dur="1" fill="hold">
                                          <p:stCondLst>
                                            <p:cond delay="0"/>
                                          </p:stCondLst>
                                        </p:cTn>
                                        <p:tgtEl>
                                          <p:spTgt spid="30"/>
                                        </p:tgtEl>
                                        <p:attrNameLst>
                                          <p:attrName>style.visibility</p:attrName>
                                        </p:attrNameLst>
                                      </p:cBhvr>
                                      <p:to>
                                        <p:strVal val="visible"/>
                                      </p:to>
                                    </p:set>
                                    <p:animEffect transition="in" filter="fade">
                                      <p:cBhvr>
                                        <p:cTn id="35" dur="3000"/>
                                        <p:tgtEl>
                                          <p:spTgt spid="30"/>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3000"/>
                                        <p:tgtEl>
                                          <p:spTgt spid="16"/>
                                        </p:tgtEl>
                                      </p:cBhvr>
                                    </p:animEffect>
                                  </p:childTnLst>
                                </p:cTn>
                              </p:par>
                              <p:par>
                                <p:cTn id="41" presetID="32" presetClass="emph" presetSubtype="0" fill="hold" nodeType="withEffect">
                                  <p:stCondLst>
                                    <p:cond delay="0"/>
                                  </p:stCondLst>
                                  <p:childTnLst>
                                    <p:animRot by="120000">
                                      <p:cBhvr>
                                        <p:cTn id="42" dur="300" fill="hold">
                                          <p:stCondLst>
                                            <p:cond delay="0"/>
                                          </p:stCondLst>
                                        </p:cTn>
                                        <p:tgtEl>
                                          <p:spTgt spid="36"/>
                                        </p:tgtEl>
                                        <p:attrNameLst>
                                          <p:attrName>r</p:attrName>
                                        </p:attrNameLst>
                                      </p:cBhvr>
                                    </p:animRot>
                                    <p:animRot by="-240000">
                                      <p:cBhvr>
                                        <p:cTn id="43" dur="600" fill="hold">
                                          <p:stCondLst>
                                            <p:cond delay="600"/>
                                          </p:stCondLst>
                                        </p:cTn>
                                        <p:tgtEl>
                                          <p:spTgt spid="36"/>
                                        </p:tgtEl>
                                        <p:attrNameLst>
                                          <p:attrName>r</p:attrName>
                                        </p:attrNameLst>
                                      </p:cBhvr>
                                    </p:animRot>
                                    <p:animRot by="240000">
                                      <p:cBhvr>
                                        <p:cTn id="44" dur="600" fill="hold">
                                          <p:stCondLst>
                                            <p:cond delay="1200"/>
                                          </p:stCondLst>
                                        </p:cTn>
                                        <p:tgtEl>
                                          <p:spTgt spid="36"/>
                                        </p:tgtEl>
                                        <p:attrNameLst>
                                          <p:attrName>r</p:attrName>
                                        </p:attrNameLst>
                                      </p:cBhvr>
                                    </p:animRot>
                                    <p:animRot by="-240000">
                                      <p:cBhvr>
                                        <p:cTn id="45" dur="600" fill="hold">
                                          <p:stCondLst>
                                            <p:cond delay="1800"/>
                                          </p:stCondLst>
                                        </p:cTn>
                                        <p:tgtEl>
                                          <p:spTgt spid="36"/>
                                        </p:tgtEl>
                                        <p:attrNameLst>
                                          <p:attrName>r</p:attrName>
                                        </p:attrNameLst>
                                      </p:cBhvr>
                                    </p:animRot>
                                    <p:animRot by="120000">
                                      <p:cBhvr>
                                        <p:cTn id="46" dur="600" fill="hold">
                                          <p:stCondLst>
                                            <p:cond delay="2400"/>
                                          </p:stCondLst>
                                        </p:cTn>
                                        <p:tgtEl>
                                          <p:spTgt spid="36"/>
                                        </p:tgtEl>
                                        <p:attrNameLst>
                                          <p:attrName>r</p:attrName>
                                        </p:attrNameLst>
                                      </p:cBhvr>
                                    </p:animRo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3000"/>
                                        <p:tgtEl>
                                          <p:spTgt spid="17"/>
                                        </p:tgtEl>
                                      </p:cBhvr>
                                    </p:animEffect>
                                  </p:childTnLst>
                                </p:cTn>
                              </p:par>
                              <p:par>
                                <p:cTn id="52" presetID="10" presetClass="entr" presetSubtype="0" fill="hold" nodeType="withEffect">
                                  <p:stCondLst>
                                    <p:cond delay="0"/>
                                  </p:stCondLst>
                                  <p:childTnLst>
                                    <p:set>
                                      <p:cBhvr>
                                        <p:cTn id="53" dur="1" fill="hold">
                                          <p:stCondLst>
                                            <p:cond delay="0"/>
                                          </p:stCondLst>
                                        </p:cTn>
                                        <p:tgtEl>
                                          <p:spTgt spid="39"/>
                                        </p:tgtEl>
                                        <p:attrNameLst>
                                          <p:attrName>style.visibility</p:attrName>
                                        </p:attrNameLst>
                                      </p:cBhvr>
                                      <p:to>
                                        <p:strVal val="visible"/>
                                      </p:to>
                                    </p:set>
                                    <p:animEffect transition="in" filter="fade">
                                      <p:cBhvr>
                                        <p:cTn id="54" dur="3000"/>
                                        <p:tgtEl>
                                          <p:spTgt spid="39"/>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42"/>
                                        </p:tgtEl>
                                        <p:attrNameLst>
                                          <p:attrName>style.visibility</p:attrName>
                                        </p:attrNameLst>
                                      </p:cBhvr>
                                      <p:to>
                                        <p:strVal val="visible"/>
                                      </p:to>
                                    </p:set>
                                    <p:animEffect transition="in" filter="fade">
                                      <p:cBhvr>
                                        <p:cTn id="57" dur="30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3" grpId="0"/>
      <p:bldP spid="10" grpId="0" animBg="1"/>
      <p:bldP spid="13" grpId="0" animBg="1"/>
      <p:bldP spid="14" grpId="0" animBg="1"/>
      <p:bldP spid="16" grpId="0" animBg="1"/>
      <p:bldP spid="1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671690-B067-9A7F-529C-64126919A6AF}"/>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1B3C128-39C1-22BF-432F-3FCD99FD102C}"/>
                  </a:ext>
                </a:extLst>
              </p:cNvPr>
              <p:cNvSpPr>
                <a:spLocks noGrp="1"/>
              </p:cNvSpPr>
              <p:nvPr>
                <p:ph idx="1"/>
              </p:nvPr>
            </p:nvSpPr>
            <p:spPr>
              <a:xfrm>
                <a:off x="457200" y="992818"/>
                <a:ext cx="8603294" cy="5778372"/>
              </a:xfrm>
            </p:spPr>
            <p:txBody>
              <a:bodyPr>
                <a:noAutofit/>
              </a:bodyPr>
              <a:lstStyle/>
              <a:p>
                <a:pPr marL="0" indent="0">
                  <a:buNone/>
                </a:pPr>
                <a:r>
                  <a:rPr lang="es-ES" b="1" dirty="0"/>
                  <a:t>Vanilla RNN – </a:t>
                </a:r>
                <a:r>
                  <a:rPr lang="es-ES" b="1" dirty="0" err="1"/>
                  <a:t>Supervised</a:t>
                </a:r>
                <a:r>
                  <a:rPr lang="es-ES" b="1" dirty="0"/>
                  <a:t> training</a:t>
                </a:r>
              </a:p>
              <a:p>
                <a:r>
                  <a:rPr lang="en-US" sz="2000" dirty="0"/>
                  <a:t>Deep network architecture designed to process sequential data, such as text or time series</a:t>
                </a:r>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pPr marL="0" indent="0">
                  <a:buNone/>
                </a:pPr>
                <a:r>
                  <a:rPr lang="en-GB" sz="1400" dirty="0"/>
                  <a:t>						largest sequence by moving these five</a:t>
                </a:r>
                <a:br>
                  <a:rPr lang="en-GB" sz="1400" dirty="0"/>
                </a:br>
                <a:r>
                  <a:rPr lang="en-GB" sz="1400" dirty="0"/>
                  <a:t> 						parameters throughout an entire sequence</a:t>
                </a:r>
                <a:endParaRPr lang="es-ES" sz="1400" dirty="0"/>
              </a:p>
              <a:p>
                <a:pPr marL="457200" lvl="1" indent="0">
                  <a:buNone/>
                </a:pPr>
                <a:r>
                  <a:rPr lang="en-GB" sz="1400" noProof="0" dirty="0"/>
                  <a:t>                                      	</a:t>
                </a:r>
              </a:p>
              <a:p>
                <a:pPr marL="457200" lvl="1" indent="0">
                  <a:buNone/>
                </a:pPr>
                <a:r>
                  <a:rPr lang="en-GB" sz="1400" noProof="0" dirty="0"/>
                  <a:t>	</a:t>
                </a:r>
              </a:p>
              <a:p>
                <a:pPr marL="457200" lvl="1" indent="0">
                  <a:buNone/>
                </a:pPr>
                <a14:m>
                  <m:oMath xmlns:m="http://schemas.openxmlformats.org/officeDocument/2006/math">
                    <m:sSub>
                      <m:sSubPr>
                        <m:ctrlPr>
                          <a:rPr lang="ar-AE" sz="2000" i="1">
                            <a:latin typeface="Cambria Math" panose="02040503050406030204" pitchFamily="18" charset="0"/>
                          </a:rPr>
                        </m:ctrlPr>
                      </m:sSubPr>
                      <m:e>
                        <m:r>
                          <a:rPr lang="ar-AE" sz="2000">
                            <a:latin typeface="Cambria Math" panose="02040503050406030204" pitchFamily="18" charset="0"/>
                          </a:rPr>
                          <m:t>ℒ</m:t>
                        </m:r>
                      </m:e>
                      <m:sub>
                        <m:r>
                          <a:rPr lang="es-ES" sz="2000" b="0" i="1" smtClean="0">
                            <a:latin typeface="Cambria Math" panose="02040503050406030204" pitchFamily="18" charset="0"/>
                          </a:rPr>
                          <m:t>𝑖</m:t>
                        </m:r>
                      </m:sub>
                    </m:sSub>
                    <m:r>
                      <a:rPr lang="es-ES" sz="2000" b="0" i="0" smtClean="0">
                        <a:latin typeface="Cambria Math" panose="02040503050406030204" pitchFamily="18" charset="0"/>
                      </a:rPr>
                      <m:t>(</m:t>
                    </m:r>
                    <m:r>
                      <m:rPr>
                        <m:sty m:val="p"/>
                      </m:rPr>
                      <a:rPr lang="es-ES" sz="2000" b="0" i="0" smtClean="0">
                        <a:latin typeface="Cambria Math" panose="02040503050406030204" pitchFamily="18" charset="0"/>
                      </a:rPr>
                      <m:t>i</m:t>
                    </m:r>
                    <m:r>
                      <a:rPr lang="es-ES" sz="2000" b="0" i="0" smtClean="0">
                        <a:latin typeface="Cambria Math" panose="02040503050406030204" pitchFamily="18" charset="0"/>
                      </a:rPr>
                      <m:t>,</m:t>
                    </m:r>
                    <m:r>
                      <m:rPr>
                        <m:sty m:val="p"/>
                      </m:rPr>
                      <a:rPr lang="es-ES" sz="2000" b="0" i="0" smtClean="0">
                        <a:latin typeface="Cambria Math" panose="02040503050406030204" pitchFamily="18" charset="0"/>
                      </a:rPr>
                      <m:t>e</m:t>
                    </m:r>
                    <m:r>
                      <a:rPr lang="es-ES" sz="2000" b="0" i="0" smtClean="0">
                        <a:latin typeface="Cambria Math" panose="02040503050406030204" pitchFamily="18" charset="0"/>
                      </a:rPr>
                      <m:t>)</m:t>
                    </m:r>
                  </m:oMath>
                </a14:m>
                <a:r>
                  <a:rPr lang="es-ES" sz="2000" dirty="0"/>
                  <a:t>    </a:t>
                </a:r>
                <a:r>
                  <a:rPr lang="es-ES" sz="2000" dirty="0">
                    <a:sym typeface="Wingdings" panose="05000000000000000000" pitchFamily="2" charset="2"/>
                  </a:rPr>
                  <a:t> </a:t>
                </a:r>
                <a:r>
                  <a:rPr lang="en-US" sz="1400" dirty="0">
                    <a:sym typeface="Wingdings" panose="05000000000000000000" pitchFamily="2" charset="2"/>
                  </a:rPr>
                  <a:t>Loss of this part when comparing calculated X</a:t>
                </a:r>
                <a:r>
                  <a:rPr lang="en-US" sz="1400" baseline="-25000" dirty="0">
                    <a:sym typeface="Wingdings" panose="05000000000000000000" pitchFamily="2" charset="2"/>
                  </a:rPr>
                  <a:t>3</a:t>
                </a:r>
                <a:r>
                  <a:rPr lang="en-US" sz="1400" dirty="0">
                    <a:sym typeface="Wingdings" panose="05000000000000000000" pitchFamily="2" charset="2"/>
                  </a:rPr>
                  <a:t> with actual X</a:t>
                </a:r>
                <a:r>
                  <a:rPr lang="en-US" sz="1400" baseline="-25000" dirty="0">
                    <a:sym typeface="Wingdings" panose="05000000000000000000" pitchFamily="2" charset="2"/>
                  </a:rPr>
                  <a:t>3</a:t>
                </a:r>
              </a:p>
              <a:p>
                <a:pPr marL="0" indent="0">
                  <a:buNone/>
                </a:pPr>
                <a:endParaRPr lang="es-ES" sz="1200" dirty="0"/>
              </a:p>
              <a:p>
                <a:pPr marL="0" indent="0">
                  <a:buNone/>
                </a:pPr>
                <a:endParaRPr lang="ar-AE" sz="1400" dirty="0"/>
              </a:p>
              <a:p>
                <a:endParaRPr lang="es-ES" sz="2000" dirty="0"/>
              </a:p>
              <a:p>
                <a:pPr lvl="1"/>
                <a:endParaRPr lang="en-US" dirty="0">
                  <a:latin typeface="Cambria" panose="02040503050406030204" pitchFamily="18" charset="0"/>
                  <a:ea typeface="Cambria" panose="02040503050406030204" pitchFamily="18" charset="0"/>
                </a:endParaRPr>
              </a:p>
            </p:txBody>
          </p:sp>
        </mc:Choice>
        <mc:Fallback xmlns="">
          <p:sp>
            <p:nvSpPr>
              <p:cNvPr id="3" name="Content Placeholder 2">
                <a:extLst>
                  <a:ext uri="{FF2B5EF4-FFF2-40B4-BE49-F238E27FC236}">
                    <a16:creationId xmlns:a16="http://schemas.microsoft.com/office/drawing/2014/main" id="{A1B3C128-39C1-22BF-432F-3FCD99FD102C}"/>
                  </a:ext>
                </a:extLst>
              </p:cNvPr>
              <p:cNvSpPr>
                <a:spLocks noGrp="1" noRot="1" noChangeAspect="1" noMove="1" noResize="1" noEditPoints="1" noAdjustHandles="1" noChangeArrowheads="1" noChangeShapeType="1" noTextEdit="1"/>
              </p:cNvSpPr>
              <p:nvPr>
                <p:ph idx="1"/>
              </p:nvPr>
            </p:nvSpPr>
            <p:spPr>
              <a:xfrm>
                <a:off x="457200" y="992818"/>
                <a:ext cx="8603294" cy="5778372"/>
              </a:xfrm>
              <a:blipFill>
                <a:blip r:embed="rId3"/>
                <a:stretch>
                  <a:fillRect l="-1063" t="-844"/>
                </a:stretch>
              </a:blipFill>
            </p:spPr>
            <p:txBody>
              <a:bodyPr/>
              <a:lstStyle/>
              <a:p>
                <a:r>
                  <a:rPr lang="es-ES">
                    <a:noFill/>
                  </a:rPr>
                  <a:t> </a:t>
                </a:r>
              </a:p>
            </p:txBody>
          </p:sp>
        </mc:Fallback>
      </mc:AlternateContent>
      <p:sp>
        <p:nvSpPr>
          <p:cNvPr id="2" name="Title 1">
            <a:extLst>
              <a:ext uri="{FF2B5EF4-FFF2-40B4-BE49-F238E27FC236}">
                <a16:creationId xmlns:a16="http://schemas.microsoft.com/office/drawing/2014/main" id="{EBAF3C58-B116-5842-2931-1FCA75FA4C65}"/>
              </a:ext>
            </a:extLst>
          </p:cNvPr>
          <p:cNvSpPr>
            <a:spLocks noGrp="1"/>
          </p:cNvSpPr>
          <p:nvPr>
            <p:ph type="title"/>
          </p:nvPr>
        </p:nvSpPr>
        <p:spPr/>
        <p:txBody>
          <a:bodyPr>
            <a:normAutofit/>
          </a:bodyPr>
          <a:lstStyle/>
          <a:p>
            <a:r>
              <a:rPr lang="es-ES" dirty="0"/>
              <a:t>RNN </a:t>
            </a:r>
            <a:r>
              <a:rPr dirty="0"/>
              <a:t>ejemplo</a:t>
            </a:r>
          </a:p>
        </p:txBody>
      </p:sp>
      <p:sp>
        <p:nvSpPr>
          <p:cNvPr id="9" name="Content Placeholder 2">
            <a:extLst>
              <a:ext uri="{FF2B5EF4-FFF2-40B4-BE49-F238E27FC236}">
                <a16:creationId xmlns:a16="http://schemas.microsoft.com/office/drawing/2014/main" id="{2B0E0144-83AA-E4CD-C9FF-839277A29515}"/>
              </a:ext>
            </a:extLst>
          </p:cNvPr>
          <p:cNvSpPr txBox="1">
            <a:spLocks/>
          </p:cNvSpPr>
          <p:nvPr/>
        </p:nvSpPr>
        <p:spPr>
          <a:xfrm>
            <a:off x="609600" y="1752600"/>
            <a:ext cx="8229600" cy="5257800"/>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457200" lvl="1" indent="0">
              <a:buFont typeface="Arial"/>
              <a:buNone/>
            </a:pPr>
            <a:endParaRPr lang="es-ES" sz="2400" dirty="0">
              <a:latin typeface="Cambria" panose="02040503050406030204" pitchFamily="18" charset="0"/>
              <a:ea typeface="Cambria" panose="02040503050406030204" pitchFamily="18" charset="0"/>
            </a:endParaRPr>
          </a:p>
        </p:txBody>
      </p:sp>
      <p:sp>
        <p:nvSpPr>
          <p:cNvPr id="8" name="Elipse 7">
            <a:extLst>
              <a:ext uri="{FF2B5EF4-FFF2-40B4-BE49-F238E27FC236}">
                <a16:creationId xmlns:a16="http://schemas.microsoft.com/office/drawing/2014/main" id="{AC0F6509-0AD7-FD99-31FD-23AD4C26AD2E}"/>
              </a:ext>
            </a:extLst>
          </p:cNvPr>
          <p:cNvSpPr/>
          <p:nvPr/>
        </p:nvSpPr>
        <p:spPr bwMode="auto">
          <a:xfrm>
            <a:off x="3792791" y="2878583"/>
            <a:ext cx="536322" cy="516188"/>
          </a:xfrm>
          <a:prstGeom prst="ellipse">
            <a:avLst/>
          </a:prstGeom>
          <a:noFill/>
          <a:ln w="38100"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es-ES" sz="2000" dirty="0">
                <a:solidFill>
                  <a:srgbClr val="002060"/>
                </a:solidFill>
              </a:rPr>
              <a:t>x</a:t>
            </a:r>
            <a:endParaRPr kumimoji="0" lang="es-ES" sz="1800" b="1" i="0" u="none" strike="noStrike" cap="none" normalizeH="0" baseline="-25000" dirty="0">
              <a:ln>
                <a:noFill/>
              </a:ln>
              <a:solidFill>
                <a:srgbClr val="002060"/>
              </a:solidFill>
              <a:effectLst/>
              <a:latin typeface="Times New Roman" pitchFamily="18" charset="0"/>
            </a:endParaRPr>
          </a:p>
        </p:txBody>
      </p:sp>
      <p:sp>
        <p:nvSpPr>
          <p:cNvPr id="11" name="Elipse 10">
            <a:extLst>
              <a:ext uri="{FF2B5EF4-FFF2-40B4-BE49-F238E27FC236}">
                <a16:creationId xmlns:a16="http://schemas.microsoft.com/office/drawing/2014/main" id="{79A545F3-1E4E-61D4-C3FE-4DB731873C77}"/>
              </a:ext>
            </a:extLst>
          </p:cNvPr>
          <p:cNvSpPr/>
          <p:nvPr/>
        </p:nvSpPr>
        <p:spPr bwMode="auto">
          <a:xfrm>
            <a:off x="5571635" y="1793601"/>
            <a:ext cx="536322" cy="516188"/>
          </a:xfrm>
          <a:prstGeom prst="ellipse">
            <a:avLst/>
          </a:prstGeom>
          <a:noFill/>
          <a:ln w="38100"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es-ES" sz="1600" dirty="0">
                <a:solidFill>
                  <a:srgbClr val="002060"/>
                </a:solidFill>
              </a:rPr>
              <a:t>h</a:t>
            </a:r>
            <a:r>
              <a:rPr lang="es-ES" sz="1600" baseline="-25000" dirty="0">
                <a:solidFill>
                  <a:srgbClr val="002060"/>
                </a:solidFill>
              </a:rPr>
              <a:t>1</a:t>
            </a:r>
            <a:endParaRPr kumimoji="0" lang="es-ES" sz="1600" b="1" i="0" u="none" strike="noStrike" cap="none" normalizeH="0" baseline="-25000" dirty="0">
              <a:ln>
                <a:noFill/>
              </a:ln>
              <a:solidFill>
                <a:srgbClr val="002060"/>
              </a:solidFill>
              <a:effectLst/>
              <a:latin typeface="Times New Roman" pitchFamily="18" charset="0"/>
            </a:endParaRPr>
          </a:p>
        </p:txBody>
      </p:sp>
      <p:sp>
        <p:nvSpPr>
          <p:cNvPr id="12" name="Elipse 11">
            <a:extLst>
              <a:ext uri="{FF2B5EF4-FFF2-40B4-BE49-F238E27FC236}">
                <a16:creationId xmlns:a16="http://schemas.microsoft.com/office/drawing/2014/main" id="{F149D998-8DF6-C089-35B2-CA54F67F47AE}"/>
              </a:ext>
            </a:extLst>
          </p:cNvPr>
          <p:cNvSpPr/>
          <p:nvPr/>
        </p:nvSpPr>
        <p:spPr bwMode="auto">
          <a:xfrm>
            <a:off x="5562753" y="2878583"/>
            <a:ext cx="536322" cy="516188"/>
          </a:xfrm>
          <a:prstGeom prst="ellipse">
            <a:avLst/>
          </a:prstGeom>
          <a:noFill/>
          <a:ln w="38100"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es-ES" sz="1600" dirty="0">
                <a:solidFill>
                  <a:srgbClr val="002060"/>
                </a:solidFill>
              </a:rPr>
              <a:t>h</a:t>
            </a:r>
            <a:r>
              <a:rPr lang="es-ES" sz="1600" baseline="-25000" dirty="0">
                <a:solidFill>
                  <a:srgbClr val="002060"/>
                </a:solidFill>
              </a:rPr>
              <a:t>2</a:t>
            </a:r>
            <a:endParaRPr kumimoji="0" lang="es-ES" sz="1600" b="1" i="0" u="none" strike="noStrike" cap="none" normalizeH="0" baseline="-25000" dirty="0">
              <a:ln>
                <a:noFill/>
              </a:ln>
              <a:solidFill>
                <a:srgbClr val="002060"/>
              </a:solidFill>
              <a:effectLst/>
              <a:latin typeface="Times New Roman" pitchFamily="18" charset="0"/>
            </a:endParaRPr>
          </a:p>
        </p:txBody>
      </p:sp>
      <p:sp>
        <p:nvSpPr>
          <p:cNvPr id="15" name="Elipse 14">
            <a:extLst>
              <a:ext uri="{FF2B5EF4-FFF2-40B4-BE49-F238E27FC236}">
                <a16:creationId xmlns:a16="http://schemas.microsoft.com/office/drawing/2014/main" id="{E9ED7BDB-C4AF-016C-ADBA-6438E9DF650A}"/>
              </a:ext>
            </a:extLst>
          </p:cNvPr>
          <p:cNvSpPr/>
          <p:nvPr/>
        </p:nvSpPr>
        <p:spPr bwMode="auto">
          <a:xfrm>
            <a:off x="7332714" y="2878583"/>
            <a:ext cx="536322" cy="516188"/>
          </a:xfrm>
          <a:prstGeom prst="ellipse">
            <a:avLst/>
          </a:prstGeom>
          <a:noFill/>
          <a:ln w="38100"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es-ES" sz="2000" dirty="0">
                <a:solidFill>
                  <a:srgbClr val="002060"/>
                </a:solidFill>
              </a:rPr>
              <a:t>y</a:t>
            </a:r>
            <a:endParaRPr kumimoji="0" lang="es-ES" sz="1800" b="1" i="0" u="none" strike="noStrike" cap="none" normalizeH="0" baseline="-25000" dirty="0">
              <a:ln>
                <a:noFill/>
              </a:ln>
              <a:solidFill>
                <a:srgbClr val="002060"/>
              </a:solidFill>
              <a:effectLst/>
              <a:latin typeface="Times New Roman" pitchFamily="18" charset="0"/>
            </a:endParaRPr>
          </a:p>
        </p:txBody>
      </p:sp>
      <p:cxnSp>
        <p:nvCxnSpPr>
          <p:cNvPr id="22" name="Conector recto de flecha 21">
            <a:extLst>
              <a:ext uri="{FF2B5EF4-FFF2-40B4-BE49-F238E27FC236}">
                <a16:creationId xmlns:a16="http://schemas.microsoft.com/office/drawing/2014/main" id="{9C9FC3E4-02C1-6487-1DA6-F780812704ED}"/>
              </a:ext>
            </a:extLst>
          </p:cNvPr>
          <p:cNvCxnSpPr>
            <a:stCxn id="11" idx="2"/>
          </p:cNvCxnSpPr>
          <p:nvPr/>
        </p:nvCxnSpPr>
        <p:spPr bwMode="auto">
          <a:xfrm>
            <a:off x="5495882" y="2037334"/>
            <a:ext cx="799424" cy="825668"/>
          </a:xfrm>
          <a:prstGeom prst="straightConnector1">
            <a:avLst/>
          </a:prstGeom>
          <a:solidFill>
            <a:schemeClr val="accent1"/>
          </a:solidFill>
          <a:ln>
            <a:noFill/>
            <a:tailEnd type="triangle"/>
          </a:ln>
          <a:effectLst/>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4" name="Conector recto de flecha 23">
            <a:extLst>
              <a:ext uri="{FF2B5EF4-FFF2-40B4-BE49-F238E27FC236}">
                <a16:creationId xmlns:a16="http://schemas.microsoft.com/office/drawing/2014/main" id="{E5B0676F-B85E-63EA-ECB7-86E56C0FA9F4}"/>
              </a:ext>
            </a:extLst>
          </p:cNvPr>
          <p:cNvCxnSpPr>
            <a:cxnSpLocks/>
          </p:cNvCxnSpPr>
          <p:nvPr/>
        </p:nvCxnSpPr>
        <p:spPr bwMode="auto">
          <a:xfrm>
            <a:off x="4337996" y="2051696"/>
            <a:ext cx="0" cy="0"/>
          </a:xfrm>
          <a:prstGeom prst="straightConnector1">
            <a:avLst/>
          </a:prstGeom>
          <a:solidFill>
            <a:schemeClr val="accent1"/>
          </a:solidFill>
          <a:ln>
            <a:noFill/>
            <a:tailEnd type="triangle"/>
          </a:ln>
          <a:effectLst/>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3" name="Conector recto de flecha 32">
            <a:extLst>
              <a:ext uri="{FF2B5EF4-FFF2-40B4-BE49-F238E27FC236}">
                <a16:creationId xmlns:a16="http://schemas.microsoft.com/office/drawing/2014/main" id="{F371159B-A3AE-9381-BC8D-5C02924B5D39}"/>
              </a:ext>
            </a:extLst>
          </p:cNvPr>
          <p:cNvCxnSpPr/>
          <p:nvPr/>
        </p:nvCxnSpPr>
        <p:spPr bwMode="auto">
          <a:xfrm>
            <a:off x="4329113" y="3136677"/>
            <a:ext cx="1233639" cy="0"/>
          </a:xfrm>
          <a:prstGeom prst="straightConnector1">
            <a:avLst/>
          </a:prstGeom>
          <a:ln w="38100" cap="flat" cmpd="sng" algn="ctr">
            <a:solidFill>
              <a:srgbClr val="7030A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6" name="Conector recto de flecha 35">
            <a:extLst>
              <a:ext uri="{FF2B5EF4-FFF2-40B4-BE49-F238E27FC236}">
                <a16:creationId xmlns:a16="http://schemas.microsoft.com/office/drawing/2014/main" id="{D875B363-EDE9-EC60-6CB4-15FB10491A39}"/>
              </a:ext>
            </a:extLst>
          </p:cNvPr>
          <p:cNvCxnSpPr/>
          <p:nvPr/>
        </p:nvCxnSpPr>
        <p:spPr bwMode="auto">
          <a:xfrm>
            <a:off x="6099075" y="3136677"/>
            <a:ext cx="1233639" cy="0"/>
          </a:xfrm>
          <a:prstGeom prst="straightConnector1">
            <a:avLst/>
          </a:prstGeom>
          <a:ln w="38100" cap="flat" cmpd="sng" algn="ctr">
            <a:solidFill>
              <a:srgbClr val="7030A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7" name="Conector recto de flecha 36">
            <a:extLst>
              <a:ext uri="{FF2B5EF4-FFF2-40B4-BE49-F238E27FC236}">
                <a16:creationId xmlns:a16="http://schemas.microsoft.com/office/drawing/2014/main" id="{ADB25CF4-030A-261C-EAFB-59D9C4745E5F}"/>
              </a:ext>
            </a:extLst>
          </p:cNvPr>
          <p:cNvCxnSpPr>
            <a:cxnSpLocks/>
            <a:stCxn id="11" idx="4"/>
            <a:endCxn id="12" idx="0"/>
          </p:cNvCxnSpPr>
          <p:nvPr/>
        </p:nvCxnSpPr>
        <p:spPr bwMode="auto">
          <a:xfrm flipH="1">
            <a:off x="5830914" y="2309789"/>
            <a:ext cx="8882" cy="568794"/>
          </a:xfrm>
          <a:prstGeom prst="straightConnector1">
            <a:avLst/>
          </a:prstGeom>
          <a:ln w="38100" cap="flat" cmpd="sng" algn="ctr">
            <a:solidFill>
              <a:srgbClr val="7030A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0" name="Conector recto de flecha 39">
            <a:extLst>
              <a:ext uri="{FF2B5EF4-FFF2-40B4-BE49-F238E27FC236}">
                <a16:creationId xmlns:a16="http://schemas.microsoft.com/office/drawing/2014/main" id="{F54989D3-C9EC-2FCD-5C59-8C76D1702028}"/>
              </a:ext>
            </a:extLst>
          </p:cNvPr>
          <p:cNvCxnSpPr>
            <a:cxnSpLocks/>
          </p:cNvCxnSpPr>
          <p:nvPr/>
        </p:nvCxnSpPr>
        <p:spPr bwMode="auto">
          <a:xfrm>
            <a:off x="5825038" y="3394771"/>
            <a:ext cx="0" cy="568794"/>
          </a:xfrm>
          <a:prstGeom prst="straightConnector1">
            <a:avLst/>
          </a:prstGeom>
          <a:ln w="38100" cap="flat" cmpd="sng" algn="ctr">
            <a:solidFill>
              <a:srgbClr val="7030A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2AAED897-B25C-68C2-7BFC-034AFF40D6C6}"/>
                  </a:ext>
                </a:extLst>
              </p:cNvPr>
              <p:cNvSpPr txBox="1"/>
              <p:nvPr/>
            </p:nvSpPr>
            <p:spPr>
              <a:xfrm>
                <a:off x="5839796" y="2390608"/>
                <a:ext cx="549028" cy="37795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ar-AE" sz="1800" i="1" kern="1200">
                              <a:solidFill>
                                <a:schemeClr val="tx1"/>
                              </a:solidFill>
                              <a:latin typeface="Cambria Math" panose="02040503050406030204" pitchFamily="18" charset="0"/>
                              <a:ea typeface="+mn-ea"/>
                              <a:cs typeface="+mn-cs"/>
                            </a:rPr>
                          </m:ctrlPr>
                        </m:sSubPr>
                        <m:e>
                          <m:r>
                            <a:rPr lang="ar-AE" sz="1800" i="1" kern="1200">
                              <a:solidFill>
                                <a:schemeClr val="tx1"/>
                              </a:solidFill>
                              <a:latin typeface="Cambria Math" panose="02040503050406030204" pitchFamily="18" charset="0"/>
                              <a:ea typeface="+mn-ea"/>
                              <a:cs typeface="+mn-cs"/>
                            </a:rPr>
                            <m:t>𝑊</m:t>
                          </m:r>
                        </m:e>
                        <m:sub>
                          <m:r>
                            <a:rPr lang="ar-AE" sz="1800" i="1" kern="1200">
                              <a:solidFill>
                                <a:schemeClr val="tx1"/>
                              </a:solidFill>
                              <a:latin typeface="Cambria Math" panose="02040503050406030204" pitchFamily="18" charset="0"/>
                              <a:ea typeface="+mn-ea"/>
                              <a:cs typeface="+mn-cs"/>
                            </a:rPr>
                            <m:t>hh</m:t>
                          </m:r>
                        </m:sub>
                      </m:sSub>
                    </m:oMath>
                  </m:oMathPara>
                </a14:m>
                <a:endParaRPr lang="es-ES" dirty="0"/>
              </a:p>
            </p:txBody>
          </p:sp>
        </mc:Choice>
        <mc:Fallback xmlns="">
          <p:sp>
            <p:nvSpPr>
              <p:cNvPr id="18" name="CuadroTexto 17">
                <a:extLst>
                  <a:ext uri="{FF2B5EF4-FFF2-40B4-BE49-F238E27FC236}">
                    <a16:creationId xmlns:a16="http://schemas.microsoft.com/office/drawing/2014/main" id="{2AAED897-B25C-68C2-7BFC-034AFF40D6C6}"/>
                  </a:ext>
                </a:extLst>
              </p:cNvPr>
              <p:cNvSpPr txBox="1">
                <a:spLocks noRot="1" noChangeAspect="1" noMove="1" noResize="1" noEditPoints="1" noAdjustHandles="1" noChangeArrowheads="1" noChangeShapeType="1" noTextEdit="1"/>
              </p:cNvSpPr>
              <p:nvPr/>
            </p:nvSpPr>
            <p:spPr>
              <a:xfrm>
                <a:off x="5839796" y="2390608"/>
                <a:ext cx="549028" cy="377958"/>
              </a:xfrm>
              <a:prstGeom prst="rect">
                <a:avLst/>
              </a:prstGeom>
              <a:blipFill>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1AD5B59D-C33E-6F4B-395C-8C67D9E73129}"/>
                  </a:ext>
                </a:extLst>
              </p:cNvPr>
              <p:cNvSpPr txBox="1"/>
              <p:nvPr/>
            </p:nvSpPr>
            <p:spPr>
              <a:xfrm>
                <a:off x="4150994" y="2806128"/>
                <a:ext cx="1598848" cy="37795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ar-AE" sz="1800" i="1" kern="1200" smtClean="0">
                              <a:solidFill>
                                <a:schemeClr val="tx1"/>
                              </a:solidFill>
                              <a:latin typeface="Cambria Math" panose="02040503050406030204" pitchFamily="18" charset="0"/>
                              <a:ea typeface="+mn-ea"/>
                              <a:cs typeface="+mn-cs"/>
                            </a:rPr>
                          </m:ctrlPr>
                        </m:sSubPr>
                        <m:e>
                          <m:r>
                            <a:rPr lang="ar-AE" sz="1800" i="1" kern="1200">
                              <a:solidFill>
                                <a:schemeClr val="tx1"/>
                              </a:solidFill>
                              <a:latin typeface="Cambria Math" panose="02040503050406030204" pitchFamily="18" charset="0"/>
                              <a:ea typeface="+mn-ea"/>
                              <a:cs typeface="+mn-cs"/>
                            </a:rPr>
                            <m:t>𝑊</m:t>
                          </m:r>
                        </m:e>
                        <m:sub>
                          <m:r>
                            <a:rPr lang="ar-AE" sz="1800" i="1" kern="1200">
                              <a:solidFill>
                                <a:schemeClr val="tx1"/>
                              </a:solidFill>
                              <a:latin typeface="Cambria Math" panose="02040503050406030204" pitchFamily="18" charset="0"/>
                              <a:ea typeface="+mn-ea"/>
                              <a:cs typeface="+mn-cs"/>
                            </a:rPr>
                            <m:t>𝑥</m:t>
                          </m:r>
                          <m:r>
                            <a:rPr lang="ar-AE" sz="1800" i="1" kern="1200">
                              <a:solidFill>
                                <a:schemeClr val="tx1"/>
                              </a:solidFill>
                              <a:latin typeface="Cambria Math" panose="02040503050406030204" pitchFamily="18" charset="0"/>
                              <a:ea typeface="+mn-ea"/>
                              <a:cs typeface="+mn-cs"/>
                            </a:rPr>
                            <m:t>h</m:t>
                          </m:r>
                        </m:sub>
                      </m:sSub>
                    </m:oMath>
                  </m:oMathPara>
                </a14:m>
                <a:endParaRPr lang="es-ES" dirty="0"/>
              </a:p>
            </p:txBody>
          </p:sp>
        </mc:Choice>
        <mc:Fallback xmlns="">
          <p:sp>
            <p:nvSpPr>
              <p:cNvPr id="21" name="CuadroTexto 20">
                <a:extLst>
                  <a:ext uri="{FF2B5EF4-FFF2-40B4-BE49-F238E27FC236}">
                    <a16:creationId xmlns:a16="http://schemas.microsoft.com/office/drawing/2014/main" id="{1AD5B59D-C33E-6F4B-395C-8C67D9E73129}"/>
                  </a:ext>
                </a:extLst>
              </p:cNvPr>
              <p:cNvSpPr txBox="1">
                <a:spLocks noRot="1" noChangeAspect="1" noMove="1" noResize="1" noEditPoints="1" noAdjustHandles="1" noChangeArrowheads="1" noChangeShapeType="1" noTextEdit="1"/>
              </p:cNvSpPr>
              <p:nvPr/>
            </p:nvSpPr>
            <p:spPr>
              <a:xfrm>
                <a:off x="4150994" y="2806128"/>
                <a:ext cx="1598848" cy="377958"/>
              </a:xfrm>
              <a:prstGeom prst="rect">
                <a:avLst/>
              </a:prstGeom>
              <a:blipFill>
                <a:blip r:embed="rId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99FDE4C3-84C7-029C-691B-DA5B49E8A72D}"/>
                  </a:ext>
                </a:extLst>
              </p:cNvPr>
              <p:cNvSpPr txBox="1"/>
              <p:nvPr/>
            </p:nvSpPr>
            <p:spPr>
              <a:xfrm>
                <a:off x="6467833" y="2793704"/>
                <a:ext cx="606669" cy="39579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ar-AE" sz="1800" i="1" kern="1200">
                              <a:solidFill>
                                <a:schemeClr val="tx1"/>
                              </a:solidFill>
                              <a:latin typeface="Cambria Math" panose="02040503050406030204" pitchFamily="18" charset="0"/>
                              <a:ea typeface="+mn-ea"/>
                              <a:cs typeface="+mn-cs"/>
                            </a:rPr>
                          </m:ctrlPr>
                        </m:sSubPr>
                        <m:e>
                          <m:r>
                            <a:rPr lang="ar-AE" sz="1800" i="1" kern="1200">
                              <a:solidFill>
                                <a:schemeClr val="tx1"/>
                              </a:solidFill>
                              <a:latin typeface="Cambria Math" panose="02040503050406030204" pitchFamily="18" charset="0"/>
                              <a:ea typeface="+mn-ea"/>
                              <a:cs typeface="+mn-cs"/>
                            </a:rPr>
                            <m:t>𝑊</m:t>
                          </m:r>
                        </m:e>
                        <m:sub>
                          <m:r>
                            <a:rPr lang="ar-AE" sz="1800" i="1" kern="1200">
                              <a:solidFill>
                                <a:schemeClr val="tx1"/>
                              </a:solidFill>
                              <a:latin typeface="Cambria Math" panose="02040503050406030204" pitchFamily="18" charset="0"/>
                              <a:ea typeface="+mn-ea"/>
                              <a:cs typeface="+mn-cs"/>
                            </a:rPr>
                            <m:t>h</m:t>
                          </m:r>
                          <m:r>
                            <a:rPr lang="ar-AE" sz="1800" i="1" kern="1200">
                              <a:solidFill>
                                <a:schemeClr val="tx1"/>
                              </a:solidFill>
                              <a:latin typeface="Cambria Math" panose="02040503050406030204" pitchFamily="18" charset="0"/>
                              <a:ea typeface="+mn-ea"/>
                              <a:cs typeface="+mn-cs"/>
                            </a:rPr>
                            <m:t>𝑦</m:t>
                          </m:r>
                        </m:sub>
                      </m:sSub>
                    </m:oMath>
                  </m:oMathPara>
                </a14:m>
                <a:endParaRPr lang="es-ES" dirty="0"/>
              </a:p>
            </p:txBody>
          </p:sp>
        </mc:Choice>
        <mc:Fallback xmlns="">
          <p:sp>
            <p:nvSpPr>
              <p:cNvPr id="25" name="CuadroTexto 24">
                <a:extLst>
                  <a:ext uri="{FF2B5EF4-FFF2-40B4-BE49-F238E27FC236}">
                    <a16:creationId xmlns:a16="http://schemas.microsoft.com/office/drawing/2014/main" id="{99FDE4C3-84C7-029C-691B-DA5B49E8A72D}"/>
                  </a:ext>
                </a:extLst>
              </p:cNvPr>
              <p:cNvSpPr txBox="1">
                <a:spLocks noRot="1" noChangeAspect="1" noMove="1" noResize="1" noEditPoints="1" noAdjustHandles="1" noChangeArrowheads="1" noChangeShapeType="1" noTextEdit="1"/>
              </p:cNvSpPr>
              <p:nvPr/>
            </p:nvSpPr>
            <p:spPr>
              <a:xfrm>
                <a:off x="6467833" y="2793704"/>
                <a:ext cx="606669" cy="395791"/>
              </a:xfrm>
              <a:prstGeom prst="rect">
                <a:avLst/>
              </a:prstGeom>
              <a:blipFill>
                <a:blip r:embed="rId6"/>
                <a:stretch>
                  <a:fillRect/>
                </a:stretch>
              </a:blipFill>
            </p:spPr>
            <p:txBody>
              <a:bodyPr/>
              <a:lstStyle/>
              <a:p>
                <a:r>
                  <a:rPr lang="es-ES">
                    <a:noFill/>
                  </a:rPr>
                  <a:t> </a:t>
                </a:r>
              </a:p>
            </p:txBody>
          </p:sp>
        </mc:Fallback>
      </mc:AlternateContent>
      <p:cxnSp>
        <p:nvCxnSpPr>
          <p:cNvPr id="4" name="Conector: curvado 3">
            <a:extLst>
              <a:ext uri="{FF2B5EF4-FFF2-40B4-BE49-F238E27FC236}">
                <a16:creationId xmlns:a16="http://schemas.microsoft.com/office/drawing/2014/main" id="{31B22362-8EED-E2B1-EA1D-143BAFCA1B03}"/>
              </a:ext>
            </a:extLst>
          </p:cNvPr>
          <p:cNvCxnSpPr/>
          <p:nvPr/>
        </p:nvCxnSpPr>
        <p:spPr bwMode="auto">
          <a:xfrm rot="16200000" flipH="1">
            <a:off x="6008859" y="3338753"/>
            <a:ext cx="261484" cy="185421"/>
          </a:xfrm>
          <a:prstGeom prst="curvedConnector3">
            <a:avLst/>
          </a:prstGeom>
          <a:solidFill>
            <a:schemeClr val="accent1"/>
          </a:solidFill>
          <a:ln w="19050" cap="flat" cmpd="sng" algn="ctr">
            <a:solidFill>
              <a:srgbClr val="7030A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 name="Conector: curvado 4">
            <a:extLst>
              <a:ext uri="{FF2B5EF4-FFF2-40B4-BE49-F238E27FC236}">
                <a16:creationId xmlns:a16="http://schemas.microsoft.com/office/drawing/2014/main" id="{8F558461-2BE8-C138-78F6-B5115A0A3CE9}"/>
              </a:ext>
            </a:extLst>
          </p:cNvPr>
          <p:cNvCxnSpPr/>
          <p:nvPr/>
        </p:nvCxnSpPr>
        <p:spPr bwMode="auto">
          <a:xfrm rot="5400000">
            <a:off x="7698204" y="2621434"/>
            <a:ext cx="261485" cy="252814"/>
          </a:xfrm>
          <a:prstGeom prst="curvedConnector3">
            <a:avLst/>
          </a:prstGeom>
          <a:solidFill>
            <a:schemeClr val="accent1"/>
          </a:solidFill>
          <a:ln w="19050" cap="flat" cmpd="sng" algn="ctr">
            <a:solidFill>
              <a:srgbClr val="7030A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36624D6A-E78A-4CAB-9349-AF2971617ED3}"/>
                  </a:ext>
                </a:extLst>
              </p:cNvPr>
              <p:cNvSpPr txBox="1"/>
              <p:nvPr/>
            </p:nvSpPr>
            <p:spPr>
              <a:xfrm>
                <a:off x="7758122" y="2337661"/>
                <a:ext cx="606669" cy="39579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ar-AE" sz="1800" i="1" kern="1200" smtClean="0">
                              <a:solidFill>
                                <a:schemeClr val="tx1"/>
                              </a:solidFill>
                              <a:latin typeface="Cambria Math" panose="02040503050406030204" pitchFamily="18" charset="0"/>
                              <a:ea typeface="+mn-ea"/>
                              <a:cs typeface="+mn-cs"/>
                            </a:rPr>
                          </m:ctrlPr>
                        </m:sSubPr>
                        <m:e>
                          <m:r>
                            <a:rPr lang="es-ES" sz="1800" b="1" i="1" kern="1200" smtClean="0">
                              <a:solidFill>
                                <a:schemeClr val="tx1"/>
                              </a:solidFill>
                              <a:latin typeface="Cambria Math" panose="02040503050406030204" pitchFamily="18" charset="0"/>
                              <a:ea typeface="+mn-ea"/>
                              <a:cs typeface="+mn-cs"/>
                            </a:rPr>
                            <m:t>𝒃</m:t>
                          </m:r>
                        </m:e>
                        <m:sub>
                          <m:r>
                            <a:rPr lang="ar-AE" sz="1800" i="1" kern="1200">
                              <a:solidFill>
                                <a:schemeClr val="tx1"/>
                              </a:solidFill>
                              <a:latin typeface="Cambria Math" panose="02040503050406030204" pitchFamily="18" charset="0"/>
                              <a:ea typeface="+mn-ea"/>
                              <a:cs typeface="+mn-cs"/>
                            </a:rPr>
                            <m:t>𝑦</m:t>
                          </m:r>
                        </m:sub>
                      </m:sSub>
                    </m:oMath>
                  </m:oMathPara>
                </a14:m>
                <a:endParaRPr lang="es-ES" dirty="0"/>
              </a:p>
            </p:txBody>
          </p:sp>
        </mc:Choice>
        <mc:Fallback xmlns="">
          <p:sp>
            <p:nvSpPr>
              <p:cNvPr id="6" name="CuadroTexto 5">
                <a:extLst>
                  <a:ext uri="{FF2B5EF4-FFF2-40B4-BE49-F238E27FC236}">
                    <a16:creationId xmlns:a16="http://schemas.microsoft.com/office/drawing/2014/main" id="{36624D6A-E78A-4CAB-9349-AF2971617ED3}"/>
                  </a:ext>
                </a:extLst>
              </p:cNvPr>
              <p:cNvSpPr txBox="1">
                <a:spLocks noRot="1" noChangeAspect="1" noMove="1" noResize="1" noEditPoints="1" noAdjustHandles="1" noChangeArrowheads="1" noChangeShapeType="1" noTextEdit="1"/>
              </p:cNvSpPr>
              <p:nvPr/>
            </p:nvSpPr>
            <p:spPr>
              <a:xfrm>
                <a:off x="7758122" y="2337661"/>
                <a:ext cx="606669" cy="395791"/>
              </a:xfrm>
              <a:prstGeom prst="rect">
                <a:avLst/>
              </a:prstGeom>
              <a:blipFill>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E92EC635-6552-EBF4-7785-490255FAA460}"/>
                  </a:ext>
                </a:extLst>
              </p:cNvPr>
              <p:cNvSpPr txBox="1"/>
              <p:nvPr/>
            </p:nvSpPr>
            <p:spPr>
              <a:xfrm>
                <a:off x="5928978" y="3479651"/>
                <a:ext cx="606669" cy="37795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ar-AE" sz="1800" i="1" kern="1200" smtClean="0">
                              <a:solidFill>
                                <a:schemeClr val="tx1"/>
                              </a:solidFill>
                              <a:latin typeface="Cambria Math" panose="02040503050406030204" pitchFamily="18" charset="0"/>
                              <a:ea typeface="+mn-ea"/>
                              <a:cs typeface="+mn-cs"/>
                            </a:rPr>
                          </m:ctrlPr>
                        </m:sSubPr>
                        <m:e>
                          <m:r>
                            <a:rPr lang="es-ES" sz="1800" b="1" i="1" kern="1200" smtClean="0">
                              <a:solidFill>
                                <a:schemeClr val="tx1"/>
                              </a:solidFill>
                              <a:latin typeface="Cambria Math" panose="02040503050406030204" pitchFamily="18" charset="0"/>
                              <a:ea typeface="+mn-ea"/>
                              <a:cs typeface="+mn-cs"/>
                            </a:rPr>
                            <m:t>𝒃</m:t>
                          </m:r>
                        </m:e>
                        <m:sub>
                          <m:r>
                            <a:rPr lang="es-ES" sz="1800" b="1" i="1" kern="1200" smtClean="0">
                              <a:solidFill>
                                <a:schemeClr val="tx1"/>
                              </a:solidFill>
                              <a:latin typeface="Cambria Math" panose="02040503050406030204" pitchFamily="18" charset="0"/>
                              <a:ea typeface="+mn-ea"/>
                              <a:cs typeface="+mn-cs"/>
                            </a:rPr>
                            <m:t>𝒉</m:t>
                          </m:r>
                        </m:sub>
                      </m:sSub>
                    </m:oMath>
                  </m:oMathPara>
                </a14:m>
                <a:endParaRPr lang="es-ES" dirty="0"/>
              </a:p>
            </p:txBody>
          </p:sp>
        </mc:Choice>
        <mc:Fallback xmlns="">
          <p:sp>
            <p:nvSpPr>
              <p:cNvPr id="7" name="CuadroTexto 6">
                <a:extLst>
                  <a:ext uri="{FF2B5EF4-FFF2-40B4-BE49-F238E27FC236}">
                    <a16:creationId xmlns:a16="http://schemas.microsoft.com/office/drawing/2014/main" id="{E92EC635-6552-EBF4-7785-490255FAA460}"/>
                  </a:ext>
                </a:extLst>
              </p:cNvPr>
              <p:cNvSpPr txBox="1">
                <a:spLocks noRot="1" noChangeAspect="1" noMove="1" noResize="1" noEditPoints="1" noAdjustHandles="1" noChangeArrowheads="1" noChangeShapeType="1" noTextEdit="1"/>
              </p:cNvSpPr>
              <p:nvPr/>
            </p:nvSpPr>
            <p:spPr>
              <a:xfrm>
                <a:off x="5928978" y="3479651"/>
                <a:ext cx="606669" cy="377958"/>
              </a:xfrm>
              <a:prstGeom prst="rect">
                <a:avLst/>
              </a:prstGeom>
              <a:blipFill>
                <a:blip r:embed="rId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0DFB3CD2-5F53-4DD0-DC76-DB54903CADD0}"/>
                  </a:ext>
                </a:extLst>
              </p:cNvPr>
              <p:cNvSpPr txBox="1"/>
              <p:nvPr/>
            </p:nvSpPr>
            <p:spPr>
              <a:xfrm>
                <a:off x="520517" y="4011502"/>
                <a:ext cx="4572000" cy="341632"/>
              </a:xfrm>
              <a:prstGeom prst="rect">
                <a:avLst/>
              </a:prstGeom>
              <a:noFill/>
            </p:spPr>
            <p:txBody>
              <a:bodyPr wrap="square">
                <a:spAutoFit/>
              </a:bodyPr>
              <a:lstStyle/>
              <a:p>
                <a14:m>
                  <m:oMath xmlns:m="http://schemas.openxmlformats.org/officeDocument/2006/math">
                    <m:sSub>
                      <m:sSubPr>
                        <m:ctrlPr>
                          <a:rPr lang="ar-AE" sz="1800" i="1" kern="1200" smtClean="0">
                            <a:solidFill>
                              <a:schemeClr val="tx1"/>
                            </a:solidFill>
                            <a:latin typeface="Cambria Math" panose="02040503050406030204" pitchFamily="18" charset="0"/>
                          </a:rPr>
                        </m:ctrlPr>
                      </m:sSubPr>
                      <m:e>
                        <m:r>
                          <a:rPr lang="ar-AE" sz="1800" i="1" kern="1200">
                            <a:solidFill>
                              <a:schemeClr val="tx1"/>
                            </a:solidFill>
                            <a:latin typeface="Cambria Math" panose="02040503050406030204" pitchFamily="18" charset="0"/>
                          </a:rPr>
                          <m:t>𝑥</m:t>
                        </m:r>
                      </m:e>
                      <m:sub>
                        <m:r>
                          <a:rPr lang="ar-AE" sz="1800" kern="1200">
                            <a:solidFill>
                              <a:schemeClr val="tx1"/>
                            </a:solidFill>
                            <a:latin typeface="Cambria Math" panose="02040503050406030204" pitchFamily="18" charset="0"/>
                          </a:rPr>
                          <m:t>1</m:t>
                        </m:r>
                      </m:sub>
                    </m:sSub>
                    <m:r>
                      <a:rPr lang="es-ES" sz="1800" b="1" i="1" kern="1200" smtClean="0">
                        <a:solidFill>
                          <a:schemeClr val="tx1"/>
                        </a:solidFill>
                        <a:latin typeface="Cambria Math" panose="02040503050406030204" pitchFamily="18" charset="0"/>
                      </a:rPr>
                      <m:t>     </m:t>
                    </m:r>
                    <m:sSub>
                      <m:sSubPr>
                        <m:ctrlPr>
                          <a:rPr lang="ar-AE" i="1">
                            <a:solidFill>
                              <a:schemeClr val="tx1"/>
                            </a:solidFill>
                            <a:latin typeface="Cambria Math" panose="02040503050406030204" pitchFamily="18" charset="0"/>
                          </a:rPr>
                        </m:ctrlPr>
                      </m:sSubPr>
                      <m:e>
                        <m:r>
                          <a:rPr lang="ar-AE" i="1">
                            <a:solidFill>
                              <a:schemeClr val="tx1"/>
                            </a:solidFill>
                            <a:latin typeface="Cambria Math" panose="02040503050406030204" pitchFamily="18" charset="0"/>
                          </a:rPr>
                          <m:t>𝑥</m:t>
                        </m:r>
                      </m:e>
                      <m:sub>
                        <m:r>
                          <a:rPr lang="es-ES" b="1" i="0" smtClean="0">
                            <a:solidFill>
                              <a:schemeClr val="tx1"/>
                            </a:solidFill>
                            <a:latin typeface="Cambria Math" panose="02040503050406030204" pitchFamily="18" charset="0"/>
                          </a:rPr>
                          <m:t>𝟐</m:t>
                        </m:r>
                      </m:sub>
                    </m:sSub>
                    <m:sSub>
                      <m:sSubPr>
                        <m:ctrlPr>
                          <a:rPr lang="ar-AE" i="1">
                            <a:solidFill>
                              <a:schemeClr val="tx1"/>
                            </a:solidFill>
                            <a:latin typeface="Cambria Math" panose="02040503050406030204" pitchFamily="18" charset="0"/>
                          </a:rPr>
                        </m:ctrlPr>
                      </m:sSubPr>
                      <m:e>
                        <m:r>
                          <a:rPr lang="es-ES" b="1" i="1" smtClean="0">
                            <a:solidFill>
                              <a:schemeClr val="tx1"/>
                            </a:solidFill>
                            <a:latin typeface="Cambria Math" panose="02040503050406030204" pitchFamily="18" charset="0"/>
                          </a:rPr>
                          <m:t>     </m:t>
                        </m:r>
                        <m:r>
                          <a:rPr lang="ar-AE" i="1">
                            <a:solidFill>
                              <a:schemeClr val="tx1"/>
                            </a:solidFill>
                            <a:latin typeface="Cambria Math" panose="02040503050406030204" pitchFamily="18" charset="0"/>
                          </a:rPr>
                          <m:t>𝑥</m:t>
                        </m:r>
                      </m:e>
                      <m:sub>
                        <m:r>
                          <a:rPr lang="es-ES" b="1" i="0" smtClean="0">
                            <a:solidFill>
                              <a:schemeClr val="tx1"/>
                            </a:solidFill>
                            <a:latin typeface="Cambria Math" panose="02040503050406030204" pitchFamily="18" charset="0"/>
                          </a:rPr>
                          <m:t>𝟑</m:t>
                        </m:r>
                      </m:sub>
                    </m:sSub>
                  </m:oMath>
                </a14:m>
                <a:r>
                  <a:rPr lang="ar-AE" dirty="0">
                    <a:solidFill>
                      <a:schemeClr val="tx1"/>
                    </a:solidFill>
                  </a:rPr>
                  <a:t> </a:t>
                </a:r>
                <a14:m>
                  <m:oMath xmlns:m="http://schemas.openxmlformats.org/officeDocument/2006/math">
                    <m:sSub>
                      <m:sSubPr>
                        <m:ctrlPr>
                          <a:rPr lang="ar-AE" i="1">
                            <a:solidFill>
                              <a:schemeClr val="tx1"/>
                            </a:solidFill>
                            <a:latin typeface="Cambria Math" panose="02040503050406030204" pitchFamily="18" charset="0"/>
                          </a:rPr>
                        </m:ctrlPr>
                      </m:sSubPr>
                      <m:e>
                        <m:r>
                          <a:rPr lang="es-ES" i="1">
                            <a:solidFill>
                              <a:schemeClr val="tx1"/>
                            </a:solidFill>
                            <a:latin typeface="Cambria Math" panose="02040503050406030204" pitchFamily="18" charset="0"/>
                          </a:rPr>
                          <m:t>     </m:t>
                        </m:r>
                        <m:r>
                          <a:rPr lang="ar-AE" i="1">
                            <a:solidFill>
                              <a:schemeClr val="tx1"/>
                            </a:solidFill>
                            <a:latin typeface="Cambria Math" panose="02040503050406030204" pitchFamily="18" charset="0"/>
                          </a:rPr>
                          <m:t>𝑥</m:t>
                        </m:r>
                      </m:e>
                      <m:sub>
                        <m:r>
                          <a:rPr lang="es-ES" b="1" i="0" smtClean="0">
                            <a:solidFill>
                              <a:schemeClr val="tx1"/>
                            </a:solidFill>
                            <a:latin typeface="Cambria Math" panose="02040503050406030204" pitchFamily="18" charset="0"/>
                          </a:rPr>
                          <m:t>𝟒</m:t>
                        </m:r>
                      </m:sub>
                    </m:sSub>
                  </m:oMath>
                </a14:m>
                <a:r>
                  <a:rPr lang="es-ES" dirty="0">
                    <a:solidFill>
                      <a:schemeClr val="tx1"/>
                    </a:solidFill>
                  </a:rPr>
                  <a:t> </a:t>
                </a:r>
                <a14:m>
                  <m:oMath xmlns:m="http://schemas.openxmlformats.org/officeDocument/2006/math">
                    <m:r>
                      <a:rPr lang="es-ES" b="1" i="0" smtClean="0">
                        <a:solidFill>
                          <a:schemeClr val="tx1"/>
                        </a:solidFill>
                        <a:latin typeface="Cambria Math" panose="02040503050406030204" pitchFamily="18" charset="0"/>
                      </a:rPr>
                      <m:t>    </m:t>
                    </m:r>
                    <m:sSub>
                      <m:sSubPr>
                        <m:ctrlPr>
                          <a:rPr lang="ar-AE" i="1" smtClean="0">
                            <a:solidFill>
                              <a:schemeClr val="tx1"/>
                            </a:solidFill>
                            <a:latin typeface="Cambria Math" panose="02040503050406030204" pitchFamily="18" charset="0"/>
                          </a:rPr>
                        </m:ctrlPr>
                      </m:sSubPr>
                      <m:e>
                        <m:r>
                          <a:rPr lang="ar-AE" i="1">
                            <a:solidFill>
                              <a:schemeClr val="tx1"/>
                            </a:solidFill>
                            <a:latin typeface="Cambria Math" panose="02040503050406030204" pitchFamily="18" charset="0"/>
                          </a:rPr>
                          <m:t>𝑥</m:t>
                        </m:r>
                      </m:e>
                      <m:sub>
                        <m:r>
                          <a:rPr lang="es-ES" b="1" i="0" smtClean="0">
                            <a:solidFill>
                              <a:schemeClr val="tx1"/>
                            </a:solidFill>
                            <a:latin typeface="Cambria Math" panose="02040503050406030204" pitchFamily="18" charset="0"/>
                          </a:rPr>
                          <m:t>𝟓</m:t>
                        </m:r>
                      </m:sub>
                    </m:sSub>
                    <m:sSub>
                      <m:sSubPr>
                        <m:ctrlPr>
                          <a:rPr lang="ar-AE" i="1">
                            <a:solidFill>
                              <a:schemeClr val="tx1"/>
                            </a:solidFill>
                            <a:latin typeface="Cambria Math" panose="02040503050406030204" pitchFamily="18" charset="0"/>
                          </a:rPr>
                        </m:ctrlPr>
                      </m:sSubPr>
                      <m:e>
                        <m:r>
                          <a:rPr lang="es-ES" i="1">
                            <a:solidFill>
                              <a:schemeClr val="tx1"/>
                            </a:solidFill>
                            <a:latin typeface="Cambria Math" panose="02040503050406030204" pitchFamily="18" charset="0"/>
                          </a:rPr>
                          <m:t>     </m:t>
                        </m:r>
                        <m:r>
                          <a:rPr lang="ar-AE" i="1">
                            <a:solidFill>
                              <a:schemeClr val="tx1"/>
                            </a:solidFill>
                            <a:latin typeface="Cambria Math" panose="02040503050406030204" pitchFamily="18" charset="0"/>
                          </a:rPr>
                          <m:t>𝑥</m:t>
                        </m:r>
                      </m:e>
                      <m:sub>
                        <m:r>
                          <a:rPr lang="es-ES" b="1" i="1" smtClean="0">
                            <a:solidFill>
                              <a:schemeClr val="tx1"/>
                            </a:solidFill>
                            <a:latin typeface="Cambria Math" panose="02040503050406030204" pitchFamily="18" charset="0"/>
                          </a:rPr>
                          <m:t>𝟔</m:t>
                        </m:r>
                      </m:sub>
                    </m:sSub>
                  </m:oMath>
                </a14:m>
                <a:r>
                  <a:rPr lang="ar-AE" dirty="0">
                    <a:solidFill>
                      <a:schemeClr val="tx1"/>
                    </a:solidFill>
                  </a:rPr>
                  <a:t> </a:t>
                </a:r>
                <a14:m>
                  <m:oMath xmlns:m="http://schemas.openxmlformats.org/officeDocument/2006/math">
                    <m:sSub>
                      <m:sSubPr>
                        <m:ctrlPr>
                          <a:rPr lang="ar-AE" i="1">
                            <a:solidFill>
                              <a:schemeClr val="tx1"/>
                            </a:solidFill>
                            <a:latin typeface="Cambria Math" panose="02040503050406030204" pitchFamily="18" charset="0"/>
                          </a:rPr>
                        </m:ctrlPr>
                      </m:sSubPr>
                      <m:e>
                        <m:r>
                          <a:rPr lang="es-ES" i="1">
                            <a:solidFill>
                              <a:schemeClr val="tx1"/>
                            </a:solidFill>
                            <a:latin typeface="Cambria Math" panose="02040503050406030204" pitchFamily="18" charset="0"/>
                          </a:rPr>
                          <m:t>     </m:t>
                        </m:r>
                        <m:r>
                          <a:rPr lang="ar-AE" i="1">
                            <a:solidFill>
                              <a:schemeClr val="tx1"/>
                            </a:solidFill>
                            <a:latin typeface="Cambria Math" panose="02040503050406030204" pitchFamily="18" charset="0"/>
                          </a:rPr>
                          <m:t>𝑥</m:t>
                        </m:r>
                      </m:e>
                      <m:sub>
                        <m:r>
                          <a:rPr lang="es-ES" b="1" i="0" smtClean="0">
                            <a:solidFill>
                              <a:schemeClr val="tx1"/>
                            </a:solidFill>
                            <a:latin typeface="Cambria Math" panose="02040503050406030204" pitchFamily="18" charset="0"/>
                          </a:rPr>
                          <m:t>𝟕</m:t>
                        </m:r>
                      </m:sub>
                    </m:sSub>
                  </m:oMath>
                </a14:m>
                <a:endParaRPr lang="es-ES" dirty="0">
                  <a:solidFill>
                    <a:schemeClr val="tx1"/>
                  </a:solidFill>
                </a:endParaRPr>
              </a:p>
            </p:txBody>
          </p:sp>
        </mc:Choice>
        <mc:Fallback xmlns="">
          <p:sp>
            <p:nvSpPr>
              <p:cNvPr id="13" name="CuadroTexto 12">
                <a:extLst>
                  <a:ext uri="{FF2B5EF4-FFF2-40B4-BE49-F238E27FC236}">
                    <a16:creationId xmlns:a16="http://schemas.microsoft.com/office/drawing/2014/main" id="{0DFB3CD2-5F53-4DD0-DC76-DB54903CADD0}"/>
                  </a:ext>
                </a:extLst>
              </p:cNvPr>
              <p:cNvSpPr txBox="1">
                <a:spLocks noRot="1" noChangeAspect="1" noMove="1" noResize="1" noEditPoints="1" noAdjustHandles="1" noChangeArrowheads="1" noChangeShapeType="1" noTextEdit="1"/>
              </p:cNvSpPr>
              <p:nvPr/>
            </p:nvSpPr>
            <p:spPr>
              <a:xfrm>
                <a:off x="520517" y="4011502"/>
                <a:ext cx="4572000" cy="341632"/>
              </a:xfrm>
              <a:prstGeom prst="rect">
                <a:avLst/>
              </a:prstGeom>
              <a:blipFill>
                <a:blip r:embed="rId9"/>
                <a:stretch>
                  <a:fillRect t="-16071" b="-2857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9" name="CuadroTexto 28">
                <a:extLst>
                  <a:ext uri="{FF2B5EF4-FFF2-40B4-BE49-F238E27FC236}">
                    <a16:creationId xmlns:a16="http://schemas.microsoft.com/office/drawing/2014/main" id="{E0271F02-76E9-CEE3-D5AA-F676C76A1197}"/>
                  </a:ext>
                </a:extLst>
              </p:cNvPr>
              <p:cNvSpPr txBox="1"/>
              <p:nvPr/>
            </p:nvSpPr>
            <p:spPr>
              <a:xfrm>
                <a:off x="6078791" y="4343456"/>
                <a:ext cx="2455609" cy="44627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sz="1800" b="1" i="1" kern="1200" smtClean="0">
                          <a:solidFill>
                            <a:schemeClr val="tx1"/>
                          </a:solidFill>
                          <a:latin typeface="Cambria Math" panose="02040503050406030204" pitchFamily="18" charset="0"/>
                        </a:rPr>
                        <m:t>(</m:t>
                      </m:r>
                      <m:sSub>
                        <m:sSubPr>
                          <m:ctrlPr>
                            <a:rPr lang="ar-AE" sz="1800" i="1" kern="1200" smtClean="0">
                              <a:solidFill>
                                <a:schemeClr val="tx1"/>
                              </a:solidFill>
                              <a:latin typeface="Cambria Math" panose="02040503050406030204" pitchFamily="18" charset="0"/>
                            </a:rPr>
                          </m:ctrlPr>
                        </m:sSubPr>
                        <m:e>
                          <m:r>
                            <a:rPr lang="ar-AE" sz="1800" i="1" kern="1200">
                              <a:solidFill>
                                <a:schemeClr val="tx1"/>
                              </a:solidFill>
                              <a:latin typeface="Cambria Math" panose="02040503050406030204" pitchFamily="18" charset="0"/>
                            </a:rPr>
                            <m:t>𝑊</m:t>
                          </m:r>
                        </m:e>
                        <m:sub>
                          <m:r>
                            <a:rPr lang="ar-AE" sz="1800" i="1" kern="1200">
                              <a:solidFill>
                                <a:schemeClr val="tx1"/>
                              </a:solidFill>
                              <a:latin typeface="Cambria Math" panose="02040503050406030204" pitchFamily="18" charset="0"/>
                            </a:rPr>
                            <m:t>𝑥</m:t>
                          </m:r>
                          <m:r>
                            <a:rPr lang="ar-AE" sz="1800" i="1" kern="1200">
                              <a:solidFill>
                                <a:schemeClr val="tx1"/>
                              </a:solidFill>
                              <a:latin typeface="Cambria Math" panose="02040503050406030204" pitchFamily="18" charset="0"/>
                            </a:rPr>
                            <m:t>h</m:t>
                          </m:r>
                        </m:sub>
                      </m:sSub>
                      <m:r>
                        <a:rPr lang="es-ES" sz="1800" b="1" i="1" kern="1200" smtClean="0">
                          <a:solidFill>
                            <a:schemeClr val="tx1"/>
                          </a:solidFill>
                          <a:latin typeface="Cambria Math" panose="02040503050406030204" pitchFamily="18" charset="0"/>
                        </a:rPr>
                        <m:t>, </m:t>
                      </m:r>
                      <m:sSub>
                        <m:sSubPr>
                          <m:ctrlPr>
                            <a:rPr lang="ar-AE" sz="1800" i="1" kern="1200">
                              <a:solidFill>
                                <a:schemeClr val="tx1"/>
                              </a:solidFill>
                              <a:latin typeface="Cambria Math" panose="02040503050406030204" pitchFamily="18" charset="0"/>
                            </a:rPr>
                          </m:ctrlPr>
                        </m:sSubPr>
                        <m:e>
                          <m:r>
                            <a:rPr lang="ar-AE" sz="1800" i="1" kern="1200">
                              <a:solidFill>
                                <a:schemeClr val="tx1"/>
                              </a:solidFill>
                              <a:latin typeface="Cambria Math" panose="02040503050406030204" pitchFamily="18" charset="0"/>
                            </a:rPr>
                            <m:t>𝑊</m:t>
                          </m:r>
                        </m:e>
                        <m:sub>
                          <m:r>
                            <a:rPr lang="ar-AE" sz="1800" i="1" kern="1200">
                              <a:solidFill>
                                <a:schemeClr val="tx1"/>
                              </a:solidFill>
                              <a:latin typeface="Cambria Math" panose="02040503050406030204" pitchFamily="18" charset="0"/>
                            </a:rPr>
                            <m:t>hh</m:t>
                          </m:r>
                        </m:sub>
                      </m:sSub>
                      <m:r>
                        <a:rPr lang="es-ES" sz="1800" b="1" i="1" kern="1200" smtClean="0">
                          <a:solidFill>
                            <a:schemeClr val="tx1"/>
                          </a:solidFill>
                          <a:latin typeface="Cambria Math" panose="02040503050406030204" pitchFamily="18" charset="0"/>
                        </a:rPr>
                        <m:t>, </m:t>
                      </m:r>
                      <m:sSub>
                        <m:sSubPr>
                          <m:ctrlPr>
                            <a:rPr lang="ar-AE" i="1">
                              <a:solidFill>
                                <a:schemeClr val="tx1"/>
                              </a:solidFill>
                              <a:latin typeface="Cambria Math" panose="02040503050406030204" pitchFamily="18" charset="0"/>
                            </a:rPr>
                          </m:ctrlPr>
                        </m:sSubPr>
                        <m:e>
                          <m:r>
                            <a:rPr lang="ar-AE" i="1">
                              <a:solidFill>
                                <a:schemeClr val="tx1"/>
                              </a:solidFill>
                              <a:latin typeface="Cambria Math" panose="02040503050406030204" pitchFamily="18" charset="0"/>
                            </a:rPr>
                            <m:t>𝑊</m:t>
                          </m:r>
                        </m:e>
                        <m:sub>
                          <m:r>
                            <a:rPr lang="ar-AE" i="1">
                              <a:solidFill>
                                <a:schemeClr val="tx1"/>
                              </a:solidFill>
                              <a:latin typeface="Cambria Math" panose="02040503050406030204" pitchFamily="18" charset="0"/>
                            </a:rPr>
                            <m:t>h</m:t>
                          </m:r>
                          <m:r>
                            <a:rPr lang="es-ES" b="1" i="1" smtClean="0">
                              <a:solidFill>
                                <a:schemeClr val="tx1"/>
                              </a:solidFill>
                              <a:latin typeface="Cambria Math" panose="02040503050406030204" pitchFamily="18" charset="0"/>
                            </a:rPr>
                            <m:t>𝒚</m:t>
                          </m:r>
                        </m:sub>
                      </m:sSub>
                      <m:r>
                        <a:rPr lang="es-ES" b="1" i="1" smtClean="0">
                          <a:solidFill>
                            <a:schemeClr val="tx1"/>
                          </a:solidFill>
                          <a:latin typeface="Cambria Math" panose="02040503050406030204" pitchFamily="18" charset="0"/>
                        </a:rPr>
                        <m:t>,</m:t>
                      </m:r>
                      <m:sSub>
                        <m:sSubPr>
                          <m:ctrlPr>
                            <a:rPr lang="ar-AE" i="1">
                              <a:solidFill>
                                <a:schemeClr val="tx1"/>
                              </a:solidFill>
                              <a:latin typeface="Cambria Math" panose="02040503050406030204" pitchFamily="18" charset="0"/>
                            </a:rPr>
                          </m:ctrlPr>
                        </m:sSubPr>
                        <m:e>
                          <m:r>
                            <a:rPr lang="ar-AE" i="1">
                              <a:solidFill>
                                <a:schemeClr val="tx1"/>
                              </a:solidFill>
                              <a:latin typeface="Cambria Math" panose="02040503050406030204" pitchFamily="18" charset="0"/>
                            </a:rPr>
                            <m:t>𝑏</m:t>
                          </m:r>
                        </m:e>
                        <m:sub>
                          <m:r>
                            <a:rPr lang="ar-AE" i="1">
                              <a:solidFill>
                                <a:schemeClr val="tx1"/>
                              </a:solidFill>
                              <a:latin typeface="Cambria Math" panose="02040503050406030204" pitchFamily="18" charset="0"/>
                            </a:rPr>
                            <m:t>h</m:t>
                          </m:r>
                        </m:sub>
                      </m:sSub>
                      <m:r>
                        <a:rPr lang="es-ES">
                          <a:solidFill>
                            <a:schemeClr val="tx1"/>
                          </a:solidFill>
                          <a:latin typeface="Cambria Math" panose="02040503050406030204" pitchFamily="18" charset="0"/>
                        </a:rPr>
                        <m:t>,</m:t>
                      </m:r>
                      <m:sSub>
                        <m:sSubPr>
                          <m:ctrlPr>
                            <a:rPr lang="ar-AE" i="1">
                              <a:solidFill>
                                <a:schemeClr val="tx1"/>
                              </a:solidFill>
                              <a:latin typeface="Cambria Math" panose="02040503050406030204" pitchFamily="18" charset="0"/>
                            </a:rPr>
                          </m:ctrlPr>
                        </m:sSubPr>
                        <m:e>
                          <m:r>
                            <a:rPr lang="ar-AE" i="1">
                              <a:solidFill>
                                <a:schemeClr val="tx1"/>
                              </a:solidFill>
                              <a:latin typeface="Cambria Math" panose="02040503050406030204" pitchFamily="18" charset="0"/>
                            </a:rPr>
                            <m:t>𝑏</m:t>
                          </m:r>
                        </m:e>
                        <m:sub>
                          <m:r>
                            <a:rPr lang="es-ES" b="0" i="1">
                              <a:solidFill>
                                <a:schemeClr val="tx1"/>
                              </a:solidFill>
                              <a:latin typeface="Cambria Math" panose="02040503050406030204" pitchFamily="18" charset="0"/>
                            </a:rPr>
                            <m:t>𝑦</m:t>
                          </m:r>
                        </m:sub>
                      </m:sSub>
                      <m:r>
                        <a:rPr lang="es-ES" b="0" i="1" smtClean="0">
                          <a:solidFill>
                            <a:schemeClr val="tx1"/>
                          </a:solidFill>
                          <a:latin typeface="Cambria Math" panose="02040503050406030204" pitchFamily="18" charset="0"/>
                        </a:rPr>
                        <m:t>)</m:t>
                      </m:r>
                    </m:oMath>
                  </m:oMathPara>
                </a14:m>
                <a:endParaRPr lang="es-ES" dirty="0"/>
              </a:p>
            </p:txBody>
          </p:sp>
        </mc:Choice>
        <mc:Fallback xmlns="">
          <p:sp>
            <p:nvSpPr>
              <p:cNvPr id="29" name="CuadroTexto 28">
                <a:extLst>
                  <a:ext uri="{FF2B5EF4-FFF2-40B4-BE49-F238E27FC236}">
                    <a16:creationId xmlns:a16="http://schemas.microsoft.com/office/drawing/2014/main" id="{E0271F02-76E9-CEE3-D5AA-F676C76A1197}"/>
                  </a:ext>
                </a:extLst>
              </p:cNvPr>
              <p:cNvSpPr txBox="1">
                <a:spLocks noRot="1" noChangeAspect="1" noMove="1" noResize="1" noEditPoints="1" noAdjustHandles="1" noChangeArrowheads="1" noChangeShapeType="1" noTextEdit="1"/>
              </p:cNvSpPr>
              <p:nvPr/>
            </p:nvSpPr>
            <p:spPr>
              <a:xfrm>
                <a:off x="6078791" y="4343456"/>
                <a:ext cx="2455609" cy="446276"/>
              </a:xfrm>
              <a:prstGeom prst="rect">
                <a:avLst/>
              </a:prstGeom>
              <a:blipFill>
                <a:blip r:embed="rId10"/>
                <a:stretch>
                  <a:fillRect/>
                </a:stretch>
              </a:blipFill>
            </p:spPr>
            <p:txBody>
              <a:bodyPr/>
              <a:lstStyle/>
              <a:p>
                <a:r>
                  <a:rPr lang="es-ES">
                    <a:noFill/>
                  </a:rPr>
                  <a:t> </a:t>
                </a:r>
              </a:p>
            </p:txBody>
          </p:sp>
        </mc:Fallback>
      </mc:AlternateContent>
      <p:grpSp>
        <p:nvGrpSpPr>
          <p:cNvPr id="32" name="Grupo 31">
            <a:extLst>
              <a:ext uri="{FF2B5EF4-FFF2-40B4-BE49-F238E27FC236}">
                <a16:creationId xmlns:a16="http://schemas.microsoft.com/office/drawing/2014/main" id="{28A75B31-969D-D399-44CF-8EF32A9607EB}"/>
              </a:ext>
            </a:extLst>
          </p:cNvPr>
          <p:cNvGrpSpPr/>
          <p:nvPr/>
        </p:nvGrpSpPr>
        <p:grpSpPr>
          <a:xfrm>
            <a:off x="558152" y="4353134"/>
            <a:ext cx="1642367" cy="1046460"/>
            <a:chOff x="558152" y="4353134"/>
            <a:chExt cx="1642367" cy="1046460"/>
          </a:xfrm>
        </p:grpSpPr>
        <p:sp>
          <p:nvSpPr>
            <p:cNvPr id="17" name="Abrir llave 16">
              <a:extLst>
                <a:ext uri="{FF2B5EF4-FFF2-40B4-BE49-F238E27FC236}">
                  <a16:creationId xmlns:a16="http://schemas.microsoft.com/office/drawing/2014/main" id="{335FA89E-E6AD-3A6E-54D2-547710244A49}"/>
                </a:ext>
              </a:extLst>
            </p:cNvPr>
            <p:cNvSpPr/>
            <p:nvPr/>
          </p:nvSpPr>
          <p:spPr bwMode="auto">
            <a:xfrm rot="16200000">
              <a:off x="745486" y="4165800"/>
              <a:ext cx="523005" cy="897674"/>
            </a:xfrm>
            <a:prstGeom prst="leftBrace">
              <a:avLst>
                <a:gd name="adj1" fmla="val 8333"/>
                <a:gd name="adj2" fmla="val 48302"/>
              </a:avLst>
            </a:prstGeom>
            <a:noFill/>
            <a:ln w="254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90000"/>
                </a:lnSpc>
                <a:spcBef>
                  <a:spcPts val="600"/>
                </a:spcBef>
                <a:spcAft>
                  <a:spcPts val="600"/>
                </a:spcAft>
                <a:buClrTx/>
                <a:buSzTx/>
                <a:buFont typeface="Symbol" pitchFamily="18" charset="2"/>
                <a:buNone/>
                <a:tabLst/>
              </a:pPr>
              <a:endParaRPr kumimoji="0" lang="es-ES" sz="1800" b="1" i="0" u="none" strike="noStrike" cap="none" normalizeH="0" baseline="0">
                <a:ln>
                  <a:noFill/>
                </a:ln>
                <a:solidFill>
                  <a:srgbClr val="66FFCC"/>
                </a:solidFill>
                <a:effectLst/>
                <a:latin typeface="Times New Roman" pitchFamily="18" charset="0"/>
              </a:endParaRPr>
            </a:p>
          </p:txBody>
        </p:sp>
        <p:sp>
          <p:nvSpPr>
            <p:cNvPr id="20" name="Abrir llave 19">
              <a:extLst>
                <a:ext uri="{FF2B5EF4-FFF2-40B4-BE49-F238E27FC236}">
                  <a16:creationId xmlns:a16="http://schemas.microsoft.com/office/drawing/2014/main" id="{E70CA69F-5150-E189-991D-8714E497B499}"/>
                </a:ext>
              </a:extLst>
            </p:cNvPr>
            <p:cNvSpPr/>
            <p:nvPr/>
          </p:nvSpPr>
          <p:spPr bwMode="auto">
            <a:xfrm rot="16200000">
              <a:off x="1434890" y="4467858"/>
              <a:ext cx="523007" cy="293559"/>
            </a:xfrm>
            <a:prstGeom prst="leftBrace">
              <a:avLst/>
            </a:prstGeom>
            <a:noFill/>
            <a:ln w="25400"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90000"/>
                </a:lnSpc>
                <a:spcBef>
                  <a:spcPts val="600"/>
                </a:spcBef>
                <a:spcAft>
                  <a:spcPts val="600"/>
                </a:spcAft>
                <a:buClrTx/>
                <a:buSzTx/>
                <a:buFont typeface="Symbol" pitchFamily="18" charset="2"/>
                <a:buNone/>
                <a:tabLst/>
              </a:pPr>
              <a:endParaRPr kumimoji="0" lang="es-ES" sz="1800" b="1" i="0" u="none" strike="noStrike" cap="none" normalizeH="0" baseline="0">
                <a:ln>
                  <a:noFill/>
                </a:ln>
                <a:solidFill>
                  <a:srgbClr val="66FFCC"/>
                </a:solidFill>
                <a:effectLst/>
                <a:latin typeface="Times New Roman" pitchFamily="18" charset="0"/>
              </a:endParaRPr>
            </a:p>
          </p:txBody>
        </p:sp>
        <p:sp>
          <p:nvSpPr>
            <p:cNvPr id="26" name="CuadroTexto 25">
              <a:extLst>
                <a:ext uri="{FF2B5EF4-FFF2-40B4-BE49-F238E27FC236}">
                  <a16:creationId xmlns:a16="http://schemas.microsoft.com/office/drawing/2014/main" id="{9BE05193-37C2-067C-2F20-B48E6A885734}"/>
                </a:ext>
              </a:extLst>
            </p:cNvPr>
            <p:cNvSpPr txBox="1"/>
            <p:nvPr/>
          </p:nvSpPr>
          <p:spPr>
            <a:xfrm>
              <a:off x="652163" y="4858385"/>
              <a:ext cx="650682" cy="257731"/>
            </a:xfrm>
            <a:prstGeom prst="rect">
              <a:avLst/>
            </a:prstGeom>
            <a:noFill/>
          </p:spPr>
          <p:txBody>
            <a:bodyPr wrap="square">
              <a:spAutoFit/>
            </a:bodyPr>
            <a:lstStyle/>
            <a:p>
              <a:r>
                <a:rPr lang="en-US" sz="1200" dirty="0">
                  <a:solidFill>
                    <a:srgbClr val="C00000"/>
                  </a:solidFill>
                  <a:latin typeface="Verdana" panose="020B0604030504040204" pitchFamily="34" charset="0"/>
                </a:rPr>
                <a:t>input</a:t>
              </a:r>
              <a:endParaRPr lang="es-ES" sz="1200" dirty="0">
                <a:solidFill>
                  <a:srgbClr val="C00000"/>
                </a:solidFill>
                <a:latin typeface="Verdana" panose="020B0604030504040204" pitchFamily="34" charset="0"/>
              </a:endParaRPr>
            </a:p>
          </p:txBody>
        </p:sp>
        <p:sp>
          <p:nvSpPr>
            <p:cNvPr id="27" name="CuadroTexto 26">
              <a:extLst>
                <a:ext uri="{FF2B5EF4-FFF2-40B4-BE49-F238E27FC236}">
                  <a16:creationId xmlns:a16="http://schemas.microsoft.com/office/drawing/2014/main" id="{582510D3-0695-FB24-5FF3-1C5269977DD9}"/>
                </a:ext>
              </a:extLst>
            </p:cNvPr>
            <p:cNvSpPr txBox="1"/>
            <p:nvPr/>
          </p:nvSpPr>
          <p:spPr>
            <a:xfrm>
              <a:off x="1302844" y="4849926"/>
              <a:ext cx="897675" cy="257731"/>
            </a:xfrm>
            <a:prstGeom prst="rect">
              <a:avLst/>
            </a:prstGeom>
            <a:noFill/>
          </p:spPr>
          <p:txBody>
            <a:bodyPr wrap="square">
              <a:spAutoFit/>
            </a:bodyPr>
            <a:lstStyle/>
            <a:p>
              <a:r>
                <a:rPr lang="en-US" sz="1200" dirty="0" err="1">
                  <a:solidFill>
                    <a:srgbClr val="002060"/>
                  </a:solidFill>
                  <a:latin typeface="Verdana" panose="020B0604030504040204" pitchFamily="34" charset="0"/>
                </a:rPr>
                <a:t>etiqueta</a:t>
              </a:r>
              <a:endParaRPr lang="es-ES" sz="1200" dirty="0">
                <a:solidFill>
                  <a:srgbClr val="002060"/>
                </a:solidFill>
                <a:latin typeface="Verdana" panose="020B0604030504040204" pitchFamily="34" charset="0"/>
              </a:endParaRPr>
            </a:p>
          </p:txBody>
        </p:sp>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21AB6407-2512-9375-1E02-B358EE0D9BA3}"/>
                    </a:ext>
                  </a:extLst>
                </p:cNvPr>
                <p:cNvSpPr txBox="1"/>
                <p:nvPr/>
              </p:nvSpPr>
              <p:spPr>
                <a:xfrm>
                  <a:off x="907163" y="5020901"/>
                  <a:ext cx="858951" cy="378693"/>
                </a:xfrm>
                <a:prstGeom prst="rect">
                  <a:avLst/>
                </a:prstGeom>
                <a:noFill/>
              </p:spPr>
              <p:txBody>
                <a:bodyPr wrap="square">
                  <a:spAutoFit/>
                </a:bodyPr>
                <a:lstStyle/>
                <a:p>
                  <a14:m>
                    <m:oMath xmlns:m="http://schemas.openxmlformats.org/officeDocument/2006/math">
                      <m:sSub>
                        <m:sSubPr>
                          <m:ctrlPr>
                            <a:rPr lang="ar-AE" sz="1600" i="1">
                              <a:solidFill>
                                <a:srgbClr val="005682"/>
                              </a:solidFill>
                              <a:latin typeface="Cambria Math" panose="02040503050406030204" pitchFamily="18" charset="0"/>
                            </a:rPr>
                          </m:ctrlPr>
                        </m:sSubPr>
                        <m:e>
                          <m:r>
                            <a:rPr lang="ar-AE" sz="1600">
                              <a:solidFill>
                                <a:srgbClr val="005682"/>
                              </a:solidFill>
                              <a:latin typeface="Cambria Math" panose="02040503050406030204" pitchFamily="18" charset="0"/>
                            </a:rPr>
                            <m:t>ℒ</m:t>
                          </m:r>
                        </m:e>
                        <m:sub>
                          <m:r>
                            <a:rPr lang="es-ES" sz="1600">
                              <a:solidFill>
                                <a:srgbClr val="005682"/>
                              </a:solidFill>
                              <a:latin typeface="Cambria Math" panose="02040503050406030204" pitchFamily="18" charset="0"/>
                            </a:rPr>
                            <m:t>𝑖</m:t>
                          </m:r>
                        </m:sub>
                      </m:sSub>
                      <m:r>
                        <a:rPr lang="es-ES" sz="1600">
                          <a:solidFill>
                            <a:srgbClr val="005682"/>
                          </a:solidFill>
                          <a:latin typeface="Cambria Math" panose="02040503050406030204" pitchFamily="18" charset="0"/>
                        </a:rPr>
                        <m:t>(</m:t>
                      </m:r>
                      <m:r>
                        <m:rPr>
                          <m:sty m:val="p"/>
                        </m:rPr>
                        <a:rPr lang="es-ES" sz="1600">
                          <a:solidFill>
                            <a:srgbClr val="005682"/>
                          </a:solidFill>
                          <a:latin typeface="Cambria Math" panose="02040503050406030204" pitchFamily="18" charset="0"/>
                        </a:rPr>
                        <m:t>i</m:t>
                      </m:r>
                      <m:r>
                        <a:rPr lang="es-ES" sz="1600">
                          <a:solidFill>
                            <a:srgbClr val="005682"/>
                          </a:solidFill>
                          <a:latin typeface="Cambria Math" panose="02040503050406030204" pitchFamily="18" charset="0"/>
                        </a:rPr>
                        <m:t>,</m:t>
                      </m:r>
                      <m:r>
                        <m:rPr>
                          <m:sty m:val="p"/>
                        </m:rPr>
                        <a:rPr lang="es-ES" sz="1600">
                          <a:solidFill>
                            <a:srgbClr val="005682"/>
                          </a:solidFill>
                          <a:latin typeface="Cambria Math" panose="02040503050406030204" pitchFamily="18" charset="0"/>
                        </a:rPr>
                        <m:t>e</m:t>
                      </m:r>
                      <m:r>
                        <a:rPr lang="es-ES" sz="1600">
                          <a:solidFill>
                            <a:srgbClr val="005682"/>
                          </a:solidFill>
                          <a:latin typeface="Cambria Math" panose="02040503050406030204" pitchFamily="18" charset="0"/>
                        </a:rPr>
                        <m:t>)</m:t>
                      </m:r>
                    </m:oMath>
                  </a14:m>
                  <a:r>
                    <a:rPr lang="es-ES" sz="1600" dirty="0">
                      <a:solidFill>
                        <a:srgbClr val="005682"/>
                      </a:solidFill>
                      <a:latin typeface="Verdana" panose="020B0604030504040204" pitchFamily="34" charset="0"/>
                    </a:rPr>
                    <a:t> </a:t>
                  </a:r>
                  <a:endParaRPr lang="es-ES" sz="1400" dirty="0">
                    <a:solidFill>
                      <a:srgbClr val="005682"/>
                    </a:solidFill>
                    <a:latin typeface="Verdana" panose="020B0604030504040204" pitchFamily="34" charset="0"/>
                  </a:endParaRPr>
                </a:p>
              </p:txBody>
            </p:sp>
          </mc:Choice>
          <mc:Fallback xmlns="">
            <p:sp>
              <p:nvSpPr>
                <p:cNvPr id="19" name="CuadroTexto 18">
                  <a:extLst>
                    <a:ext uri="{FF2B5EF4-FFF2-40B4-BE49-F238E27FC236}">
                      <a16:creationId xmlns:a16="http://schemas.microsoft.com/office/drawing/2014/main" id="{21AB6407-2512-9375-1E02-B358EE0D9BA3}"/>
                    </a:ext>
                  </a:extLst>
                </p:cNvPr>
                <p:cNvSpPr txBox="1">
                  <a:spLocks noRot="1" noChangeAspect="1" noMove="1" noResize="1" noEditPoints="1" noAdjustHandles="1" noChangeArrowheads="1" noChangeShapeType="1" noTextEdit="1"/>
                </p:cNvSpPr>
                <p:nvPr/>
              </p:nvSpPr>
              <p:spPr>
                <a:xfrm>
                  <a:off x="907163" y="5020901"/>
                  <a:ext cx="858951" cy="378693"/>
                </a:xfrm>
                <a:prstGeom prst="rect">
                  <a:avLst/>
                </a:prstGeom>
                <a:blipFill>
                  <a:blip r:embed="rId11"/>
                  <a:stretch>
                    <a:fillRect l="-4965" t="-3226" b="-11290"/>
                  </a:stretch>
                </a:blipFill>
              </p:spPr>
              <p:txBody>
                <a:bodyPr/>
                <a:lstStyle/>
                <a:p>
                  <a:r>
                    <a:rPr lang="es-ES">
                      <a:noFill/>
                    </a:rPr>
                    <a:t> </a:t>
                  </a:r>
                </a:p>
              </p:txBody>
            </p:sp>
          </mc:Fallback>
        </mc:AlternateContent>
      </p:grpSp>
      <p:sp>
        <p:nvSpPr>
          <p:cNvPr id="34" name="Rectángulo 33">
            <a:extLst>
              <a:ext uri="{FF2B5EF4-FFF2-40B4-BE49-F238E27FC236}">
                <a16:creationId xmlns:a16="http://schemas.microsoft.com/office/drawing/2014/main" id="{EBACB247-4699-D7EB-7E16-B851574A6BE7}"/>
              </a:ext>
            </a:extLst>
          </p:cNvPr>
          <p:cNvSpPr/>
          <p:nvPr/>
        </p:nvSpPr>
        <p:spPr bwMode="auto">
          <a:xfrm>
            <a:off x="324091" y="3736988"/>
            <a:ext cx="1803719" cy="1662606"/>
          </a:xfrm>
          <a:prstGeom prst="rect">
            <a:avLst/>
          </a:prstGeom>
          <a:noFill/>
          <a:ln w="38100">
            <a:solidFill>
              <a:srgbClr val="C00000"/>
            </a:solidFill>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90000"/>
              </a:lnSpc>
              <a:spcBef>
                <a:spcPts val="600"/>
              </a:spcBef>
              <a:spcAft>
                <a:spcPts val="600"/>
              </a:spcAft>
              <a:buClrTx/>
              <a:buSzTx/>
              <a:buFont typeface="Symbol" pitchFamily="18" charset="2"/>
              <a:buNone/>
              <a:tabLst/>
            </a:pPr>
            <a:endParaRPr kumimoji="0" lang="es-ES" sz="1800" b="1" i="0" u="none" strike="noStrike" cap="none" normalizeH="0" baseline="0">
              <a:ln>
                <a:noFill/>
              </a:ln>
              <a:solidFill>
                <a:srgbClr val="66FFCC"/>
              </a:solidFill>
              <a:effectLst/>
              <a:latin typeface="Times New Roman" pitchFamily="18" charset="0"/>
            </a:endParaRPr>
          </a:p>
        </p:txBody>
      </p:sp>
      <p:sp>
        <p:nvSpPr>
          <p:cNvPr id="35" name="Flecha: doblada 34">
            <a:extLst>
              <a:ext uri="{FF2B5EF4-FFF2-40B4-BE49-F238E27FC236}">
                <a16:creationId xmlns:a16="http://schemas.microsoft.com/office/drawing/2014/main" id="{C2E0C82B-C2B3-19C5-EC2A-A94A6829932B}"/>
              </a:ext>
            </a:extLst>
          </p:cNvPr>
          <p:cNvSpPr/>
          <p:nvPr/>
        </p:nvSpPr>
        <p:spPr bwMode="auto">
          <a:xfrm>
            <a:off x="2082225" y="2785523"/>
            <a:ext cx="1423975" cy="525341"/>
          </a:xfrm>
          <a:prstGeom prst="bentArrow">
            <a:avLst/>
          </a:prstGeom>
          <a:noFill/>
          <a:ln w="2857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90000"/>
              </a:lnSpc>
              <a:spcBef>
                <a:spcPts val="600"/>
              </a:spcBef>
              <a:spcAft>
                <a:spcPts val="600"/>
              </a:spcAft>
              <a:buClrTx/>
              <a:buSzTx/>
              <a:buFont typeface="Symbol" pitchFamily="18" charset="2"/>
              <a:buNone/>
              <a:tabLst/>
            </a:pPr>
            <a:endParaRPr kumimoji="0" lang="es-ES" sz="1800" b="1" i="0" u="none" strike="noStrike" cap="none" normalizeH="0" baseline="0" dirty="0">
              <a:ln>
                <a:noFill/>
              </a:ln>
              <a:solidFill>
                <a:srgbClr val="66FFCC"/>
              </a:solidFill>
              <a:effectLst/>
              <a:latin typeface="Times New Roman" pitchFamily="18" charset="0"/>
            </a:endParaRPr>
          </a:p>
        </p:txBody>
      </p:sp>
    </p:spTree>
    <p:extLst>
      <p:ext uri="{BB962C8B-B14F-4D97-AF65-F5344CB8AC3E}">
        <p14:creationId xmlns:p14="http://schemas.microsoft.com/office/powerpoint/2010/main" val="2217947622"/>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2500"/>
                                        <p:tgtEl>
                                          <p:spTgt spid="3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5"/>
                                        </p:tgtEl>
                                        <p:attrNameLst>
                                          <p:attrName>style.visibility</p:attrName>
                                        </p:attrNameLst>
                                      </p:cBhvr>
                                      <p:to>
                                        <p:strVal val="visible"/>
                                      </p:to>
                                    </p:set>
                                    <p:animEffect transition="in" filter="fade">
                                      <p:cBhvr>
                                        <p:cTn id="10" dur="2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B3D8D-123B-526C-ECFC-F8C6839D5445}"/>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86E5333-AD86-C552-685D-64965BA4B7B6}"/>
                  </a:ext>
                </a:extLst>
              </p:cNvPr>
              <p:cNvSpPr>
                <a:spLocks noGrp="1"/>
              </p:cNvSpPr>
              <p:nvPr>
                <p:ph idx="1"/>
              </p:nvPr>
            </p:nvSpPr>
            <p:spPr>
              <a:xfrm>
                <a:off x="457200" y="992818"/>
                <a:ext cx="8686800" cy="5778372"/>
              </a:xfrm>
            </p:spPr>
            <p:txBody>
              <a:bodyPr>
                <a:noAutofit/>
              </a:bodyPr>
              <a:lstStyle/>
              <a:p>
                <a:pPr marL="0" indent="0">
                  <a:buNone/>
                </a:pPr>
                <a:r>
                  <a:rPr lang="es-ES" b="1" dirty="0"/>
                  <a:t>Vanilla RNN – </a:t>
                </a:r>
                <a:r>
                  <a:rPr lang="es-ES" b="1" dirty="0" err="1"/>
                  <a:t>Supervised</a:t>
                </a:r>
                <a:r>
                  <a:rPr lang="es-ES" b="1" dirty="0"/>
                  <a:t> training</a:t>
                </a:r>
              </a:p>
              <a:p>
                <a:r>
                  <a:rPr lang="en-US" sz="2000" dirty="0"/>
                  <a:t>Deep network architecture designed to process sequential data, such as text or time series</a:t>
                </a:r>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endParaRPr lang="es-ES" sz="2000" dirty="0"/>
              </a:p>
              <a:p>
                <a:pPr marL="0" indent="0">
                  <a:buNone/>
                </a:pPr>
                <a:r>
                  <a:rPr lang="en-GB" sz="1400" dirty="0"/>
                  <a:t>	</a:t>
                </a:r>
                <a:r>
                  <a:rPr lang="en-GB" sz="1200" dirty="0"/>
                  <a:t>			     </a:t>
                </a:r>
                <a:r>
                  <a:rPr lang="en-US" sz="1200" dirty="0"/>
                  <a:t>continue to move with their weights and biases</a:t>
                </a:r>
                <a:endParaRPr lang="es-ES" sz="1400" dirty="0"/>
              </a:p>
              <a:p>
                <a:pPr marL="457200" lvl="1" indent="0">
                  <a:buNone/>
                </a:pPr>
                <a:r>
                  <a:rPr lang="en-GB" sz="1400" noProof="0" dirty="0"/>
                  <a:t>                                      	</a:t>
                </a:r>
              </a:p>
              <a:p>
                <a:pPr marL="0" indent="0">
                  <a:buNone/>
                </a:pPr>
                <a:endParaRPr lang="en-US" sz="1200" dirty="0"/>
              </a:p>
              <a:p>
                <a:pPr marL="0" indent="0">
                  <a:buNone/>
                </a:pPr>
                <a:endParaRPr lang="en-US" sz="1200" dirty="0"/>
              </a:p>
              <a:p>
                <a:pPr marL="0" indent="0">
                  <a:buNone/>
                </a:pPr>
                <a:r>
                  <a:rPr lang="en-US" sz="1200" dirty="0"/>
                  <a:t>When all characters are moved to inputs 5 and 6 to obtain the final value of x</a:t>
                </a:r>
                <a:r>
                  <a:rPr lang="en-US" sz="1200" baseline="-25000" dirty="0"/>
                  <a:t>7</a:t>
                </a:r>
                <a:r>
                  <a:rPr lang="en-US" sz="1200" dirty="0"/>
                  <a:t>, we have the total losses, which corresponds to a training stage.</a:t>
                </a:r>
                <a:endParaRPr lang="es-ES" sz="1200" dirty="0"/>
              </a:p>
              <a:p>
                <a:pPr marL="0" indent="0">
                  <a:buNone/>
                </a:pPr>
                <a14:m>
                  <m:oMathPara xmlns:m="http://schemas.openxmlformats.org/officeDocument/2006/math">
                    <m:oMathParaPr>
                      <m:jc m:val="centerGroup"/>
                    </m:oMathParaPr>
                    <m:oMath xmlns:m="http://schemas.openxmlformats.org/officeDocument/2006/math">
                      <m:sSub>
                        <m:sSubPr>
                          <m:ctrlPr>
                            <a:rPr lang="ar-AE" sz="2000" i="1">
                              <a:latin typeface="Cambria Math" panose="02040503050406030204" pitchFamily="18" charset="0"/>
                            </a:rPr>
                          </m:ctrlPr>
                        </m:sSubPr>
                        <m:e>
                          <m:r>
                            <a:rPr lang="ar-AE" sz="2000">
                              <a:latin typeface="Cambria Math" panose="02040503050406030204" pitchFamily="18" charset="0"/>
                            </a:rPr>
                            <m:t>ℒ</m:t>
                          </m:r>
                        </m:e>
                        <m:sub>
                          <m:r>
                            <a:rPr lang="ar-AE" sz="2000" i="1">
                              <a:latin typeface="Cambria Math" panose="02040503050406030204" pitchFamily="18" charset="0"/>
                            </a:rPr>
                            <m:t>𝑡𝑜𝑡𝑎𝑙</m:t>
                          </m:r>
                        </m:sub>
                      </m:sSub>
                      <m:r>
                        <a:rPr lang="ar-AE" sz="2000">
                          <a:latin typeface="Cambria Math" panose="02040503050406030204" pitchFamily="18" charset="0"/>
                        </a:rPr>
                        <m:t>=</m:t>
                      </m:r>
                      <m:nary>
                        <m:naryPr>
                          <m:chr m:val="∑"/>
                          <m:grow m:val="on"/>
                          <m:supHide m:val="on"/>
                          <m:ctrlPr>
                            <a:rPr lang="ar-AE" sz="2000" i="1">
                              <a:latin typeface="Cambria Math" panose="02040503050406030204" pitchFamily="18" charset="0"/>
                            </a:rPr>
                          </m:ctrlPr>
                        </m:naryPr>
                        <m:sub>
                          <m:r>
                            <a:rPr lang="ar-AE" sz="2000" i="1">
                              <a:latin typeface="Cambria Math" panose="02040503050406030204" pitchFamily="18" charset="0"/>
                            </a:rPr>
                            <m:t>𝑡</m:t>
                          </m:r>
                        </m:sub>
                        <m:sup/>
                        <m:e>
                          <m:sSub>
                            <m:sSubPr>
                              <m:ctrlPr>
                                <a:rPr lang="ar-AE" sz="2000" i="1">
                                  <a:latin typeface="Cambria Math" panose="02040503050406030204" pitchFamily="18" charset="0"/>
                                </a:rPr>
                              </m:ctrlPr>
                            </m:sSubPr>
                            <m:e>
                              <m:r>
                                <a:rPr lang="ar-AE" sz="2000">
                                  <a:latin typeface="Cambria Math" panose="02040503050406030204" pitchFamily="18" charset="0"/>
                                </a:rPr>
                                <m:t>ℒ</m:t>
                              </m:r>
                            </m:e>
                            <m:sub>
                              <m:r>
                                <a:rPr lang="ar-AE" sz="2000" i="1">
                                  <a:latin typeface="Cambria Math" panose="02040503050406030204" pitchFamily="18" charset="0"/>
                                </a:rPr>
                                <m:t>𝑡</m:t>
                              </m:r>
                            </m:sub>
                          </m:sSub>
                        </m:e>
                      </m:nary>
                    </m:oMath>
                  </m:oMathPara>
                </a14:m>
                <a:endParaRPr lang="ar-AE" sz="1400" dirty="0"/>
              </a:p>
              <a:p>
                <a:endParaRPr lang="es-ES" sz="2000" dirty="0"/>
              </a:p>
              <a:p>
                <a:pPr lvl="1"/>
                <a:endParaRPr lang="en-US" dirty="0">
                  <a:latin typeface="Cambria" panose="02040503050406030204" pitchFamily="18" charset="0"/>
                  <a:ea typeface="Cambria" panose="02040503050406030204" pitchFamily="18" charset="0"/>
                </a:endParaRPr>
              </a:p>
            </p:txBody>
          </p:sp>
        </mc:Choice>
        <mc:Fallback xmlns="">
          <p:sp>
            <p:nvSpPr>
              <p:cNvPr id="3" name="Content Placeholder 2">
                <a:extLst>
                  <a:ext uri="{FF2B5EF4-FFF2-40B4-BE49-F238E27FC236}">
                    <a16:creationId xmlns:a16="http://schemas.microsoft.com/office/drawing/2014/main" id="{686E5333-AD86-C552-685D-64965BA4B7B6}"/>
                  </a:ext>
                </a:extLst>
              </p:cNvPr>
              <p:cNvSpPr>
                <a:spLocks noGrp="1" noRot="1" noChangeAspect="1" noMove="1" noResize="1" noEditPoints="1" noAdjustHandles="1" noChangeArrowheads="1" noChangeShapeType="1" noTextEdit="1"/>
              </p:cNvSpPr>
              <p:nvPr>
                <p:ph idx="1"/>
              </p:nvPr>
            </p:nvSpPr>
            <p:spPr>
              <a:xfrm>
                <a:off x="457200" y="992818"/>
                <a:ext cx="8686800" cy="5778372"/>
              </a:xfrm>
              <a:blipFill>
                <a:blip r:embed="rId3"/>
                <a:stretch>
                  <a:fillRect l="-1053" t="-844" r="-1614"/>
                </a:stretch>
              </a:blipFill>
            </p:spPr>
            <p:txBody>
              <a:bodyPr/>
              <a:lstStyle/>
              <a:p>
                <a:r>
                  <a:rPr lang="es-ES">
                    <a:noFill/>
                  </a:rPr>
                  <a:t> </a:t>
                </a:r>
              </a:p>
            </p:txBody>
          </p:sp>
        </mc:Fallback>
      </mc:AlternateContent>
      <p:sp>
        <p:nvSpPr>
          <p:cNvPr id="2" name="Title 1">
            <a:extLst>
              <a:ext uri="{FF2B5EF4-FFF2-40B4-BE49-F238E27FC236}">
                <a16:creationId xmlns:a16="http://schemas.microsoft.com/office/drawing/2014/main" id="{750F80B4-A492-459F-5530-B5674527B674}"/>
              </a:ext>
            </a:extLst>
          </p:cNvPr>
          <p:cNvSpPr>
            <a:spLocks noGrp="1"/>
          </p:cNvSpPr>
          <p:nvPr>
            <p:ph type="title"/>
          </p:nvPr>
        </p:nvSpPr>
        <p:spPr/>
        <p:txBody>
          <a:bodyPr>
            <a:normAutofit/>
          </a:bodyPr>
          <a:lstStyle/>
          <a:p>
            <a:r>
              <a:rPr lang="es-ES" dirty="0"/>
              <a:t>RNN </a:t>
            </a:r>
            <a:r>
              <a:rPr dirty="0"/>
              <a:t>ejemplo</a:t>
            </a:r>
          </a:p>
        </p:txBody>
      </p:sp>
      <p:sp>
        <p:nvSpPr>
          <p:cNvPr id="9" name="Content Placeholder 2">
            <a:extLst>
              <a:ext uri="{FF2B5EF4-FFF2-40B4-BE49-F238E27FC236}">
                <a16:creationId xmlns:a16="http://schemas.microsoft.com/office/drawing/2014/main" id="{92B9F56C-31C6-5E7D-BFFD-987431F9411B}"/>
              </a:ext>
            </a:extLst>
          </p:cNvPr>
          <p:cNvSpPr txBox="1">
            <a:spLocks/>
          </p:cNvSpPr>
          <p:nvPr/>
        </p:nvSpPr>
        <p:spPr>
          <a:xfrm>
            <a:off x="609600" y="1752600"/>
            <a:ext cx="8229600" cy="5257800"/>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457200" lvl="1" indent="0">
              <a:buFont typeface="Arial"/>
              <a:buNone/>
            </a:pPr>
            <a:endParaRPr lang="es-ES" sz="2400" dirty="0">
              <a:latin typeface="Cambria" panose="02040503050406030204" pitchFamily="18" charset="0"/>
              <a:ea typeface="Cambria" panose="02040503050406030204" pitchFamily="18" charset="0"/>
            </a:endParaRPr>
          </a:p>
        </p:txBody>
      </p:sp>
      <p:sp>
        <p:nvSpPr>
          <p:cNvPr id="8" name="Elipse 7">
            <a:extLst>
              <a:ext uri="{FF2B5EF4-FFF2-40B4-BE49-F238E27FC236}">
                <a16:creationId xmlns:a16="http://schemas.microsoft.com/office/drawing/2014/main" id="{CF958D47-B8C5-8DBB-F88E-6CB251E74AED}"/>
              </a:ext>
            </a:extLst>
          </p:cNvPr>
          <p:cNvSpPr/>
          <p:nvPr/>
        </p:nvSpPr>
        <p:spPr bwMode="auto">
          <a:xfrm>
            <a:off x="3792791" y="2878583"/>
            <a:ext cx="536322" cy="516188"/>
          </a:xfrm>
          <a:prstGeom prst="ellipse">
            <a:avLst/>
          </a:prstGeom>
          <a:noFill/>
          <a:ln w="38100"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es-ES" sz="2000" dirty="0">
                <a:solidFill>
                  <a:srgbClr val="002060"/>
                </a:solidFill>
              </a:rPr>
              <a:t>x</a:t>
            </a:r>
            <a:endParaRPr kumimoji="0" lang="es-ES" sz="1800" b="1" i="0" u="none" strike="noStrike" cap="none" normalizeH="0" baseline="-25000" dirty="0">
              <a:ln>
                <a:noFill/>
              </a:ln>
              <a:solidFill>
                <a:srgbClr val="002060"/>
              </a:solidFill>
              <a:effectLst/>
              <a:latin typeface="Times New Roman" pitchFamily="18" charset="0"/>
            </a:endParaRPr>
          </a:p>
        </p:txBody>
      </p:sp>
      <p:sp>
        <p:nvSpPr>
          <p:cNvPr id="11" name="Elipse 10">
            <a:extLst>
              <a:ext uri="{FF2B5EF4-FFF2-40B4-BE49-F238E27FC236}">
                <a16:creationId xmlns:a16="http://schemas.microsoft.com/office/drawing/2014/main" id="{9F9AF567-4BA7-6EC5-082C-210F189AF100}"/>
              </a:ext>
            </a:extLst>
          </p:cNvPr>
          <p:cNvSpPr/>
          <p:nvPr/>
        </p:nvSpPr>
        <p:spPr bwMode="auto">
          <a:xfrm>
            <a:off x="5571635" y="1793601"/>
            <a:ext cx="536322" cy="516188"/>
          </a:xfrm>
          <a:prstGeom prst="ellipse">
            <a:avLst/>
          </a:prstGeom>
          <a:noFill/>
          <a:ln w="38100"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es-ES" sz="1600" dirty="0">
                <a:solidFill>
                  <a:srgbClr val="002060"/>
                </a:solidFill>
              </a:rPr>
              <a:t>h</a:t>
            </a:r>
            <a:r>
              <a:rPr lang="es-ES" sz="1600" baseline="-25000" dirty="0">
                <a:solidFill>
                  <a:srgbClr val="002060"/>
                </a:solidFill>
              </a:rPr>
              <a:t>1</a:t>
            </a:r>
            <a:endParaRPr kumimoji="0" lang="es-ES" sz="1600" b="1" i="0" u="none" strike="noStrike" cap="none" normalizeH="0" baseline="-25000" dirty="0">
              <a:ln>
                <a:noFill/>
              </a:ln>
              <a:solidFill>
                <a:srgbClr val="002060"/>
              </a:solidFill>
              <a:effectLst/>
              <a:latin typeface="Times New Roman" pitchFamily="18" charset="0"/>
            </a:endParaRPr>
          </a:p>
        </p:txBody>
      </p:sp>
      <p:sp>
        <p:nvSpPr>
          <p:cNvPr id="12" name="Elipse 11">
            <a:extLst>
              <a:ext uri="{FF2B5EF4-FFF2-40B4-BE49-F238E27FC236}">
                <a16:creationId xmlns:a16="http://schemas.microsoft.com/office/drawing/2014/main" id="{89C8C186-517B-D8D5-4562-3212F70865B3}"/>
              </a:ext>
            </a:extLst>
          </p:cNvPr>
          <p:cNvSpPr/>
          <p:nvPr/>
        </p:nvSpPr>
        <p:spPr bwMode="auto">
          <a:xfrm>
            <a:off x="5562753" y="2878583"/>
            <a:ext cx="536322" cy="516188"/>
          </a:xfrm>
          <a:prstGeom prst="ellipse">
            <a:avLst/>
          </a:prstGeom>
          <a:noFill/>
          <a:ln w="38100"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es-ES" sz="1600" dirty="0">
                <a:solidFill>
                  <a:srgbClr val="002060"/>
                </a:solidFill>
              </a:rPr>
              <a:t>h</a:t>
            </a:r>
            <a:r>
              <a:rPr lang="es-ES" sz="1600" baseline="-25000" dirty="0">
                <a:solidFill>
                  <a:srgbClr val="002060"/>
                </a:solidFill>
              </a:rPr>
              <a:t>2</a:t>
            </a:r>
            <a:endParaRPr kumimoji="0" lang="es-ES" sz="1600" b="1" i="0" u="none" strike="noStrike" cap="none" normalizeH="0" baseline="-25000" dirty="0">
              <a:ln>
                <a:noFill/>
              </a:ln>
              <a:solidFill>
                <a:srgbClr val="002060"/>
              </a:solidFill>
              <a:effectLst/>
              <a:latin typeface="Times New Roman" pitchFamily="18" charset="0"/>
            </a:endParaRPr>
          </a:p>
        </p:txBody>
      </p:sp>
      <p:sp>
        <p:nvSpPr>
          <p:cNvPr id="15" name="Elipse 14">
            <a:extLst>
              <a:ext uri="{FF2B5EF4-FFF2-40B4-BE49-F238E27FC236}">
                <a16:creationId xmlns:a16="http://schemas.microsoft.com/office/drawing/2014/main" id="{239B8B2C-8ACB-8FE9-5514-9BBAC47D9F8D}"/>
              </a:ext>
            </a:extLst>
          </p:cNvPr>
          <p:cNvSpPr/>
          <p:nvPr/>
        </p:nvSpPr>
        <p:spPr bwMode="auto">
          <a:xfrm>
            <a:off x="7332714" y="2878583"/>
            <a:ext cx="536322" cy="516188"/>
          </a:xfrm>
          <a:prstGeom prst="ellipse">
            <a:avLst/>
          </a:prstGeom>
          <a:noFill/>
          <a:ln w="38100"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es-ES" sz="2000" dirty="0">
                <a:solidFill>
                  <a:srgbClr val="002060"/>
                </a:solidFill>
              </a:rPr>
              <a:t>y</a:t>
            </a:r>
            <a:endParaRPr kumimoji="0" lang="es-ES" sz="1800" b="1" i="0" u="none" strike="noStrike" cap="none" normalizeH="0" baseline="-25000" dirty="0">
              <a:ln>
                <a:noFill/>
              </a:ln>
              <a:solidFill>
                <a:srgbClr val="002060"/>
              </a:solidFill>
              <a:effectLst/>
              <a:latin typeface="Times New Roman" pitchFamily="18" charset="0"/>
            </a:endParaRPr>
          </a:p>
        </p:txBody>
      </p:sp>
      <p:cxnSp>
        <p:nvCxnSpPr>
          <p:cNvPr id="22" name="Conector recto de flecha 21">
            <a:extLst>
              <a:ext uri="{FF2B5EF4-FFF2-40B4-BE49-F238E27FC236}">
                <a16:creationId xmlns:a16="http://schemas.microsoft.com/office/drawing/2014/main" id="{F0E44D5E-5EA4-B479-DF0A-DD2B2C23D0D2}"/>
              </a:ext>
            </a:extLst>
          </p:cNvPr>
          <p:cNvCxnSpPr>
            <a:stCxn id="11" idx="2"/>
          </p:cNvCxnSpPr>
          <p:nvPr/>
        </p:nvCxnSpPr>
        <p:spPr bwMode="auto">
          <a:xfrm>
            <a:off x="5495882" y="2037334"/>
            <a:ext cx="799424" cy="825668"/>
          </a:xfrm>
          <a:prstGeom prst="straightConnector1">
            <a:avLst/>
          </a:prstGeom>
          <a:solidFill>
            <a:schemeClr val="accent1"/>
          </a:solidFill>
          <a:ln>
            <a:noFill/>
            <a:tailEnd type="triangle"/>
          </a:ln>
          <a:effectLst/>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4" name="Conector recto de flecha 23">
            <a:extLst>
              <a:ext uri="{FF2B5EF4-FFF2-40B4-BE49-F238E27FC236}">
                <a16:creationId xmlns:a16="http://schemas.microsoft.com/office/drawing/2014/main" id="{5A2394A4-4A5A-B45C-E186-07F723144303}"/>
              </a:ext>
            </a:extLst>
          </p:cNvPr>
          <p:cNvCxnSpPr>
            <a:cxnSpLocks/>
          </p:cNvCxnSpPr>
          <p:nvPr/>
        </p:nvCxnSpPr>
        <p:spPr bwMode="auto">
          <a:xfrm>
            <a:off x="4337996" y="2051696"/>
            <a:ext cx="0" cy="0"/>
          </a:xfrm>
          <a:prstGeom prst="straightConnector1">
            <a:avLst/>
          </a:prstGeom>
          <a:solidFill>
            <a:schemeClr val="accent1"/>
          </a:solidFill>
          <a:ln>
            <a:noFill/>
            <a:tailEnd type="triangle"/>
          </a:ln>
          <a:effectLst/>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3" name="Conector recto de flecha 32">
            <a:extLst>
              <a:ext uri="{FF2B5EF4-FFF2-40B4-BE49-F238E27FC236}">
                <a16:creationId xmlns:a16="http://schemas.microsoft.com/office/drawing/2014/main" id="{4B6E2E0F-BAA9-1BFF-5CBE-36EB8ADF5FFB}"/>
              </a:ext>
            </a:extLst>
          </p:cNvPr>
          <p:cNvCxnSpPr/>
          <p:nvPr/>
        </p:nvCxnSpPr>
        <p:spPr bwMode="auto">
          <a:xfrm>
            <a:off x="4329113" y="3136677"/>
            <a:ext cx="1233639" cy="0"/>
          </a:xfrm>
          <a:prstGeom prst="straightConnector1">
            <a:avLst/>
          </a:prstGeom>
          <a:ln w="38100" cap="flat" cmpd="sng" algn="ctr">
            <a:solidFill>
              <a:srgbClr val="7030A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6" name="Conector recto de flecha 35">
            <a:extLst>
              <a:ext uri="{FF2B5EF4-FFF2-40B4-BE49-F238E27FC236}">
                <a16:creationId xmlns:a16="http://schemas.microsoft.com/office/drawing/2014/main" id="{C8A1FC3F-8C2E-686B-843C-5B95E6E7AB8B}"/>
              </a:ext>
            </a:extLst>
          </p:cNvPr>
          <p:cNvCxnSpPr/>
          <p:nvPr/>
        </p:nvCxnSpPr>
        <p:spPr bwMode="auto">
          <a:xfrm>
            <a:off x="6099075" y="3136677"/>
            <a:ext cx="1233639" cy="0"/>
          </a:xfrm>
          <a:prstGeom prst="straightConnector1">
            <a:avLst/>
          </a:prstGeom>
          <a:ln w="38100" cap="flat" cmpd="sng" algn="ctr">
            <a:solidFill>
              <a:srgbClr val="7030A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7" name="Conector recto de flecha 36">
            <a:extLst>
              <a:ext uri="{FF2B5EF4-FFF2-40B4-BE49-F238E27FC236}">
                <a16:creationId xmlns:a16="http://schemas.microsoft.com/office/drawing/2014/main" id="{3D250EA3-626B-879C-6DE1-631A59ADB635}"/>
              </a:ext>
            </a:extLst>
          </p:cNvPr>
          <p:cNvCxnSpPr>
            <a:cxnSpLocks/>
            <a:stCxn id="11" idx="4"/>
            <a:endCxn id="12" idx="0"/>
          </p:cNvCxnSpPr>
          <p:nvPr/>
        </p:nvCxnSpPr>
        <p:spPr bwMode="auto">
          <a:xfrm flipH="1">
            <a:off x="5830914" y="2309789"/>
            <a:ext cx="8882" cy="568794"/>
          </a:xfrm>
          <a:prstGeom prst="straightConnector1">
            <a:avLst/>
          </a:prstGeom>
          <a:ln w="38100" cap="flat" cmpd="sng" algn="ctr">
            <a:solidFill>
              <a:srgbClr val="7030A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0" name="Conector recto de flecha 39">
            <a:extLst>
              <a:ext uri="{FF2B5EF4-FFF2-40B4-BE49-F238E27FC236}">
                <a16:creationId xmlns:a16="http://schemas.microsoft.com/office/drawing/2014/main" id="{160A4BE4-84FD-2948-604B-2AD3C442987B}"/>
              </a:ext>
            </a:extLst>
          </p:cNvPr>
          <p:cNvCxnSpPr>
            <a:cxnSpLocks/>
          </p:cNvCxnSpPr>
          <p:nvPr/>
        </p:nvCxnSpPr>
        <p:spPr bwMode="auto">
          <a:xfrm>
            <a:off x="5825038" y="3394771"/>
            <a:ext cx="0" cy="568794"/>
          </a:xfrm>
          <a:prstGeom prst="straightConnector1">
            <a:avLst/>
          </a:prstGeom>
          <a:ln w="38100" cap="flat" cmpd="sng" algn="ctr">
            <a:solidFill>
              <a:srgbClr val="7030A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82193FD9-7F85-35D2-973A-73F80C402DFB}"/>
                  </a:ext>
                </a:extLst>
              </p:cNvPr>
              <p:cNvSpPr txBox="1"/>
              <p:nvPr/>
            </p:nvSpPr>
            <p:spPr>
              <a:xfrm>
                <a:off x="5839796" y="2390608"/>
                <a:ext cx="549028" cy="37795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ar-AE" sz="1800" i="1" kern="1200">
                              <a:solidFill>
                                <a:schemeClr val="tx1"/>
                              </a:solidFill>
                              <a:latin typeface="Cambria Math" panose="02040503050406030204" pitchFamily="18" charset="0"/>
                              <a:ea typeface="+mn-ea"/>
                              <a:cs typeface="+mn-cs"/>
                            </a:rPr>
                          </m:ctrlPr>
                        </m:sSubPr>
                        <m:e>
                          <m:r>
                            <a:rPr lang="ar-AE" sz="1800" i="1" kern="1200">
                              <a:solidFill>
                                <a:schemeClr val="tx1"/>
                              </a:solidFill>
                              <a:latin typeface="Cambria Math" panose="02040503050406030204" pitchFamily="18" charset="0"/>
                              <a:ea typeface="+mn-ea"/>
                              <a:cs typeface="+mn-cs"/>
                            </a:rPr>
                            <m:t>𝑊</m:t>
                          </m:r>
                        </m:e>
                        <m:sub>
                          <m:r>
                            <a:rPr lang="ar-AE" sz="1800" i="1" kern="1200">
                              <a:solidFill>
                                <a:schemeClr val="tx1"/>
                              </a:solidFill>
                              <a:latin typeface="Cambria Math" panose="02040503050406030204" pitchFamily="18" charset="0"/>
                              <a:ea typeface="+mn-ea"/>
                              <a:cs typeface="+mn-cs"/>
                            </a:rPr>
                            <m:t>hh</m:t>
                          </m:r>
                        </m:sub>
                      </m:sSub>
                    </m:oMath>
                  </m:oMathPara>
                </a14:m>
                <a:endParaRPr lang="es-ES" dirty="0"/>
              </a:p>
            </p:txBody>
          </p:sp>
        </mc:Choice>
        <mc:Fallback xmlns="">
          <p:sp>
            <p:nvSpPr>
              <p:cNvPr id="18" name="CuadroTexto 17">
                <a:extLst>
                  <a:ext uri="{FF2B5EF4-FFF2-40B4-BE49-F238E27FC236}">
                    <a16:creationId xmlns:a16="http://schemas.microsoft.com/office/drawing/2014/main" id="{82193FD9-7F85-35D2-973A-73F80C402DFB}"/>
                  </a:ext>
                </a:extLst>
              </p:cNvPr>
              <p:cNvSpPr txBox="1">
                <a:spLocks noRot="1" noChangeAspect="1" noMove="1" noResize="1" noEditPoints="1" noAdjustHandles="1" noChangeArrowheads="1" noChangeShapeType="1" noTextEdit="1"/>
              </p:cNvSpPr>
              <p:nvPr/>
            </p:nvSpPr>
            <p:spPr>
              <a:xfrm>
                <a:off x="5839796" y="2390608"/>
                <a:ext cx="549028" cy="377958"/>
              </a:xfrm>
              <a:prstGeom prst="rect">
                <a:avLst/>
              </a:prstGeom>
              <a:blipFill>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921C92DB-3DC7-5F47-938D-017232438172}"/>
                  </a:ext>
                </a:extLst>
              </p:cNvPr>
              <p:cNvSpPr txBox="1"/>
              <p:nvPr/>
            </p:nvSpPr>
            <p:spPr>
              <a:xfrm>
                <a:off x="4150994" y="2806128"/>
                <a:ext cx="1598848" cy="37795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ar-AE" sz="1800" i="1" kern="1200" smtClean="0">
                              <a:solidFill>
                                <a:schemeClr val="tx1"/>
                              </a:solidFill>
                              <a:latin typeface="Cambria Math" panose="02040503050406030204" pitchFamily="18" charset="0"/>
                              <a:ea typeface="+mn-ea"/>
                              <a:cs typeface="+mn-cs"/>
                            </a:rPr>
                          </m:ctrlPr>
                        </m:sSubPr>
                        <m:e>
                          <m:r>
                            <a:rPr lang="ar-AE" sz="1800" i="1" kern="1200">
                              <a:solidFill>
                                <a:schemeClr val="tx1"/>
                              </a:solidFill>
                              <a:latin typeface="Cambria Math" panose="02040503050406030204" pitchFamily="18" charset="0"/>
                              <a:ea typeface="+mn-ea"/>
                              <a:cs typeface="+mn-cs"/>
                            </a:rPr>
                            <m:t>𝑊</m:t>
                          </m:r>
                        </m:e>
                        <m:sub>
                          <m:r>
                            <a:rPr lang="ar-AE" sz="1800" i="1" kern="1200">
                              <a:solidFill>
                                <a:schemeClr val="tx1"/>
                              </a:solidFill>
                              <a:latin typeface="Cambria Math" panose="02040503050406030204" pitchFamily="18" charset="0"/>
                              <a:ea typeface="+mn-ea"/>
                              <a:cs typeface="+mn-cs"/>
                            </a:rPr>
                            <m:t>𝑥</m:t>
                          </m:r>
                          <m:r>
                            <a:rPr lang="ar-AE" sz="1800" i="1" kern="1200">
                              <a:solidFill>
                                <a:schemeClr val="tx1"/>
                              </a:solidFill>
                              <a:latin typeface="Cambria Math" panose="02040503050406030204" pitchFamily="18" charset="0"/>
                              <a:ea typeface="+mn-ea"/>
                              <a:cs typeface="+mn-cs"/>
                            </a:rPr>
                            <m:t>h</m:t>
                          </m:r>
                        </m:sub>
                      </m:sSub>
                    </m:oMath>
                  </m:oMathPara>
                </a14:m>
                <a:endParaRPr lang="es-ES" dirty="0"/>
              </a:p>
            </p:txBody>
          </p:sp>
        </mc:Choice>
        <mc:Fallback xmlns="">
          <p:sp>
            <p:nvSpPr>
              <p:cNvPr id="21" name="CuadroTexto 20">
                <a:extLst>
                  <a:ext uri="{FF2B5EF4-FFF2-40B4-BE49-F238E27FC236}">
                    <a16:creationId xmlns:a16="http://schemas.microsoft.com/office/drawing/2014/main" id="{921C92DB-3DC7-5F47-938D-017232438172}"/>
                  </a:ext>
                </a:extLst>
              </p:cNvPr>
              <p:cNvSpPr txBox="1">
                <a:spLocks noRot="1" noChangeAspect="1" noMove="1" noResize="1" noEditPoints="1" noAdjustHandles="1" noChangeArrowheads="1" noChangeShapeType="1" noTextEdit="1"/>
              </p:cNvSpPr>
              <p:nvPr/>
            </p:nvSpPr>
            <p:spPr>
              <a:xfrm>
                <a:off x="4150994" y="2806128"/>
                <a:ext cx="1598848" cy="377958"/>
              </a:xfrm>
              <a:prstGeom prst="rect">
                <a:avLst/>
              </a:prstGeom>
              <a:blipFill>
                <a:blip r:embed="rId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6D9F13DD-652C-9157-E9FE-A8DC5C260E77}"/>
                  </a:ext>
                </a:extLst>
              </p:cNvPr>
              <p:cNvSpPr txBox="1"/>
              <p:nvPr/>
            </p:nvSpPr>
            <p:spPr>
              <a:xfrm>
                <a:off x="6467833" y="2793704"/>
                <a:ext cx="606669" cy="39579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ar-AE" sz="1800" i="1" kern="1200">
                              <a:solidFill>
                                <a:schemeClr val="tx1"/>
                              </a:solidFill>
                              <a:latin typeface="Cambria Math" panose="02040503050406030204" pitchFamily="18" charset="0"/>
                              <a:ea typeface="+mn-ea"/>
                              <a:cs typeface="+mn-cs"/>
                            </a:rPr>
                          </m:ctrlPr>
                        </m:sSubPr>
                        <m:e>
                          <m:r>
                            <a:rPr lang="ar-AE" sz="1800" i="1" kern="1200">
                              <a:solidFill>
                                <a:schemeClr val="tx1"/>
                              </a:solidFill>
                              <a:latin typeface="Cambria Math" panose="02040503050406030204" pitchFamily="18" charset="0"/>
                              <a:ea typeface="+mn-ea"/>
                              <a:cs typeface="+mn-cs"/>
                            </a:rPr>
                            <m:t>𝑊</m:t>
                          </m:r>
                        </m:e>
                        <m:sub>
                          <m:r>
                            <a:rPr lang="ar-AE" sz="1800" i="1" kern="1200">
                              <a:solidFill>
                                <a:schemeClr val="tx1"/>
                              </a:solidFill>
                              <a:latin typeface="Cambria Math" panose="02040503050406030204" pitchFamily="18" charset="0"/>
                              <a:ea typeface="+mn-ea"/>
                              <a:cs typeface="+mn-cs"/>
                            </a:rPr>
                            <m:t>h</m:t>
                          </m:r>
                          <m:r>
                            <a:rPr lang="ar-AE" sz="1800" i="1" kern="1200">
                              <a:solidFill>
                                <a:schemeClr val="tx1"/>
                              </a:solidFill>
                              <a:latin typeface="Cambria Math" panose="02040503050406030204" pitchFamily="18" charset="0"/>
                              <a:ea typeface="+mn-ea"/>
                              <a:cs typeface="+mn-cs"/>
                            </a:rPr>
                            <m:t>𝑦</m:t>
                          </m:r>
                        </m:sub>
                      </m:sSub>
                    </m:oMath>
                  </m:oMathPara>
                </a14:m>
                <a:endParaRPr lang="es-ES" dirty="0"/>
              </a:p>
            </p:txBody>
          </p:sp>
        </mc:Choice>
        <mc:Fallback xmlns="">
          <p:sp>
            <p:nvSpPr>
              <p:cNvPr id="25" name="CuadroTexto 24">
                <a:extLst>
                  <a:ext uri="{FF2B5EF4-FFF2-40B4-BE49-F238E27FC236}">
                    <a16:creationId xmlns:a16="http://schemas.microsoft.com/office/drawing/2014/main" id="{6D9F13DD-652C-9157-E9FE-A8DC5C260E77}"/>
                  </a:ext>
                </a:extLst>
              </p:cNvPr>
              <p:cNvSpPr txBox="1">
                <a:spLocks noRot="1" noChangeAspect="1" noMove="1" noResize="1" noEditPoints="1" noAdjustHandles="1" noChangeArrowheads="1" noChangeShapeType="1" noTextEdit="1"/>
              </p:cNvSpPr>
              <p:nvPr/>
            </p:nvSpPr>
            <p:spPr>
              <a:xfrm>
                <a:off x="6467833" y="2793704"/>
                <a:ext cx="606669" cy="395791"/>
              </a:xfrm>
              <a:prstGeom prst="rect">
                <a:avLst/>
              </a:prstGeom>
              <a:blipFill>
                <a:blip r:embed="rId6"/>
                <a:stretch>
                  <a:fillRect/>
                </a:stretch>
              </a:blipFill>
            </p:spPr>
            <p:txBody>
              <a:bodyPr/>
              <a:lstStyle/>
              <a:p>
                <a:r>
                  <a:rPr lang="es-ES">
                    <a:noFill/>
                  </a:rPr>
                  <a:t> </a:t>
                </a:r>
              </a:p>
            </p:txBody>
          </p:sp>
        </mc:Fallback>
      </mc:AlternateContent>
      <p:cxnSp>
        <p:nvCxnSpPr>
          <p:cNvPr id="4" name="Conector: curvado 3">
            <a:extLst>
              <a:ext uri="{FF2B5EF4-FFF2-40B4-BE49-F238E27FC236}">
                <a16:creationId xmlns:a16="http://schemas.microsoft.com/office/drawing/2014/main" id="{102F10DD-CD9B-60BB-8019-DC0FE7E9F413}"/>
              </a:ext>
            </a:extLst>
          </p:cNvPr>
          <p:cNvCxnSpPr/>
          <p:nvPr/>
        </p:nvCxnSpPr>
        <p:spPr bwMode="auto">
          <a:xfrm rot="16200000" flipH="1">
            <a:off x="6008859" y="3338753"/>
            <a:ext cx="261484" cy="185421"/>
          </a:xfrm>
          <a:prstGeom prst="curvedConnector3">
            <a:avLst/>
          </a:prstGeom>
          <a:solidFill>
            <a:schemeClr val="accent1"/>
          </a:solidFill>
          <a:ln w="19050" cap="flat" cmpd="sng" algn="ctr">
            <a:solidFill>
              <a:srgbClr val="7030A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 name="Conector: curvado 4">
            <a:extLst>
              <a:ext uri="{FF2B5EF4-FFF2-40B4-BE49-F238E27FC236}">
                <a16:creationId xmlns:a16="http://schemas.microsoft.com/office/drawing/2014/main" id="{57ACD5BA-A695-2AF3-A7CE-8A77D795162D}"/>
              </a:ext>
            </a:extLst>
          </p:cNvPr>
          <p:cNvCxnSpPr/>
          <p:nvPr/>
        </p:nvCxnSpPr>
        <p:spPr bwMode="auto">
          <a:xfrm rot="5400000">
            <a:off x="7698204" y="2621434"/>
            <a:ext cx="261485" cy="252814"/>
          </a:xfrm>
          <a:prstGeom prst="curvedConnector3">
            <a:avLst/>
          </a:prstGeom>
          <a:solidFill>
            <a:schemeClr val="accent1"/>
          </a:solidFill>
          <a:ln w="19050" cap="flat" cmpd="sng" algn="ctr">
            <a:solidFill>
              <a:srgbClr val="7030A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C7A4E6EB-8F12-BB00-9914-4592681E6453}"/>
                  </a:ext>
                </a:extLst>
              </p:cNvPr>
              <p:cNvSpPr txBox="1"/>
              <p:nvPr/>
            </p:nvSpPr>
            <p:spPr>
              <a:xfrm>
                <a:off x="7758122" y="2337661"/>
                <a:ext cx="606669" cy="39579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ar-AE" sz="1800" i="1" kern="1200" smtClean="0">
                              <a:solidFill>
                                <a:schemeClr val="tx1"/>
                              </a:solidFill>
                              <a:latin typeface="Cambria Math" panose="02040503050406030204" pitchFamily="18" charset="0"/>
                              <a:ea typeface="+mn-ea"/>
                              <a:cs typeface="+mn-cs"/>
                            </a:rPr>
                          </m:ctrlPr>
                        </m:sSubPr>
                        <m:e>
                          <m:r>
                            <a:rPr lang="es-ES" sz="1800" b="1" i="1" kern="1200" smtClean="0">
                              <a:solidFill>
                                <a:schemeClr val="tx1"/>
                              </a:solidFill>
                              <a:latin typeface="Cambria Math" panose="02040503050406030204" pitchFamily="18" charset="0"/>
                              <a:ea typeface="+mn-ea"/>
                              <a:cs typeface="+mn-cs"/>
                            </a:rPr>
                            <m:t>𝒃</m:t>
                          </m:r>
                        </m:e>
                        <m:sub>
                          <m:r>
                            <a:rPr lang="ar-AE" sz="1800" i="1" kern="1200">
                              <a:solidFill>
                                <a:schemeClr val="tx1"/>
                              </a:solidFill>
                              <a:latin typeface="Cambria Math" panose="02040503050406030204" pitchFamily="18" charset="0"/>
                              <a:ea typeface="+mn-ea"/>
                              <a:cs typeface="+mn-cs"/>
                            </a:rPr>
                            <m:t>𝑦</m:t>
                          </m:r>
                        </m:sub>
                      </m:sSub>
                    </m:oMath>
                  </m:oMathPara>
                </a14:m>
                <a:endParaRPr lang="es-ES" dirty="0"/>
              </a:p>
            </p:txBody>
          </p:sp>
        </mc:Choice>
        <mc:Fallback xmlns="">
          <p:sp>
            <p:nvSpPr>
              <p:cNvPr id="6" name="CuadroTexto 5">
                <a:extLst>
                  <a:ext uri="{FF2B5EF4-FFF2-40B4-BE49-F238E27FC236}">
                    <a16:creationId xmlns:a16="http://schemas.microsoft.com/office/drawing/2014/main" id="{C7A4E6EB-8F12-BB00-9914-4592681E6453}"/>
                  </a:ext>
                </a:extLst>
              </p:cNvPr>
              <p:cNvSpPr txBox="1">
                <a:spLocks noRot="1" noChangeAspect="1" noMove="1" noResize="1" noEditPoints="1" noAdjustHandles="1" noChangeArrowheads="1" noChangeShapeType="1" noTextEdit="1"/>
              </p:cNvSpPr>
              <p:nvPr/>
            </p:nvSpPr>
            <p:spPr>
              <a:xfrm>
                <a:off x="7758122" y="2337661"/>
                <a:ext cx="606669" cy="395791"/>
              </a:xfrm>
              <a:prstGeom prst="rect">
                <a:avLst/>
              </a:prstGeom>
              <a:blipFill>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607358DC-9A84-2364-3522-C9651802673C}"/>
                  </a:ext>
                </a:extLst>
              </p:cNvPr>
              <p:cNvSpPr txBox="1"/>
              <p:nvPr/>
            </p:nvSpPr>
            <p:spPr>
              <a:xfrm>
                <a:off x="5928978" y="3479651"/>
                <a:ext cx="606669" cy="37795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ar-AE" sz="1800" i="1" kern="1200" smtClean="0">
                              <a:solidFill>
                                <a:schemeClr val="tx1"/>
                              </a:solidFill>
                              <a:latin typeface="Cambria Math" panose="02040503050406030204" pitchFamily="18" charset="0"/>
                              <a:ea typeface="+mn-ea"/>
                              <a:cs typeface="+mn-cs"/>
                            </a:rPr>
                          </m:ctrlPr>
                        </m:sSubPr>
                        <m:e>
                          <m:r>
                            <a:rPr lang="es-ES" sz="1800" b="1" i="1" kern="1200" smtClean="0">
                              <a:solidFill>
                                <a:schemeClr val="tx1"/>
                              </a:solidFill>
                              <a:latin typeface="Cambria Math" panose="02040503050406030204" pitchFamily="18" charset="0"/>
                              <a:ea typeface="+mn-ea"/>
                              <a:cs typeface="+mn-cs"/>
                            </a:rPr>
                            <m:t>𝒃</m:t>
                          </m:r>
                        </m:e>
                        <m:sub>
                          <m:r>
                            <a:rPr lang="es-ES" sz="1800" b="1" i="1" kern="1200" smtClean="0">
                              <a:solidFill>
                                <a:schemeClr val="tx1"/>
                              </a:solidFill>
                              <a:latin typeface="Cambria Math" panose="02040503050406030204" pitchFamily="18" charset="0"/>
                              <a:ea typeface="+mn-ea"/>
                              <a:cs typeface="+mn-cs"/>
                            </a:rPr>
                            <m:t>𝒉</m:t>
                          </m:r>
                        </m:sub>
                      </m:sSub>
                    </m:oMath>
                  </m:oMathPara>
                </a14:m>
                <a:endParaRPr lang="es-ES" dirty="0"/>
              </a:p>
            </p:txBody>
          </p:sp>
        </mc:Choice>
        <mc:Fallback xmlns="">
          <p:sp>
            <p:nvSpPr>
              <p:cNvPr id="7" name="CuadroTexto 6">
                <a:extLst>
                  <a:ext uri="{FF2B5EF4-FFF2-40B4-BE49-F238E27FC236}">
                    <a16:creationId xmlns:a16="http://schemas.microsoft.com/office/drawing/2014/main" id="{607358DC-9A84-2364-3522-C9651802673C}"/>
                  </a:ext>
                </a:extLst>
              </p:cNvPr>
              <p:cNvSpPr txBox="1">
                <a:spLocks noRot="1" noChangeAspect="1" noMove="1" noResize="1" noEditPoints="1" noAdjustHandles="1" noChangeArrowheads="1" noChangeShapeType="1" noTextEdit="1"/>
              </p:cNvSpPr>
              <p:nvPr/>
            </p:nvSpPr>
            <p:spPr>
              <a:xfrm>
                <a:off x="5928978" y="3479651"/>
                <a:ext cx="606669" cy="377958"/>
              </a:xfrm>
              <a:prstGeom prst="rect">
                <a:avLst/>
              </a:prstGeom>
              <a:blipFill>
                <a:blip r:embed="rId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16959CFF-27CF-408B-9FCA-953DAF9C219E}"/>
                  </a:ext>
                </a:extLst>
              </p:cNvPr>
              <p:cNvSpPr txBox="1"/>
              <p:nvPr/>
            </p:nvSpPr>
            <p:spPr>
              <a:xfrm>
                <a:off x="520517" y="4011502"/>
                <a:ext cx="4572000" cy="341632"/>
              </a:xfrm>
              <a:prstGeom prst="rect">
                <a:avLst/>
              </a:prstGeom>
              <a:noFill/>
            </p:spPr>
            <p:txBody>
              <a:bodyPr wrap="square">
                <a:spAutoFit/>
              </a:bodyPr>
              <a:lstStyle/>
              <a:p>
                <a14:m>
                  <m:oMath xmlns:m="http://schemas.openxmlformats.org/officeDocument/2006/math">
                    <m:sSub>
                      <m:sSubPr>
                        <m:ctrlPr>
                          <a:rPr lang="ar-AE" sz="1800" i="1" kern="1200" smtClean="0">
                            <a:solidFill>
                              <a:schemeClr val="tx1"/>
                            </a:solidFill>
                            <a:latin typeface="Cambria Math" panose="02040503050406030204" pitchFamily="18" charset="0"/>
                          </a:rPr>
                        </m:ctrlPr>
                      </m:sSubPr>
                      <m:e>
                        <m:r>
                          <a:rPr lang="ar-AE" sz="1800" i="1" kern="1200">
                            <a:solidFill>
                              <a:schemeClr val="tx1"/>
                            </a:solidFill>
                            <a:latin typeface="Cambria Math" panose="02040503050406030204" pitchFamily="18" charset="0"/>
                          </a:rPr>
                          <m:t>𝑥</m:t>
                        </m:r>
                      </m:e>
                      <m:sub>
                        <m:r>
                          <a:rPr lang="ar-AE" sz="1800" kern="1200">
                            <a:solidFill>
                              <a:schemeClr val="tx1"/>
                            </a:solidFill>
                            <a:latin typeface="Cambria Math" panose="02040503050406030204" pitchFamily="18" charset="0"/>
                          </a:rPr>
                          <m:t>1</m:t>
                        </m:r>
                      </m:sub>
                    </m:sSub>
                    <m:r>
                      <a:rPr lang="es-ES" sz="1800" b="1" i="1" kern="1200" smtClean="0">
                        <a:solidFill>
                          <a:schemeClr val="tx1"/>
                        </a:solidFill>
                        <a:latin typeface="Cambria Math" panose="02040503050406030204" pitchFamily="18" charset="0"/>
                      </a:rPr>
                      <m:t>     </m:t>
                    </m:r>
                    <m:sSub>
                      <m:sSubPr>
                        <m:ctrlPr>
                          <a:rPr lang="ar-AE" i="1">
                            <a:solidFill>
                              <a:schemeClr val="tx1"/>
                            </a:solidFill>
                            <a:latin typeface="Cambria Math" panose="02040503050406030204" pitchFamily="18" charset="0"/>
                          </a:rPr>
                        </m:ctrlPr>
                      </m:sSubPr>
                      <m:e>
                        <m:r>
                          <a:rPr lang="ar-AE" i="1">
                            <a:solidFill>
                              <a:schemeClr val="tx1"/>
                            </a:solidFill>
                            <a:latin typeface="Cambria Math" panose="02040503050406030204" pitchFamily="18" charset="0"/>
                          </a:rPr>
                          <m:t>𝑥</m:t>
                        </m:r>
                      </m:e>
                      <m:sub>
                        <m:r>
                          <a:rPr lang="es-ES" b="1" i="0" smtClean="0">
                            <a:solidFill>
                              <a:schemeClr val="tx1"/>
                            </a:solidFill>
                            <a:latin typeface="Cambria Math" panose="02040503050406030204" pitchFamily="18" charset="0"/>
                          </a:rPr>
                          <m:t>𝟐</m:t>
                        </m:r>
                      </m:sub>
                    </m:sSub>
                    <m:sSub>
                      <m:sSubPr>
                        <m:ctrlPr>
                          <a:rPr lang="ar-AE" i="1">
                            <a:solidFill>
                              <a:schemeClr val="tx1"/>
                            </a:solidFill>
                            <a:latin typeface="Cambria Math" panose="02040503050406030204" pitchFamily="18" charset="0"/>
                          </a:rPr>
                        </m:ctrlPr>
                      </m:sSubPr>
                      <m:e>
                        <m:r>
                          <a:rPr lang="es-ES" b="1" i="1" smtClean="0">
                            <a:solidFill>
                              <a:schemeClr val="tx1"/>
                            </a:solidFill>
                            <a:latin typeface="Cambria Math" panose="02040503050406030204" pitchFamily="18" charset="0"/>
                          </a:rPr>
                          <m:t>     </m:t>
                        </m:r>
                        <m:r>
                          <a:rPr lang="ar-AE" i="1">
                            <a:solidFill>
                              <a:schemeClr val="tx1"/>
                            </a:solidFill>
                            <a:latin typeface="Cambria Math" panose="02040503050406030204" pitchFamily="18" charset="0"/>
                          </a:rPr>
                          <m:t>𝑥</m:t>
                        </m:r>
                      </m:e>
                      <m:sub>
                        <m:r>
                          <a:rPr lang="es-ES" b="1" i="0" smtClean="0">
                            <a:solidFill>
                              <a:schemeClr val="tx1"/>
                            </a:solidFill>
                            <a:latin typeface="Cambria Math" panose="02040503050406030204" pitchFamily="18" charset="0"/>
                          </a:rPr>
                          <m:t>𝟑</m:t>
                        </m:r>
                      </m:sub>
                    </m:sSub>
                  </m:oMath>
                </a14:m>
                <a:r>
                  <a:rPr lang="ar-AE" dirty="0">
                    <a:solidFill>
                      <a:schemeClr val="tx1"/>
                    </a:solidFill>
                  </a:rPr>
                  <a:t> </a:t>
                </a:r>
                <a14:m>
                  <m:oMath xmlns:m="http://schemas.openxmlformats.org/officeDocument/2006/math">
                    <m:sSub>
                      <m:sSubPr>
                        <m:ctrlPr>
                          <a:rPr lang="ar-AE" i="1">
                            <a:solidFill>
                              <a:schemeClr val="tx1"/>
                            </a:solidFill>
                            <a:latin typeface="Cambria Math" panose="02040503050406030204" pitchFamily="18" charset="0"/>
                          </a:rPr>
                        </m:ctrlPr>
                      </m:sSubPr>
                      <m:e>
                        <m:r>
                          <a:rPr lang="es-ES" i="1">
                            <a:solidFill>
                              <a:schemeClr val="tx1"/>
                            </a:solidFill>
                            <a:latin typeface="Cambria Math" panose="02040503050406030204" pitchFamily="18" charset="0"/>
                          </a:rPr>
                          <m:t>     </m:t>
                        </m:r>
                        <m:r>
                          <a:rPr lang="ar-AE" i="1">
                            <a:solidFill>
                              <a:schemeClr val="tx1"/>
                            </a:solidFill>
                            <a:latin typeface="Cambria Math" panose="02040503050406030204" pitchFamily="18" charset="0"/>
                          </a:rPr>
                          <m:t>𝑥</m:t>
                        </m:r>
                      </m:e>
                      <m:sub>
                        <m:r>
                          <a:rPr lang="es-ES" b="1" i="0" smtClean="0">
                            <a:solidFill>
                              <a:schemeClr val="tx1"/>
                            </a:solidFill>
                            <a:latin typeface="Cambria Math" panose="02040503050406030204" pitchFamily="18" charset="0"/>
                          </a:rPr>
                          <m:t>𝟒</m:t>
                        </m:r>
                      </m:sub>
                    </m:sSub>
                  </m:oMath>
                </a14:m>
                <a:r>
                  <a:rPr lang="es-ES" dirty="0">
                    <a:solidFill>
                      <a:schemeClr val="tx1"/>
                    </a:solidFill>
                  </a:rPr>
                  <a:t> </a:t>
                </a:r>
                <a14:m>
                  <m:oMath xmlns:m="http://schemas.openxmlformats.org/officeDocument/2006/math">
                    <m:r>
                      <a:rPr lang="es-ES" b="1" i="0" smtClean="0">
                        <a:solidFill>
                          <a:schemeClr val="tx1"/>
                        </a:solidFill>
                        <a:latin typeface="Cambria Math" panose="02040503050406030204" pitchFamily="18" charset="0"/>
                      </a:rPr>
                      <m:t>    </m:t>
                    </m:r>
                    <m:sSub>
                      <m:sSubPr>
                        <m:ctrlPr>
                          <a:rPr lang="ar-AE" i="1" smtClean="0">
                            <a:solidFill>
                              <a:schemeClr val="tx1"/>
                            </a:solidFill>
                            <a:latin typeface="Cambria Math" panose="02040503050406030204" pitchFamily="18" charset="0"/>
                          </a:rPr>
                        </m:ctrlPr>
                      </m:sSubPr>
                      <m:e>
                        <m:r>
                          <a:rPr lang="ar-AE" i="1">
                            <a:solidFill>
                              <a:schemeClr val="tx1"/>
                            </a:solidFill>
                            <a:latin typeface="Cambria Math" panose="02040503050406030204" pitchFamily="18" charset="0"/>
                          </a:rPr>
                          <m:t>𝑥</m:t>
                        </m:r>
                      </m:e>
                      <m:sub>
                        <m:r>
                          <a:rPr lang="es-ES" b="1" i="0" smtClean="0">
                            <a:solidFill>
                              <a:schemeClr val="tx1"/>
                            </a:solidFill>
                            <a:latin typeface="Cambria Math" panose="02040503050406030204" pitchFamily="18" charset="0"/>
                          </a:rPr>
                          <m:t>𝟓</m:t>
                        </m:r>
                      </m:sub>
                    </m:sSub>
                    <m:sSub>
                      <m:sSubPr>
                        <m:ctrlPr>
                          <a:rPr lang="ar-AE" i="1">
                            <a:solidFill>
                              <a:schemeClr val="tx1"/>
                            </a:solidFill>
                            <a:latin typeface="Cambria Math" panose="02040503050406030204" pitchFamily="18" charset="0"/>
                          </a:rPr>
                        </m:ctrlPr>
                      </m:sSubPr>
                      <m:e>
                        <m:r>
                          <a:rPr lang="es-ES" i="1">
                            <a:solidFill>
                              <a:schemeClr val="tx1"/>
                            </a:solidFill>
                            <a:latin typeface="Cambria Math" panose="02040503050406030204" pitchFamily="18" charset="0"/>
                          </a:rPr>
                          <m:t>     </m:t>
                        </m:r>
                        <m:r>
                          <a:rPr lang="ar-AE" i="1">
                            <a:solidFill>
                              <a:schemeClr val="tx1"/>
                            </a:solidFill>
                            <a:latin typeface="Cambria Math" panose="02040503050406030204" pitchFamily="18" charset="0"/>
                          </a:rPr>
                          <m:t>𝑥</m:t>
                        </m:r>
                      </m:e>
                      <m:sub>
                        <m:r>
                          <a:rPr lang="es-ES" b="1" i="1" smtClean="0">
                            <a:solidFill>
                              <a:schemeClr val="tx1"/>
                            </a:solidFill>
                            <a:latin typeface="Cambria Math" panose="02040503050406030204" pitchFamily="18" charset="0"/>
                          </a:rPr>
                          <m:t>𝟔</m:t>
                        </m:r>
                      </m:sub>
                    </m:sSub>
                  </m:oMath>
                </a14:m>
                <a:r>
                  <a:rPr lang="ar-AE" dirty="0">
                    <a:solidFill>
                      <a:schemeClr val="tx1"/>
                    </a:solidFill>
                  </a:rPr>
                  <a:t> </a:t>
                </a:r>
                <a14:m>
                  <m:oMath xmlns:m="http://schemas.openxmlformats.org/officeDocument/2006/math">
                    <m:sSub>
                      <m:sSubPr>
                        <m:ctrlPr>
                          <a:rPr lang="ar-AE" i="1">
                            <a:solidFill>
                              <a:schemeClr val="tx1"/>
                            </a:solidFill>
                            <a:latin typeface="Cambria Math" panose="02040503050406030204" pitchFamily="18" charset="0"/>
                          </a:rPr>
                        </m:ctrlPr>
                      </m:sSubPr>
                      <m:e>
                        <m:r>
                          <a:rPr lang="es-ES" i="1">
                            <a:solidFill>
                              <a:schemeClr val="tx1"/>
                            </a:solidFill>
                            <a:latin typeface="Cambria Math" panose="02040503050406030204" pitchFamily="18" charset="0"/>
                          </a:rPr>
                          <m:t>     </m:t>
                        </m:r>
                        <m:r>
                          <a:rPr lang="ar-AE" i="1">
                            <a:solidFill>
                              <a:schemeClr val="tx1"/>
                            </a:solidFill>
                            <a:latin typeface="Cambria Math" panose="02040503050406030204" pitchFamily="18" charset="0"/>
                          </a:rPr>
                          <m:t>𝑥</m:t>
                        </m:r>
                      </m:e>
                      <m:sub>
                        <m:r>
                          <a:rPr lang="es-ES" b="1" i="0" smtClean="0">
                            <a:solidFill>
                              <a:schemeClr val="tx1"/>
                            </a:solidFill>
                            <a:latin typeface="Cambria Math" panose="02040503050406030204" pitchFamily="18" charset="0"/>
                          </a:rPr>
                          <m:t>𝟕</m:t>
                        </m:r>
                      </m:sub>
                    </m:sSub>
                  </m:oMath>
                </a14:m>
                <a:endParaRPr lang="es-ES" dirty="0">
                  <a:solidFill>
                    <a:schemeClr val="tx1"/>
                  </a:solidFill>
                </a:endParaRPr>
              </a:p>
            </p:txBody>
          </p:sp>
        </mc:Choice>
        <mc:Fallback xmlns="">
          <p:sp>
            <p:nvSpPr>
              <p:cNvPr id="13" name="CuadroTexto 12">
                <a:extLst>
                  <a:ext uri="{FF2B5EF4-FFF2-40B4-BE49-F238E27FC236}">
                    <a16:creationId xmlns:a16="http://schemas.microsoft.com/office/drawing/2014/main" id="{16959CFF-27CF-408B-9FCA-953DAF9C219E}"/>
                  </a:ext>
                </a:extLst>
              </p:cNvPr>
              <p:cNvSpPr txBox="1">
                <a:spLocks noRot="1" noChangeAspect="1" noMove="1" noResize="1" noEditPoints="1" noAdjustHandles="1" noChangeArrowheads="1" noChangeShapeType="1" noTextEdit="1"/>
              </p:cNvSpPr>
              <p:nvPr/>
            </p:nvSpPr>
            <p:spPr>
              <a:xfrm>
                <a:off x="520517" y="4011502"/>
                <a:ext cx="4572000" cy="341632"/>
              </a:xfrm>
              <a:prstGeom prst="rect">
                <a:avLst/>
              </a:prstGeom>
              <a:blipFill>
                <a:blip r:embed="rId9"/>
                <a:stretch>
                  <a:fillRect t="-16071" b="-2857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9" name="CuadroTexto 28">
                <a:extLst>
                  <a:ext uri="{FF2B5EF4-FFF2-40B4-BE49-F238E27FC236}">
                    <a16:creationId xmlns:a16="http://schemas.microsoft.com/office/drawing/2014/main" id="{B8B3939A-C802-E07D-04AB-65739C9A38AA}"/>
                  </a:ext>
                </a:extLst>
              </p:cNvPr>
              <p:cNvSpPr txBox="1"/>
              <p:nvPr/>
            </p:nvSpPr>
            <p:spPr>
              <a:xfrm>
                <a:off x="3900657" y="4301331"/>
                <a:ext cx="2455609" cy="44627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sz="1800" b="1" i="1" kern="1200" smtClean="0">
                          <a:solidFill>
                            <a:schemeClr val="tx1"/>
                          </a:solidFill>
                          <a:latin typeface="Cambria Math" panose="02040503050406030204" pitchFamily="18" charset="0"/>
                        </a:rPr>
                        <m:t>(</m:t>
                      </m:r>
                      <m:sSub>
                        <m:sSubPr>
                          <m:ctrlPr>
                            <a:rPr lang="ar-AE" sz="1800" i="1" kern="1200" smtClean="0">
                              <a:solidFill>
                                <a:schemeClr val="tx1"/>
                              </a:solidFill>
                              <a:latin typeface="Cambria Math" panose="02040503050406030204" pitchFamily="18" charset="0"/>
                            </a:rPr>
                          </m:ctrlPr>
                        </m:sSubPr>
                        <m:e>
                          <m:r>
                            <a:rPr lang="ar-AE" sz="1800" i="1" kern="1200">
                              <a:solidFill>
                                <a:schemeClr val="tx1"/>
                              </a:solidFill>
                              <a:latin typeface="Cambria Math" panose="02040503050406030204" pitchFamily="18" charset="0"/>
                            </a:rPr>
                            <m:t>𝑊</m:t>
                          </m:r>
                        </m:e>
                        <m:sub>
                          <m:r>
                            <a:rPr lang="ar-AE" sz="1800" i="1" kern="1200">
                              <a:solidFill>
                                <a:schemeClr val="tx1"/>
                              </a:solidFill>
                              <a:latin typeface="Cambria Math" panose="02040503050406030204" pitchFamily="18" charset="0"/>
                            </a:rPr>
                            <m:t>𝑥</m:t>
                          </m:r>
                          <m:r>
                            <a:rPr lang="ar-AE" sz="1800" i="1" kern="1200">
                              <a:solidFill>
                                <a:schemeClr val="tx1"/>
                              </a:solidFill>
                              <a:latin typeface="Cambria Math" panose="02040503050406030204" pitchFamily="18" charset="0"/>
                            </a:rPr>
                            <m:t>h</m:t>
                          </m:r>
                        </m:sub>
                      </m:sSub>
                      <m:r>
                        <a:rPr lang="es-ES" sz="1800" b="1" i="1" kern="1200" smtClean="0">
                          <a:solidFill>
                            <a:schemeClr val="tx1"/>
                          </a:solidFill>
                          <a:latin typeface="Cambria Math" panose="02040503050406030204" pitchFamily="18" charset="0"/>
                        </a:rPr>
                        <m:t>, </m:t>
                      </m:r>
                      <m:sSub>
                        <m:sSubPr>
                          <m:ctrlPr>
                            <a:rPr lang="ar-AE" sz="1800" i="1" kern="1200">
                              <a:solidFill>
                                <a:schemeClr val="tx1"/>
                              </a:solidFill>
                              <a:latin typeface="Cambria Math" panose="02040503050406030204" pitchFamily="18" charset="0"/>
                            </a:rPr>
                          </m:ctrlPr>
                        </m:sSubPr>
                        <m:e>
                          <m:r>
                            <a:rPr lang="ar-AE" sz="1800" i="1" kern="1200">
                              <a:solidFill>
                                <a:schemeClr val="tx1"/>
                              </a:solidFill>
                              <a:latin typeface="Cambria Math" panose="02040503050406030204" pitchFamily="18" charset="0"/>
                            </a:rPr>
                            <m:t>𝑊</m:t>
                          </m:r>
                        </m:e>
                        <m:sub>
                          <m:r>
                            <a:rPr lang="ar-AE" sz="1800" i="1" kern="1200">
                              <a:solidFill>
                                <a:schemeClr val="tx1"/>
                              </a:solidFill>
                              <a:latin typeface="Cambria Math" panose="02040503050406030204" pitchFamily="18" charset="0"/>
                            </a:rPr>
                            <m:t>hh</m:t>
                          </m:r>
                        </m:sub>
                      </m:sSub>
                      <m:r>
                        <a:rPr lang="es-ES" sz="1800" b="1" i="1" kern="1200" smtClean="0">
                          <a:solidFill>
                            <a:schemeClr val="tx1"/>
                          </a:solidFill>
                          <a:latin typeface="Cambria Math" panose="02040503050406030204" pitchFamily="18" charset="0"/>
                        </a:rPr>
                        <m:t>, </m:t>
                      </m:r>
                      <m:sSub>
                        <m:sSubPr>
                          <m:ctrlPr>
                            <a:rPr lang="ar-AE" i="1">
                              <a:solidFill>
                                <a:schemeClr val="tx1"/>
                              </a:solidFill>
                              <a:latin typeface="Cambria Math" panose="02040503050406030204" pitchFamily="18" charset="0"/>
                            </a:rPr>
                          </m:ctrlPr>
                        </m:sSubPr>
                        <m:e>
                          <m:r>
                            <a:rPr lang="ar-AE" i="1">
                              <a:solidFill>
                                <a:schemeClr val="tx1"/>
                              </a:solidFill>
                              <a:latin typeface="Cambria Math" panose="02040503050406030204" pitchFamily="18" charset="0"/>
                            </a:rPr>
                            <m:t>𝑊</m:t>
                          </m:r>
                        </m:e>
                        <m:sub>
                          <m:r>
                            <a:rPr lang="ar-AE" i="1">
                              <a:solidFill>
                                <a:schemeClr val="tx1"/>
                              </a:solidFill>
                              <a:latin typeface="Cambria Math" panose="02040503050406030204" pitchFamily="18" charset="0"/>
                            </a:rPr>
                            <m:t>h</m:t>
                          </m:r>
                          <m:r>
                            <a:rPr lang="es-ES" b="1" i="1" smtClean="0">
                              <a:solidFill>
                                <a:schemeClr val="tx1"/>
                              </a:solidFill>
                              <a:latin typeface="Cambria Math" panose="02040503050406030204" pitchFamily="18" charset="0"/>
                            </a:rPr>
                            <m:t>𝒚</m:t>
                          </m:r>
                        </m:sub>
                      </m:sSub>
                      <m:r>
                        <a:rPr lang="es-ES" b="1" i="1" smtClean="0">
                          <a:solidFill>
                            <a:schemeClr val="tx1"/>
                          </a:solidFill>
                          <a:latin typeface="Cambria Math" panose="02040503050406030204" pitchFamily="18" charset="0"/>
                        </a:rPr>
                        <m:t>,</m:t>
                      </m:r>
                      <m:sSub>
                        <m:sSubPr>
                          <m:ctrlPr>
                            <a:rPr lang="ar-AE" i="1">
                              <a:solidFill>
                                <a:schemeClr val="tx1"/>
                              </a:solidFill>
                              <a:latin typeface="Cambria Math" panose="02040503050406030204" pitchFamily="18" charset="0"/>
                            </a:rPr>
                          </m:ctrlPr>
                        </m:sSubPr>
                        <m:e>
                          <m:r>
                            <a:rPr lang="ar-AE" i="1">
                              <a:solidFill>
                                <a:schemeClr val="tx1"/>
                              </a:solidFill>
                              <a:latin typeface="Cambria Math" panose="02040503050406030204" pitchFamily="18" charset="0"/>
                            </a:rPr>
                            <m:t>𝑏</m:t>
                          </m:r>
                        </m:e>
                        <m:sub>
                          <m:r>
                            <a:rPr lang="ar-AE" i="1">
                              <a:solidFill>
                                <a:schemeClr val="tx1"/>
                              </a:solidFill>
                              <a:latin typeface="Cambria Math" panose="02040503050406030204" pitchFamily="18" charset="0"/>
                            </a:rPr>
                            <m:t>h</m:t>
                          </m:r>
                        </m:sub>
                      </m:sSub>
                      <m:r>
                        <a:rPr lang="es-ES">
                          <a:solidFill>
                            <a:schemeClr val="tx1"/>
                          </a:solidFill>
                          <a:latin typeface="Cambria Math" panose="02040503050406030204" pitchFamily="18" charset="0"/>
                        </a:rPr>
                        <m:t>,</m:t>
                      </m:r>
                      <m:sSub>
                        <m:sSubPr>
                          <m:ctrlPr>
                            <a:rPr lang="ar-AE" i="1">
                              <a:solidFill>
                                <a:schemeClr val="tx1"/>
                              </a:solidFill>
                              <a:latin typeface="Cambria Math" panose="02040503050406030204" pitchFamily="18" charset="0"/>
                            </a:rPr>
                          </m:ctrlPr>
                        </m:sSubPr>
                        <m:e>
                          <m:r>
                            <a:rPr lang="ar-AE" i="1">
                              <a:solidFill>
                                <a:schemeClr val="tx1"/>
                              </a:solidFill>
                              <a:latin typeface="Cambria Math" panose="02040503050406030204" pitchFamily="18" charset="0"/>
                            </a:rPr>
                            <m:t>𝑏</m:t>
                          </m:r>
                        </m:e>
                        <m:sub>
                          <m:r>
                            <a:rPr lang="es-ES" b="0" i="1">
                              <a:solidFill>
                                <a:schemeClr val="tx1"/>
                              </a:solidFill>
                              <a:latin typeface="Cambria Math" panose="02040503050406030204" pitchFamily="18" charset="0"/>
                            </a:rPr>
                            <m:t>𝑦</m:t>
                          </m:r>
                        </m:sub>
                      </m:sSub>
                      <m:r>
                        <a:rPr lang="es-ES" b="0" i="1" smtClean="0">
                          <a:solidFill>
                            <a:schemeClr val="tx1"/>
                          </a:solidFill>
                          <a:latin typeface="Cambria Math" panose="02040503050406030204" pitchFamily="18" charset="0"/>
                        </a:rPr>
                        <m:t>)</m:t>
                      </m:r>
                    </m:oMath>
                  </m:oMathPara>
                </a14:m>
                <a:endParaRPr lang="es-ES" dirty="0"/>
              </a:p>
            </p:txBody>
          </p:sp>
        </mc:Choice>
        <mc:Fallback xmlns="">
          <p:sp>
            <p:nvSpPr>
              <p:cNvPr id="29" name="CuadroTexto 28">
                <a:extLst>
                  <a:ext uri="{FF2B5EF4-FFF2-40B4-BE49-F238E27FC236}">
                    <a16:creationId xmlns:a16="http://schemas.microsoft.com/office/drawing/2014/main" id="{B8B3939A-C802-E07D-04AB-65739C9A38AA}"/>
                  </a:ext>
                </a:extLst>
              </p:cNvPr>
              <p:cNvSpPr txBox="1">
                <a:spLocks noRot="1" noChangeAspect="1" noMove="1" noResize="1" noEditPoints="1" noAdjustHandles="1" noChangeArrowheads="1" noChangeShapeType="1" noTextEdit="1"/>
              </p:cNvSpPr>
              <p:nvPr/>
            </p:nvSpPr>
            <p:spPr>
              <a:xfrm>
                <a:off x="3900657" y="4301331"/>
                <a:ext cx="2455609" cy="446276"/>
              </a:xfrm>
              <a:prstGeom prst="rect">
                <a:avLst/>
              </a:prstGeom>
              <a:blipFill>
                <a:blip r:embed="rId10"/>
                <a:stretch>
                  <a:fillRect/>
                </a:stretch>
              </a:blipFill>
            </p:spPr>
            <p:txBody>
              <a:bodyPr/>
              <a:lstStyle/>
              <a:p>
                <a:r>
                  <a:rPr lang="es-ES">
                    <a:noFill/>
                  </a:rPr>
                  <a:t> </a:t>
                </a:r>
              </a:p>
            </p:txBody>
          </p:sp>
        </mc:Fallback>
      </mc:AlternateContent>
      <p:grpSp>
        <p:nvGrpSpPr>
          <p:cNvPr id="32" name="Grupo 31">
            <a:extLst>
              <a:ext uri="{FF2B5EF4-FFF2-40B4-BE49-F238E27FC236}">
                <a16:creationId xmlns:a16="http://schemas.microsoft.com/office/drawing/2014/main" id="{12A80247-2791-14C3-C864-088B6FCEF9DA}"/>
              </a:ext>
            </a:extLst>
          </p:cNvPr>
          <p:cNvGrpSpPr/>
          <p:nvPr/>
        </p:nvGrpSpPr>
        <p:grpSpPr>
          <a:xfrm>
            <a:off x="1151845" y="4381500"/>
            <a:ext cx="1642367" cy="1046460"/>
            <a:chOff x="558152" y="4353134"/>
            <a:chExt cx="1642367" cy="1046460"/>
          </a:xfrm>
        </p:grpSpPr>
        <p:sp>
          <p:nvSpPr>
            <p:cNvPr id="17" name="Abrir llave 16">
              <a:extLst>
                <a:ext uri="{FF2B5EF4-FFF2-40B4-BE49-F238E27FC236}">
                  <a16:creationId xmlns:a16="http://schemas.microsoft.com/office/drawing/2014/main" id="{3E67EA5B-37A6-E260-6D1C-FF7EBC917252}"/>
                </a:ext>
              </a:extLst>
            </p:cNvPr>
            <p:cNvSpPr/>
            <p:nvPr/>
          </p:nvSpPr>
          <p:spPr bwMode="auto">
            <a:xfrm rot="16200000">
              <a:off x="745486" y="4165800"/>
              <a:ext cx="523005" cy="897674"/>
            </a:xfrm>
            <a:prstGeom prst="leftBrace">
              <a:avLst>
                <a:gd name="adj1" fmla="val 8333"/>
                <a:gd name="adj2" fmla="val 48302"/>
              </a:avLst>
            </a:prstGeom>
            <a:noFill/>
            <a:ln w="254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90000"/>
                </a:lnSpc>
                <a:spcBef>
                  <a:spcPts val="600"/>
                </a:spcBef>
                <a:spcAft>
                  <a:spcPts val="600"/>
                </a:spcAft>
                <a:buClrTx/>
                <a:buSzTx/>
                <a:buFont typeface="Symbol" pitchFamily="18" charset="2"/>
                <a:buNone/>
                <a:tabLst/>
              </a:pPr>
              <a:endParaRPr kumimoji="0" lang="es-ES" sz="1800" b="1" i="0" u="none" strike="noStrike" cap="none" normalizeH="0" baseline="0">
                <a:ln>
                  <a:noFill/>
                </a:ln>
                <a:solidFill>
                  <a:srgbClr val="66FFCC"/>
                </a:solidFill>
                <a:effectLst/>
                <a:latin typeface="Times New Roman" pitchFamily="18" charset="0"/>
              </a:endParaRPr>
            </a:p>
          </p:txBody>
        </p:sp>
        <p:sp>
          <p:nvSpPr>
            <p:cNvPr id="20" name="Abrir llave 19">
              <a:extLst>
                <a:ext uri="{FF2B5EF4-FFF2-40B4-BE49-F238E27FC236}">
                  <a16:creationId xmlns:a16="http://schemas.microsoft.com/office/drawing/2014/main" id="{FBD248BD-E85D-59E8-9C68-CA05F8B73EFC}"/>
                </a:ext>
              </a:extLst>
            </p:cNvPr>
            <p:cNvSpPr/>
            <p:nvPr/>
          </p:nvSpPr>
          <p:spPr bwMode="auto">
            <a:xfrm rot="16200000">
              <a:off x="1434890" y="4467858"/>
              <a:ext cx="523007" cy="293559"/>
            </a:xfrm>
            <a:prstGeom prst="leftBrace">
              <a:avLst/>
            </a:prstGeom>
            <a:noFill/>
            <a:ln w="25400"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90000"/>
                </a:lnSpc>
                <a:spcBef>
                  <a:spcPts val="600"/>
                </a:spcBef>
                <a:spcAft>
                  <a:spcPts val="600"/>
                </a:spcAft>
                <a:buClrTx/>
                <a:buSzTx/>
                <a:buFont typeface="Symbol" pitchFamily="18" charset="2"/>
                <a:buNone/>
                <a:tabLst/>
              </a:pPr>
              <a:endParaRPr kumimoji="0" lang="es-ES" sz="1800" b="1" i="0" u="none" strike="noStrike" cap="none" normalizeH="0" baseline="0">
                <a:ln>
                  <a:noFill/>
                </a:ln>
                <a:solidFill>
                  <a:srgbClr val="66FFCC"/>
                </a:solidFill>
                <a:effectLst/>
                <a:latin typeface="Times New Roman" pitchFamily="18" charset="0"/>
              </a:endParaRPr>
            </a:p>
          </p:txBody>
        </p:sp>
        <p:sp>
          <p:nvSpPr>
            <p:cNvPr id="26" name="CuadroTexto 25">
              <a:extLst>
                <a:ext uri="{FF2B5EF4-FFF2-40B4-BE49-F238E27FC236}">
                  <a16:creationId xmlns:a16="http://schemas.microsoft.com/office/drawing/2014/main" id="{E5BB89B2-C4C0-EC78-3719-10936FA6619E}"/>
                </a:ext>
              </a:extLst>
            </p:cNvPr>
            <p:cNvSpPr txBox="1"/>
            <p:nvPr/>
          </p:nvSpPr>
          <p:spPr>
            <a:xfrm>
              <a:off x="652163" y="4858385"/>
              <a:ext cx="650682" cy="257731"/>
            </a:xfrm>
            <a:prstGeom prst="rect">
              <a:avLst/>
            </a:prstGeom>
            <a:noFill/>
          </p:spPr>
          <p:txBody>
            <a:bodyPr wrap="square">
              <a:spAutoFit/>
            </a:bodyPr>
            <a:lstStyle/>
            <a:p>
              <a:r>
                <a:rPr lang="en-US" sz="1200" dirty="0">
                  <a:solidFill>
                    <a:srgbClr val="C00000"/>
                  </a:solidFill>
                  <a:latin typeface="Verdana" panose="020B0604030504040204" pitchFamily="34" charset="0"/>
                </a:rPr>
                <a:t>input</a:t>
              </a:r>
              <a:endParaRPr lang="es-ES" sz="1200" dirty="0">
                <a:solidFill>
                  <a:srgbClr val="C00000"/>
                </a:solidFill>
                <a:latin typeface="Verdana" panose="020B0604030504040204" pitchFamily="34" charset="0"/>
              </a:endParaRPr>
            </a:p>
          </p:txBody>
        </p:sp>
        <p:sp>
          <p:nvSpPr>
            <p:cNvPr id="27" name="CuadroTexto 26">
              <a:extLst>
                <a:ext uri="{FF2B5EF4-FFF2-40B4-BE49-F238E27FC236}">
                  <a16:creationId xmlns:a16="http://schemas.microsoft.com/office/drawing/2014/main" id="{56F477EF-4369-0795-7255-F5F8D85B99DD}"/>
                </a:ext>
              </a:extLst>
            </p:cNvPr>
            <p:cNvSpPr txBox="1"/>
            <p:nvPr/>
          </p:nvSpPr>
          <p:spPr>
            <a:xfrm>
              <a:off x="1302844" y="4849926"/>
              <a:ext cx="897675" cy="257731"/>
            </a:xfrm>
            <a:prstGeom prst="rect">
              <a:avLst/>
            </a:prstGeom>
            <a:noFill/>
          </p:spPr>
          <p:txBody>
            <a:bodyPr wrap="square">
              <a:spAutoFit/>
            </a:bodyPr>
            <a:lstStyle/>
            <a:p>
              <a:r>
                <a:rPr lang="en-US" sz="1200" dirty="0" err="1">
                  <a:solidFill>
                    <a:srgbClr val="002060"/>
                  </a:solidFill>
                  <a:latin typeface="Verdana" panose="020B0604030504040204" pitchFamily="34" charset="0"/>
                </a:rPr>
                <a:t>etiqueta</a:t>
              </a:r>
              <a:endParaRPr lang="es-ES" sz="1200" dirty="0">
                <a:solidFill>
                  <a:srgbClr val="002060"/>
                </a:solidFill>
                <a:latin typeface="Verdana" panose="020B0604030504040204" pitchFamily="34" charset="0"/>
              </a:endParaRPr>
            </a:p>
          </p:txBody>
        </p:sp>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EDFD8F2F-4608-9F56-F0BD-6BCE07F847CF}"/>
                    </a:ext>
                  </a:extLst>
                </p:cNvPr>
                <p:cNvSpPr txBox="1"/>
                <p:nvPr/>
              </p:nvSpPr>
              <p:spPr>
                <a:xfrm>
                  <a:off x="907163" y="5020901"/>
                  <a:ext cx="858951" cy="378693"/>
                </a:xfrm>
                <a:prstGeom prst="rect">
                  <a:avLst/>
                </a:prstGeom>
                <a:noFill/>
              </p:spPr>
              <p:txBody>
                <a:bodyPr wrap="square">
                  <a:spAutoFit/>
                </a:bodyPr>
                <a:lstStyle/>
                <a:p>
                  <a14:m>
                    <m:oMath xmlns:m="http://schemas.openxmlformats.org/officeDocument/2006/math">
                      <m:sSub>
                        <m:sSubPr>
                          <m:ctrlPr>
                            <a:rPr lang="ar-AE" sz="1600" i="1">
                              <a:solidFill>
                                <a:srgbClr val="005682"/>
                              </a:solidFill>
                              <a:latin typeface="Cambria Math" panose="02040503050406030204" pitchFamily="18" charset="0"/>
                            </a:rPr>
                          </m:ctrlPr>
                        </m:sSubPr>
                        <m:e>
                          <m:r>
                            <a:rPr lang="ar-AE" sz="1600">
                              <a:solidFill>
                                <a:srgbClr val="005682"/>
                              </a:solidFill>
                              <a:latin typeface="Cambria Math" panose="02040503050406030204" pitchFamily="18" charset="0"/>
                            </a:rPr>
                            <m:t>ℒ</m:t>
                          </m:r>
                        </m:e>
                        <m:sub>
                          <m:r>
                            <a:rPr lang="es-ES" sz="1600">
                              <a:solidFill>
                                <a:srgbClr val="005682"/>
                              </a:solidFill>
                              <a:latin typeface="Cambria Math" panose="02040503050406030204" pitchFamily="18" charset="0"/>
                            </a:rPr>
                            <m:t>𝑖</m:t>
                          </m:r>
                        </m:sub>
                      </m:sSub>
                      <m:r>
                        <a:rPr lang="es-ES" sz="1600">
                          <a:solidFill>
                            <a:srgbClr val="005682"/>
                          </a:solidFill>
                          <a:latin typeface="Cambria Math" panose="02040503050406030204" pitchFamily="18" charset="0"/>
                        </a:rPr>
                        <m:t>(</m:t>
                      </m:r>
                      <m:r>
                        <m:rPr>
                          <m:sty m:val="p"/>
                        </m:rPr>
                        <a:rPr lang="es-ES" sz="1600">
                          <a:solidFill>
                            <a:srgbClr val="005682"/>
                          </a:solidFill>
                          <a:latin typeface="Cambria Math" panose="02040503050406030204" pitchFamily="18" charset="0"/>
                        </a:rPr>
                        <m:t>i</m:t>
                      </m:r>
                      <m:r>
                        <a:rPr lang="es-ES" sz="1600">
                          <a:solidFill>
                            <a:srgbClr val="005682"/>
                          </a:solidFill>
                          <a:latin typeface="Cambria Math" panose="02040503050406030204" pitchFamily="18" charset="0"/>
                        </a:rPr>
                        <m:t>,</m:t>
                      </m:r>
                      <m:r>
                        <m:rPr>
                          <m:sty m:val="p"/>
                        </m:rPr>
                        <a:rPr lang="es-ES" sz="1600">
                          <a:solidFill>
                            <a:srgbClr val="005682"/>
                          </a:solidFill>
                          <a:latin typeface="Cambria Math" panose="02040503050406030204" pitchFamily="18" charset="0"/>
                        </a:rPr>
                        <m:t>e</m:t>
                      </m:r>
                      <m:r>
                        <a:rPr lang="es-ES" sz="1600">
                          <a:solidFill>
                            <a:srgbClr val="005682"/>
                          </a:solidFill>
                          <a:latin typeface="Cambria Math" panose="02040503050406030204" pitchFamily="18" charset="0"/>
                        </a:rPr>
                        <m:t>)</m:t>
                      </m:r>
                    </m:oMath>
                  </a14:m>
                  <a:r>
                    <a:rPr lang="es-ES" sz="1600" dirty="0">
                      <a:solidFill>
                        <a:srgbClr val="005682"/>
                      </a:solidFill>
                      <a:latin typeface="Verdana" panose="020B0604030504040204" pitchFamily="34" charset="0"/>
                    </a:rPr>
                    <a:t> </a:t>
                  </a:r>
                  <a:endParaRPr lang="es-ES" sz="1400" dirty="0">
                    <a:solidFill>
                      <a:srgbClr val="005682"/>
                    </a:solidFill>
                    <a:latin typeface="Verdana" panose="020B0604030504040204" pitchFamily="34" charset="0"/>
                  </a:endParaRPr>
                </a:p>
              </p:txBody>
            </p:sp>
          </mc:Choice>
          <mc:Fallback xmlns="">
            <p:sp>
              <p:nvSpPr>
                <p:cNvPr id="19" name="CuadroTexto 18">
                  <a:extLst>
                    <a:ext uri="{FF2B5EF4-FFF2-40B4-BE49-F238E27FC236}">
                      <a16:creationId xmlns:a16="http://schemas.microsoft.com/office/drawing/2014/main" id="{EDFD8F2F-4608-9F56-F0BD-6BCE07F847CF}"/>
                    </a:ext>
                  </a:extLst>
                </p:cNvPr>
                <p:cNvSpPr txBox="1">
                  <a:spLocks noRot="1" noChangeAspect="1" noMove="1" noResize="1" noEditPoints="1" noAdjustHandles="1" noChangeArrowheads="1" noChangeShapeType="1" noTextEdit="1"/>
                </p:cNvSpPr>
                <p:nvPr/>
              </p:nvSpPr>
              <p:spPr>
                <a:xfrm>
                  <a:off x="907163" y="5020901"/>
                  <a:ext cx="858951" cy="378693"/>
                </a:xfrm>
                <a:prstGeom prst="rect">
                  <a:avLst/>
                </a:prstGeom>
                <a:blipFill>
                  <a:blip r:embed="rId11"/>
                  <a:stretch>
                    <a:fillRect/>
                  </a:stretch>
                </a:blipFill>
              </p:spPr>
              <p:txBody>
                <a:bodyPr/>
                <a:lstStyle/>
                <a:p>
                  <a:r>
                    <a:rPr lang="es-ES">
                      <a:noFill/>
                    </a:rPr>
                    <a:t> </a:t>
                  </a:r>
                </a:p>
              </p:txBody>
            </p:sp>
          </mc:Fallback>
        </mc:AlternateContent>
      </p:grpSp>
      <p:sp>
        <p:nvSpPr>
          <p:cNvPr id="35" name="Flecha: doblada 34">
            <a:extLst>
              <a:ext uri="{FF2B5EF4-FFF2-40B4-BE49-F238E27FC236}">
                <a16:creationId xmlns:a16="http://schemas.microsoft.com/office/drawing/2014/main" id="{8809886A-9CA5-07AC-8BD9-0F6260BDD328}"/>
              </a:ext>
            </a:extLst>
          </p:cNvPr>
          <p:cNvSpPr/>
          <p:nvPr/>
        </p:nvSpPr>
        <p:spPr bwMode="auto">
          <a:xfrm>
            <a:off x="2082225" y="2785523"/>
            <a:ext cx="1423975" cy="525341"/>
          </a:xfrm>
          <a:prstGeom prst="bentArrow">
            <a:avLst/>
          </a:prstGeom>
          <a:noFill/>
          <a:ln w="2857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90000"/>
              </a:lnSpc>
              <a:spcBef>
                <a:spcPts val="600"/>
              </a:spcBef>
              <a:spcAft>
                <a:spcPts val="600"/>
              </a:spcAft>
              <a:buClrTx/>
              <a:buSzTx/>
              <a:buFont typeface="Symbol" pitchFamily="18" charset="2"/>
              <a:buNone/>
              <a:tabLst/>
            </a:pPr>
            <a:endParaRPr kumimoji="0" lang="es-ES" sz="1800" b="1" i="0" u="none" strike="noStrike" cap="none" normalizeH="0" baseline="0" dirty="0">
              <a:ln>
                <a:noFill/>
              </a:ln>
              <a:solidFill>
                <a:srgbClr val="66FFCC"/>
              </a:solidFill>
              <a:effectLst/>
              <a:latin typeface="Times New Roman" pitchFamily="18" charset="0"/>
            </a:endParaRPr>
          </a:p>
        </p:txBody>
      </p:sp>
    </p:spTree>
    <p:extLst>
      <p:ext uri="{BB962C8B-B14F-4D97-AF65-F5344CB8AC3E}">
        <p14:creationId xmlns:p14="http://schemas.microsoft.com/office/powerpoint/2010/main" val="3252176889"/>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1.38889E-6 3.7037E-6 L 0.05069 3.7037E-6 " pathEditMode="relative" rAng="0" ptsTypes="AA">
                                      <p:cBhvr>
                                        <p:cTn id="6" dur="2000" fill="hold"/>
                                        <p:tgtEl>
                                          <p:spTgt spid="32"/>
                                        </p:tgtEl>
                                        <p:attrNameLst>
                                          <p:attrName>ppt_x</p:attrName>
                                          <p:attrName>ppt_y</p:attrName>
                                        </p:attrNameLst>
                                      </p:cBhvr>
                                      <p:rCtr x="2535" y="0"/>
                                    </p:animMotion>
                                  </p:childTnLst>
                                </p:cTn>
                              </p:par>
                            </p:childTnLst>
                          </p:cTn>
                        </p:par>
                      </p:childTnLst>
                    </p:cTn>
                  </p:par>
                  <p:par>
                    <p:cTn id="7" fill="hold">
                      <p:stCondLst>
                        <p:cond delay="indefinite"/>
                      </p:stCondLst>
                      <p:childTnLst>
                        <p:par>
                          <p:cTn id="8" fill="hold">
                            <p:stCondLst>
                              <p:cond delay="0"/>
                            </p:stCondLst>
                            <p:childTnLst>
                              <p:par>
                                <p:cTn id="9" presetID="42" presetClass="path" presetSubtype="0" accel="50000" decel="50000" fill="hold" nodeType="clickEffect">
                                  <p:stCondLst>
                                    <p:cond delay="0"/>
                                  </p:stCondLst>
                                  <p:childTnLst>
                                    <p:animMotion origin="layout" path="M 0.05069 3.7037E-6 L 0.10642 3.7037E-6 " pathEditMode="relative" rAng="0" ptsTypes="AA">
                                      <p:cBhvr>
                                        <p:cTn id="10" dur="2000" fill="hold"/>
                                        <p:tgtEl>
                                          <p:spTgt spid="32"/>
                                        </p:tgtEl>
                                        <p:attrNameLst>
                                          <p:attrName>ppt_x</p:attrName>
                                          <p:attrName>ppt_y</p:attrName>
                                        </p:attrNameLst>
                                      </p:cBhvr>
                                      <p:rCtr x="2778" y="0"/>
                                    </p:animMotion>
                                  </p:childTnLst>
                                </p:cTn>
                              </p:par>
                            </p:childTnLst>
                          </p:cTn>
                        </p:par>
                      </p:childTnLst>
                    </p:cTn>
                  </p:par>
                  <p:par>
                    <p:cTn id="11" fill="hold">
                      <p:stCondLst>
                        <p:cond delay="indefinite"/>
                      </p:stCondLst>
                      <p:childTnLst>
                        <p:par>
                          <p:cTn id="12" fill="hold">
                            <p:stCondLst>
                              <p:cond delay="0"/>
                            </p:stCondLst>
                            <p:childTnLst>
                              <p:par>
                                <p:cTn id="13" presetID="42" presetClass="path" presetSubtype="0" accel="50000" decel="50000" fill="hold" nodeType="clickEffect">
                                  <p:stCondLst>
                                    <p:cond delay="0"/>
                                  </p:stCondLst>
                                  <p:childTnLst>
                                    <p:animMotion origin="layout" path="M 0.10642 3.7037E-6 L 0.15746 3.7037E-6 " pathEditMode="relative" rAng="0" ptsTypes="AA">
                                      <p:cBhvr>
                                        <p:cTn id="14" dur="2000" fill="hold"/>
                                        <p:tgtEl>
                                          <p:spTgt spid="32"/>
                                        </p:tgtEl>
                                        <p:attrNameLst>
                                          <p:attrName>ppt_x</p:attrName>
                                          <p:attrName>ppt_y</p:attrName>
                                        </p:attrNameLst>
                                      </p:cBhvr>
                                      <p:rCtr x="2552"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09680874-1B81-12D6-DBCB-6435A6DC1BAE}"/>
              </a:ext>
            </a:extLst>
          </p:cNvPr>
          <p:cNvSpPr>
            <a:spLocks noGrp="1"/>
          </p:cNvSpPr>
          <p:nvPr>
            <p:ph idx="1"/>
          </p:nvPr>
        </p:nvSpPr>
        <p:spPr/>
        <p:txBody>
          <a:bodyPr/>
          <a:lstStyle/>
          <a:p>
            <a:pPr marL="0" indent="0">
              <a:buNone/>
            </a:pPr>
            <a:r>
              <a:rPr lang="es-ES" dirty="0">
                <a:solidFill>
                  <a:srgbClr val="FFCCCC"/>
                </a:solidFill>
              </a:rPr>
              <a:t>Input</a:t>
            </a:r>
            <a:r>
              <a:rPr lang="es-ES" dirty="0"/>
              <a:t>  ---  </a:t>
            </a:r>
            <a:r>
              <a:rPr lang="es-ES" dirty="0">
                <a:solidFill>
                  <a:srgbClr val="99FF99"/>
                </a:solidFill>
              </a:rPr>
              <a:t>Oculta</a:t>
            </a:r>
            <a:r>
              <a:rPr lang="es-ES" dirty="0"/>
              <a:t>  --- Output</a:t>
            </a:r>
          </a:p>
        </p:txBody>
      </p:sp>
      <p:sp>
        <p:nvSpPr>
          <p:cNvPr id="4" name="Title 1">
            <a:extLst>
              <a:ext uri="{FF2B5EF4-FFF2-40B4-BE49-F238E27FC236}">
                <a16:creationId xmlns:a16="http://schemas.microsoft.com/office/drawing/2014/main" id="{5CE61297-F5CC-A99E-2D22-5BF0242990D9}"/>
              </a:ext>
            </a:extLst>
          </p:cNvPr>
          <p:cNvSpPr>
            <a:spLocks noGrp="1"/>
          </p:cNvSpPr>
          <p:nvPr>
            <p:ph type="title"/>
          </p:nvPr>
        </p:nvSpPr>
        <p:spPr>
          <a:xfrm>
            <a:off x="457200" y="0"/>
            <a:ext cx="8229600" cy="1143000"/>
          </a:xfrm>
        </p:spPr>
        <p:txBody>
          <a:bodyPr>
            <a:normAutofit/>
          </a:bodyPr>
          <a:lstStyle/>
          <a:p>
            <a:r>
              <a:rPr lang="es-ES" dirty="0" err="1"/>
              <a:t>Other</a:t>
            </a:r>
            <a:r>
              <a:rPr lang="es-ES" dirty="0"/>
              <a:t> </a:t>
            </a:r>
            <a:r>
              <a:rPr lang="es-ES" dirty="0" err="1"/>
              <a:t>architectures</a:t>
            </a:r>
            <a:endParaRPr lang="es-ES" dirty="0"/>
          </a:p>
        </p:txBody>
      </p:sp>
      <p:pic>
        <p:nvPicPr>
          <p:cNvPr id="1026" name="Picture 2">
            <a:extLst>
              <a:ext uri="{FF2B5EF4-FFF2-40B4-BE49-F238E27FC236}">
                <a16:creationId xmlns:a16="http://schemas.microsoft.com/office/drawing/2014/main" id="{9ED0E1F7-1ADD-3299-54FF-3AF1A25078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997075"/>
            <a:ext cx="9144000" cy="28622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6972783"/>
      </p:ext>
    </p:extLst>
  </p:cSld>
  <p:clrMapOvr>
    <a:masterClrMapping/>
  </p:clrMapOvr>
  <p:transition>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Backpropagation Through Time</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Autofit/>
              </a:bodyPr>
              <a:lstStyle/>
              <a:p>
                <a:pPr marL="0" indent="0">
                  <a:buNone/>
                </a:pPr>
                <a:endParaRPr lang="ar-AE" sz="2000" dirty="0"/>
              </a:p>
              <a:p>
                <a:pPr marL="457200" lvl="1" indent="0">
                  <a:buNone/>
                </a:pPr>
                <a14:m>
                  <m:oMathPara xmlns:m="http://schemas.openxmlformats.org/officeDocument/2006/math">
                    <m:oMathParaPr>
                      <m:jc m:val="centerGroup"/>
                    </m:oMathParaPr>
                    <m:oMath xmlns:m="http://schemas.openxmlformats.org/officeDocument/2006/math">
                      <m:f>
                        <m:fPr>
                          <m:ctrlPr>
                            <a:rPr lang="ar-AE" sz="1800" i="1" smtClean="0">
                              <a:latin typeface="Cambria Math" panose="02040503050406030204" pitchFamily="18" charset="0"/>
                            </a:rPr>
                          </m:ctrlPr>
                        </m:fPr>
                        <m:num>
                          <m:r>
                            <a:rPr lang="ar-AE" sz="1800">
                              <a:latin typeface="Cambria Math" panose="02040503050406030204" pitchFamily="18" charset="0"/>
                            </a:rPr>
                            <m:t>𝜕</m:t>
                          </m:r>
                          <m:r>
                            <a:rPr lang="ar-AE" sz="1800" i="1">
                              <a:latin typeface="Cambria Math" panose="02040503050406030204" pitchFamily="18" charset="0"/>
                            </a:rPr>
                            <m:t>𝐿</m:t>
                          </m:r>
                        </m:num>
                        <m:den>
                          <m:r>
                            <a:rPr lang="ar-AE" sz="1800">
                              <a:latin typeface="Cambria Math" panose="02040503050406030204" pitchFamily="18" charset="0"/>
                            </a:rPr>
                            <m:t>𝜕</m:t>
                          </m:r>
                          <m:sSub>
                            <m:sSubPr>
                              <m:ctrlPr>
                                <a:rPr lang="ar-AE" sz="1800" i="1">
                                  <a:latin typeface="Cambria Math" panose="02040503050406030204" pitchFamily="18" charset="0"/>
                                </a:rPr>
                              </m:ctrlPr>
                            </m:sSubPr>
                            <m:e>
                              <m:r>
                                <a:rPr lang="ar-AE" sz="1800" i="1">
                                  <a:latin typeface="Cambria Math" panose="02040503050406030204" pitchFamily="18" charset="0"/>
                                </a:rPr>
                                <m:t>𝑊</m:t>
                              </m:r>
                            </m:e>
                            <m:sub>
                              <m:r>
                                <a:rPr lang="ar-AE" sz="1800" i="1">
                                  <a:latin typeface="Cambria Math" panose="02040503050406030204" pitchFamily="18" charset="0"/>
                                </a:rPr>
                                <m:t>h</m:t>
                              </m:r>
                            </m:sub>
                          </m:sSub>
                        </m:den>
                      </m:f>
                      <m:r>
                        <a:rPr lang="ar-AE" sz="1800">
                          <a:latin typeface="Cambria Math" panose="02040503050406030204" pitchFamily="18" charset="0"/>
                        </a:rPr>
                        <m:t>=</m:t>
                      </m:r>
                      <m:nary>
                        <m:naryPr>
                          <m:chr m:val="∑"/>
                          <m:grow m:val="on"/>
                          <m:ctrlPr>
                            <a:rPr lang="ar-AE" sz="1800" i="1">
                              <a:latin typeface="Cambria Math" panose="02040503050406030204" pitchFamily="18" charset="0"/>
                            </a:rPr>
                          </m:ctrlPr>
                        </m:naryPr>
                        <m:sub>
                          <m:r>
                            <a:rPr lang="ar-AE" sz="1800" i="1">
                              <a:latin typeface="Cambria Math" panose="02040503050406030204" pitchFamily="18" charset="0"/>
                            </a:rPr>
                            <m:t>𝑡</m:t>
                          </m:r>
                          <m:r>
                            <a:rPr lang="ar-AE" sz="1800">
                              <a:latin typeface="Cambria Math" panose="02040503050406030204" pitchFamily="18" charset="0"/>
                            </a:rPr>
                            <m:t>=</m:t>
                          </m:r>
                          <m:r>
                            <a:rPr lang="ar-AE" sz="1800">
                              <a:latin typeface="Cambria Math" panose="02040503050406030204" pitchFamily="18" charset="0"/>
                            </a:rPr>
                            <m:t>1</m:t>
                          </m:r>
                        </m:sub>
                        <m:sup>
                          <m:r>
                            <a:rPr lang="ar-AE" sz="1800" i="1">
                              <a:latin typeface="Cambria Math" panose="02040503050406030204" pitchFamily="18" charset="0"/>
                            </a:rPr>
                            <m:t>𝑇</m:t>
                          </m:r>
                        </m:sup>
                        <m:e>
                          <m:f>
                            <m:fPr>
                              <m:ctrlPr>
                                <a:rPr lang="ar-AE" sz="1800" i="1">
                                  <a:latin typeface="Cambria Math" panose="02040503050406030204" pitchFamily="18" charset="0"/>
                                </a:rPr>
                              </m:ctrlPr>
                            </m:fPr>
                            <m:num>
                              <m:r>
                                <a:rPr lang="ar-AE" sz="1800">
                                  <a:latin typeface="Cambria Math" panose="02040503050406030204" pitchFamily="18" charset="0"/>
                                </a:rPr>
                                <m:t>𝜕</m:t>
                              </m:r>
                              <m:r>
                                <a:rPr lang="ar-AE" sz="1800" i="1">
                                  <a:latin typeface="Cambria Math" panose="02040503050406030204" pitchFamily="18" charset="0"/>
                                </a:rPr>
                                <m:t>𝐿</m:t>
                              </m:r>
                            </m:num>
                            <m:den>
                              <m:r>
                                <a:rPr lang="ar-AE" sz="1800">
                                  <a:latin typeface="Cambria Math" panose="02040503050406030204" pitchFamily="18" charset="0"/>
                                </a:rPr>
                                <m:t>𝜕</m:t>
                              </m:r>
                              <m:sSub>
                                <m:sSubPr>
                                  <m:ctrlPr>
                                    <a:rPr lang="ar-AE" sz="1800" i="1">
                                      <a:latin typeface="Cambria Math" panose="02040503050406030204" pitchFamily="18" charset="0"/>
                                    </a:rPr>
                                  </m:ctrlPr>
                                </m:sSubPr>
                                <m:e>
                                  <m:r>
                                    <a:rPr lang="ar-AE" sz="1800" i="1">
                                      <a:latin typeface="Cambria Math" panose="02040503050406030204" pitchFamily="18" charset="0"/>
                                    </a:rPr>
                                    <m:t>h</m:t>
                                  </m:r>
                                </m:e>
                                <m:sub>
                                  <m:r>
                                    <a:rPr lang="ar-AE" sz="1800" i="1">
                                      <a:latin typeface="Cambria Math" panose="02040503050406030204" pitchFamily="18" charset="0"/>
                                    </a:rPr>
                                    <m:t>𝑡</m:t>
                                  </m:r>
                                </m:sub>
                              </m:sSub>
                            </m:den>
                          </m:f>
                        </m:e>
                      </m:nary>
                      <m:f>
                        <m:fPr>
                          <m:ctrlPr>
                            <a:rPr lang="ar-AE" sz="1800" i="1">
                              <a:latin typeface="Cambria Math" panose="02040503050406030204" pitchFamily="18" charset="0"/>
                            </a:rPr>
                          </m:ctrlPr>
                        </m:fPr>
                        <m:num>
                          <m:r>
                            <a:rPr lang="ar-AE" sz="1800">
                              <a:latin typeface="Cambria Math" panose="02040503050406030204" pitchFamily="18" charset="0"/>
                            </a:rPr>
                            <m:t>𝜕</m:t>
                          </m:r>
                          <m:sSub>
                            <m:sSubPr>
                              <m:ctrlPr>
                                <a:rPr lang="ar-AE" sz="1800" i="1">
                                  <a:latin typeface="Cambria Math" panose="02040503050406030204" pitchFamily="18" charset="0"/>
                                </a:rPr>
                              </m:ctrlPr>
                            </m:sSubPr>
                            <m:e>
                              <m:r>
                                <a:rPr lang="ar-AE" sz="1800" i="1">
                                  <a:latin typeface="Cambria Math" panose="02040503050406030204" pitchFamily="18" charset="0"/>
                                </a:rPr>
                                <m:t>h</m:t>
                              </m:r>
                            </m:e>
                            <m:sub>
                              <m:r>
                                <a:rPr lang="ar-AE" sz="1800" i="1">
                                  <a:latin typeface="Cambria Math" panose="02040503050406030204" pitchFamily="18" charset="0"/>
                                </a:rPr>
                                <m:t>𝑡</m:t>
                              </m:r>
                            </m:sub>
                          </m:sSub>
                        </m:num>
                        <m:den>
                          <m:r>
                            <a:rPr lang="ar-AE" sz="1800">
                              <a:latin typeface="Cambria Math" panose="02040503050406030204" pitchFamily="18" charset="0"/>
                            </a:rPr>
                            <m:t>𝜕</m:t>
                          </m:r>
                          <m:sSub>
                            <m:sSubPr>
                              <m:ctrlPr>
                                <a:rPr lang="ar-AE" sz="1800" i="1">
                                  <a:latin typeface="Cambria Math" panose="02040503050406030204" pitchFamily="18" charset="0"/>
                                </a:rPr>
                              </m:ctrlPr>
                            </m:sSubPr>
                            <m:e>
                              <m:r>
                                <a:rPr lang="ar-AE" sz="1800" i="1">
                                  <a:latin typeface="Cambria Math" panose="02040503050406030204" pitchFamily="18" charset="0"/>
                                </a:rPr>
                                <m:t>𝑊</m:t>
                              </m:r>
                            </m:e>
                            <m:sub>
                              <m:r>
                                <a:rPr lang="ar-AE" sz="1800" i="1">
                                  <a:latin typeface="Cambria Math" panose="02040503050406030204" pitchFamily="18" charset="0"/>
                                </a:rPr>
                                <m:t>h</m:t>
                              </m:r>
                            </m:sub>
                          </m:sSub>
                        </m:den>
                      </m:f>
                    </m:oMath>
                  </m:oMathPara>
                </a14:m>
                <a:endParaRPr lang="en-GB" sz="1800" dirty="0"/>
              </a:p>
              <a:p>
                <a:pPr lvl="1"/>
                <a:endParaRPr lang="es-ES" sz="1800" dirty="0"/>
              </a:p>
              <a:p>
                <a:r>
                  <a:rPr sz="2000" dirty="0"/>
                  <a:t>Recursive dependency on previous time steps</a:t>
                </a:r>
                <a:endParaRPr lang="es-ES" sz="2000" dirty="0"/>
              </a:p>
              <a:p>
                <a:endParaRPr sz="2000" dirty="0"/>
              </a:p>
              <a:p>
                <a:r>
                  <a:rPr sz="2000" dirty="0"/>
                  <a:t>Computational challenges for long sequences</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815"/>
                </a:stretch>
              </a:blipFill>
            </p:spPr>
            <p:txBody>
              <a:bodyPr/>
              <a:lstStyle/>
              <a:p>
                <a:r>
                  <a:rPr lang="es-ES">
                    <a:noFill/>
                  </a:rPr>
                  <a:t> </a:t>
                </a:r>
              </a:p>
            </p:txBody>
          </p:sp>
        </mc:Fallback>
      </mc:AlternateContent>
    </p:spTree>
  </p:cSld>
  <p:clrMapOvr>
    <a:masterClrMapping/>
  </p:clrMapOvr>
  <p:transition>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D89C63-BF39-12DC-2E11-0B695747E3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58E1A0-1527-5F6C-63F8-54A49DC0216E}"/>
              </a:ext>
            </a:extLst>
          </p:cNvPr>
          <p:cNvSpPr>
            <a:spLocks noGrp="1"/>
          </p:cNvSpPr>
          <p:nvPr>
            <p:ph type="title"/>
          </p:nvPr>
        </p:nvSpPr>
        <p:spPr/>
        <p:txBody>
          <a:bodyPr/>
          <a:lstStyle/>
          <a:p>
            <a:r>
              <a:t>Backpropagation Through Time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D7AB40D-7351-E4BE-A874-7277E4E235EE}"/>
                  </a:ext>
                </a:extLst>
              </p:cNvPr>
              <p:cNvSpPr>
                <a:spLocks noGrp="1"/>
              </p:cNvSpPr>
              <p:nvPr>
                <p:ph idx="1"/>
              </p:nvPr>
            </p:nvSpPr>
            <p:spPr>
              <a:xfrm>
                <a:off x="457200" y="1600200"/>
                <a:ext cx="8229600" cy="5145157"/>
              </a:xfrm>
            </p:spPr>
            <p:txBody>
              <a:bodyPr>
                <a:noAutofit/>
              </a:bodyPr>
              <a:lstStyle/>
              <a:p>
                <a:pPr marL="0" indent="0">
                  <a:buNone/>
                </a:pPr>
                <a:endParaRPr lang="ar-AE" sz="2000" dirty="0"/>
              </a:p>
              <a:p>
                <a:r>
                  <a:rPr lang="es-ES" sz="2000" dirty="0" err="1"/>
                  <a:t>How</a:t>
                </a:r>
                <a:r>
                  <a:rPr lang="es-ES" sz="2000" dirty="0"/>
                  <a:t> </a:t>
                </a:r>
                <a:r>
                  <a:rPr lang="es-ES" sz="2000" dirty="0" err="1"/>
                  <a:t>does</a:t>
                </a:r>
                <a:r>
                  <a:rPr lang="es-ES" sz="2000" dirty="0"/>
                  <a:t> </a:t>
                </a:r>
                <a:r>
                  <a:rPr lang="es-ES" sz="2000" dirty="0" err="1"/>
                  <a:t>the</a:t>
                </a:r>
                <a:r>
                  <a:rPr lang="es-ES" sz="2000" dirty="0"/>
                  <a:t> </a:t>
                </a:r>
                <a:r>
                  <a:rPr lang="es-ES" sz="2000" dirty="0" err="1"/>
                  <a:t>recurrent</a:t>
                </a:r>
                <a:r>
                  <a:rPr lang="es-ES" sz="2000" dirty="0"/>
                  <a:t> </a:t>
                </a:r>
                <a:r>
                  <a:rPr lang="es-ES" sz="2000" dirty="0" err="1"/>
                  <a:t>weight</a:t>
                </a:r>
                <a:r>
                  <a:rPr lang="es-ES" sz="2000" dirty="0"/>
                  <a:t> </a:t>
                </a:r>
                <a14:m>
                  <m:oMath xmlns:m="http://schemas.openxmlformats.org/officeDocument/2006/math">
                    <m:sSub>
                      <m:sSubPr>
                        <m:ctrlPr>
                          <a:rPr lang="ar-AE" sz="2000" i="1">
                            <a:latin typeface="Cambria Math" panose="02040503050406030204" pitchFamily="18" charset="0"/>
                          </a:rPr>
                        </m:ctrlPr>
                      </m:sSubPr>
                      <m:e>
                        <m:r>
                          <a:rPr lang="ar-AE" sz="2000" b="0" i="1">
                            <a:latin typeface="Cambria Math" panose="02040503050406030204" pitchFamily="18" charset="0"/>
                          </a:rPr>
                          <m:t>𝑊</m:t>
                        </m:r>
                      </m:e>
                      <m:sub>
                        <m:r>
                          <a:rPr lang="ar-AE" sz="2000" b="0" i="1">
                            <a:latin typeface="Cambria Math" panose="02040503050406030204" pitchFamily="18" charset="0"/>
                          </a:rPr>
                          <m:t>h</m:t>
                        </m:r>
                      </m:sub>
                    </m:sSub>
                  </m:oMath>
                </a14:m>
                <a:r>
                  <a:rPr lang="es-ES" sz="2000" dirty="0" err="1"/>
                  <a:t>affect</a:t>
                </a:r>
                <a:r>
                  <a:rPr lang="es-ES" sz="2000" dirty="0"/>
                  <a:t> </a:t>
                </a:r>
                <a:r>
                  <a:rPr lang="es-ES" sz="2000" dirty="0" err="1"/>
                  <a:t>the</a:t>
                </a:r>
                <a:r>
                  <a:rPr lang="es-ES" sz="2000" dirty="0"/>
                  <a:t> final </a:t>
                </a:r>
                <a:r>
                  <a:rPr lang="es-ES" sz="2000" dirty="0" err="1"/>
                  <a:t>loss</a:t>
                </a:r>
                <a:r>
                  <a:rPr lang="es-ES" sz="2000" dirty="0"/>
                  <a:t>?</a:t>
                </a:r>
              </a:p>
              <a:p>
                <a:r>
                  <a:rPr lang="es-ES" sz="2000" dirty="0" err="1"/>
                  <a:t>We</a:t>
                </a:r>
                <a:r>
                  <a:rPr lang="es-ES" sz="2000" dirty="0"/>
                  <a:t> </a:t>
                </a:r>
                <a:r>
                  <a:rPr lang="es-ES" sz="2000" dirty="0" err="1"/>
                  <a:t>want</a:t>
                </a:r>
                <a:r>
                  <a:rPr lang="es-ES" sz="2000" dirty="0"/>
                  <a:t> </a:t>
                </a:r>
                <a:r>
                  <a:rPr lang="es-ES" sz="2000" dirty="0" err="1"/>
                  <a:t>to</a:t>
                </a:r>
                <a:r>
                  <a:rPr lang="es-ES" sz="2000" dirty="0"/>
                  <a:t> compute:</a:t>
                </a:r>
              </a:p>
              <a:p>
                <a:pPr marL="0" indent="0">
                  <a:buNone/>
                </a:pPr>
                <a14:m>
                  <m:oMathPara xmlns:m="http://schemas.openxmlformats.org/officeDocument/2006/math">
                    <m:oMathParaPr>
                      <m:jc m:val="centerGroup"/>
                    </m:oMathParaPr>
                    <m:oMath xmlns:m="http://schemas.openxmlformats.org/officeDocument/2006/math">
                      <m:f>
                        <m:fPr>
                          <m:ctrlPr>
                            <a:rPr lang="ar-AE" sz="2000" i="1">
                              <a:latin typeface="Cambria Math" panose="02040503050406030204" pitchFamily="18" charset="0"/>
                            </a:rPr>
                          </m:ctrlPr>
                        </m:fPr>
                        <m:num>
                          <m:r>
                            <a:rPr lang="ar-AE" sz="2000">
                              <a:latin typeface="Cambria Math" panose="02040503050406030204" pitchFamily="18" charset="0"/>
                            </a:rPr>
                            <m:t>𝜕</m:t>
                          </m:r>
                          <m:r>
                            <a:rPr lang="ar-AE" sz="2000">
                              <a:latin typeface="Cambria Math" panose="02040503050406030204" pitchFamily="18" charset="0"/>
                            </a:rPr>
                            <m:t>ℒ</m:t>
                          </m:r>
                        </m:num>
                        <m:den>
                          <m:r>
                            <a:rPr lang="ar-AE" sz="2000">
                              <a:latin typeface="Cambria Math" panose="02040503050406030204" pitchFamily="18" charset="0"/>
                            </a:rPr>
                            <m:t>𝜕</m:t>
                          </m:r>
                          <m:sSub>
                            <m:sSubPr>
                              <m:ctrlPr>
                                <a:rPr lang="ar-AE" sz="2000" i="1">
                                  <a:latin typeface="Cambria Math" panose="02040503050406030204" pitchFamily="18" charset="0"/>
                                </a:rPr>
                              </m:ctrlPr>
                            </m:sSubPr>
                            <m:e>
                              <m:r>
                                <a:rPr lang="ar-AE" sz="2000">
                                  <a:latin typeface="Cambria Math" panose="02040503050406030204" pitchFamily="18" charset="0"/>
                                </a:rPr>
                                <m:t>𝑊</m:t>
                              </m:r>
                            </m:e>
                            <m:sub>
                              <m:r>
                                <a:rPr lang="ar-AE" sz="2000">
                                  <a:latin typeface="Cambria Math" panose="02040503050406030204" pitchFamily="18" charset="0"/>
                                </a:rPr>
                                <m:t>h</m:t>
                              </m:r>
                            </m:sub>
                          </m:sSub>
                        </m:den>
                      </m:f>
                    </m:oMath>
                  </m:oMathPara>
                </a14:m>
                <a:endParaRPr lang="ar-AE" sz="2000" dirty="0"/>
              </a:p>
              <a:p>
                <a:pPr marL="0" indent="0">
                  <a:buNone/>
                </a:pPr>
                <a:endParaRPr lang="es-ES" sz="2000" dirty="0"/>
              </a:p>
              <a:p>
                <a:pPr marL="0" indent="0">
                  <a:buNone/>
                </a:pPr>
                <a:endParaRPr lang="en-US" sz="2000" dirty="0"/>
              </a:p>
              <a:p>
                <a:pPr marL="0" indent="0">
                  <a:buNone/>
                </a:pPr>
                <a:r>
                  <a:rPr lang="en-US" sz="2000" dirty="0"/>
                  <a:t>Imagine a sequence of 4 step</a:t>
                </a:r>
                <a:r>
                  <a:rPr lang="es-ES" sz="2000" dirty="0"/>
                  <a:t>s:</a:t>
                </a:r>
              </a:p>
              <a:p>
                <a:pPr marL="0" indent="0">
                  <a:buNone/>
                </a:pPr>
                <a:r>
                  <a:rPr lang="es-ES" sz="2000" dirty="0"/>
                  <a:t>h1 → h2 → h3 → h4 → </a:t>
                </a:r>
                <a:r>
                  <a:rPr lang="es-ES" sz="2000" dirty="0" err="1"/>
                  <a:t>Loss</a:t>
                </a:r>
                <a:endParaRPr lang="es-ES" sz="2000" dirty="0"/>
              </a:p>
              <a:p>
                <a:pPr marL="0" indent="0">
                  <a:buNone/>
                </a:pPr>
                <a:r>
                  <a:rPr lang="en-US" sz="2000" dirty="0"/>
                  <a:t>Each state depends on the previous one</a:t>
                </a:r>
                <a:br>
                  <a:rPr lang="es-ES" sz="2000" dirty="0"/>
                </a:br>
                <a:endParaRPr lang="es-ES" sz="2000" dirty="0"/>
              </a:p>
              <a:p>
                <a:pPr lvl="1"/>
                <a:endParaRPr lang="es-ES" dirty="0"/>
              </a:p>
            </p:txBody>
          </p:sp>
        </mc:Choice>
        <mc:Fallback xmlns="">
          <p:sp>
            <p:nvSpPr>
              <p:cNvPr id="3" name="Content Placeholder 2">
                <a:extLst>
                  <a:ext uri="{FF2B5EF4-FFF2-40B4-BE49-F238E27FC236}">
                    <a16:creationId xmlns:a16="http://schemas.microsoft.com/office/drawing/2014/main" id="{1D7AB40D-7351-E4BE-A874-7277E4E235EE}"/>
                  </a:ext>
                </a:extLst>
              </p:cNvPr>
              <p:cNvSpPr>
                <a:spLocks noGrp="1" noRot="1" noChangeAspect="1" noMove="1" noResize="1" noEditPoints="1" noAdjustHandles="1" noChangeArrowheads="1" noChangeShapeType="1" noTextEdit="1"/>
              </p:cNvSpPr>
              <p:nvPr>
                <p:ph idx="1"/>
              </p:nvPr>
            </p:nvSpPr>
            <p:spPr>
              <a:xfrm>
                <a:off x="457200" y="1600200"/>
                <a:ext cx="8229600" cy="5145157"/>
              </a:xfrm>
              <a:blipFill>
                <a:blip r:embed="rId3"/>
                <a:stretch>
                  <a:fillRect l="-815"/>
                </a:stretch>
              </a:blipFill>
            </p:spPr>
            <p:txBody>
              <a:bodyPr/>
              <a:lstStyle/>
              <a:p>
                <a:r>
                  <a:rPr lang="es-ES">
                    <a:noFill/>
                  </a:rPr>
                  <a:t> </a:t>
                </a:r>
              </a:p>
            </p:txBody>
          </p:sp>
        </mc:Fallback>
      </mc:AlternateContent>
    </p:spTree>
    <p:extLst>
      <p:ext uri="{BB962C8B-B14F-4D97-AF65-F5344CB8AC3E}">
        <p14:creationId xmlns:p14="http://schemas.microsoft.com/office/powerpoint/2010/main" val="1657469980"/>
      </p:ext>
    </p:extLst>
  </p:cSld>
  <p:clrMapOvr>
    <a:masterClrMapping/>
  </p:clrMapOvr>
  <p:transition>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1E21CF-7AFA-950F-AF28-C8CF6C4F41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A0C24E-7DF3-94D9-2477-AE68A85754A3}"/>
              </a:ext>
            </a:extLst>
          </p:cNvPr>
          <p:cNvSpPr>
            <a:spLocks noGrp="1"/>
          </p:cNvSpPr>
          <p:nvPr>
            <p:ph type="title"/>
          </p:nvPr>
        </p:nvSpPr>
        <p:spPr/>
        <p:txBody>
          <a:bodyPr/>
          <a:lstStyle/>
          <a:p>
            <a:r>
              <a:t>Backpropagation Through Time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6403773-9B8F-0A46-C75F-B015397FDA28}"/>
                  </a:ext>
                </a:extLst>
              </p:cNvPr>
              <p:cNvSpPr>
                <a:spLocks noGrp="1"/>
              </p:cNvSpPr>
              <p:nvPr>
                <p:ph idx="1"/>
              </p:nvPr>
            </p:nvSpPr>
            <p:spPr>
              <a:xfrm>
                <a:off x="457200" y="1600200"/>
                <a:ext cx="8229600" cy="5145157"/>
              </a:xfrm>
            </p:spPr>
            <p:txBody>
              <a:bodyPr>
                <a:noAutofit/>
              </a:bodyPr>
              <a:lstStyle/>
              <a:p>
                <a:pPr marL="0" indent="0">
                  <a:buNone/>
                </a:pPr>
                <a:r>
                  <a:rPr lang="es-ES" sz="2000" b="1" dirty="0"/>
                  <a:t> Step 1 – Key idea</a:t>
                </a:r>
              </a:p>
              <a:p>
                <a:pPr marL="0" indent="0">
                  <a:buNone/>
                </a:pPr>
                <a:endParaRPr lang="en-US" sz="2000" dirty="0"/>
              </a:p>
              <a:p>
                <a:pPr marL="0" indent="0">
                  <a:buNone/>
                </a:pPr>
                <a:r>
                  <a:rPr lang="en-US" sz="2000" dirty="0"/>
                  <a:t>The final error depends on</a:t>
                </a:r>
                <a:r>
                  <a:rPr lang="es-ES" sz="2000" dirty="0"/>
                  <a:t>:</a:t>
                </a:r>
              </a:p>
              <a:p>
                <a:pPr marL="0" indent="0">
                  <a:buNone/>
                </a:pPr>
                <a14:m>
                  <m:oMathPara xmlns:m="http://schemas.openxmlformats.org/officeDocument/2006/math">
                    <m:oMathParaPr>
                      <m:jc m:val="centerGroup"/>
                    </m:oMathParaPr>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h</m:t>
                          </m:r>
                        </m:e>
                        <m:sub>
                          <m:r>
                            <a:rPr lang="ar-AE" sz="2000">
                              <a:latin typeface="Cambria Math" panose="02040503050406030204" pitchFamily="18" charset="0"/>
                            </a:rPr>
                            <m:t>4</m:t>
                          </m:r>
                        </m:sub>
                      </m:sSub>
                    </m:oMath>
                  </m:oMathPara>
                </a14:m>
                <a:endParaRPr lang="ar-AE" sz="2000" dirty="0"/>
              </a:p>
              <a:p>
                <a:pPr marL="0" indent="0">
                  <a:buNone/>
                </a:pPr>
                <a:r>
                  <a:rPr lang="es-ES" sz="2000" dirty="0" err="1"/>
                  <a:t>But</a:t>
                </a:r>
                <a:r>
                  <a:rPr lang="es-ES" sz="2000" dirty="0"/>
                  <a:t> </a:t>
                </a:r>
                <a14:m>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h</m:t>
                        </m:r>
                      </m:e>
                      <m:sub>
                        <m:r>
                          <a:rPr lang="ar-AE" sz="2000">
                            <a:latin typeface="Cambria Math" panose="02040503050406030204" pitchFamily="18" charset="0"/>
                          </a:rPr>
                          <m:t>4</m:t>
                        </m:r>
                      </m:sub>
                    </m:sSub>
                  </m:oMath>
                </a14:m>
                <a:r>
                  <a:rPr lang="es-ES" sz="2000" dirty="0" err="1"/>
                  <a:t>depends</a:t>
                </a:r>
                <a:r>
                  <a:rPr lang="es-ES" sz="2000" dirty="0"/>
                  <a:t> </a:t>
                </a:r>
                <a:r>
                  <a:rPr lang="es-ES" sz="2000" dirty="0" err="1"/>
                  <a:t>on</a:t>
                </a:r>
                <a:r>
                  <a:rPr lang="es-ES" sz="2000" dirty="0"/>
                  <a:t>:</a:t>
                </a:r>
              </a:p>
              <a:p>
                <a:pPr marL="0" indent="0">
                  <a:buNone/>
                </a:pPr>
                <a14:m>
                  <m:oMathPara xmlns:m="http://schemas.openxmlformats.org/officeDocument/2006/math">
                    <m:oMathParaPr>
                      <m:jc m:val="centerGroup"/>
                    </m:oMathParaPr>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h</m:t>
                          </m:r>
                        </m:e>
                        <m:sub>
                          <m:r>
                            <a:rPr lang="ar-AE" sz="2000">
                              <a:latin typeface="Cambria Math" panose="02040503050406030204" pitchFamily="18" charset="0"/>
                            </a:rPr>
                            <m:t>3</m:t>
                          </m:r>
                        </m:sub>
                      </m:sSub>
                    </m:oMath>
                  </m:oMathPara>
                </a14:m>
                <a:endParaRPr lang="ar-AE" sz="2000" dirty="0"/>
              </a:p>
              <a:p>
                <a:pPr marL="0" indent="0">
                  <a:buNone/>
                </a:pPr>
                <a:r>
                  <a:rPr lang="es-ES" sz="2000" dirty="0"/>
                  <a:t>And </a:t>
                </a:r>
                <a14:m>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h</m:t>
                        </m:r>
                      </m:e>
                      <m:sub>
                        <m:r>
                          <a:rPr lang="ar-AE" sz="2000">
                            <a:latin typeface="Cambria Math" panose="02040503050406030204" pitchFamily="18" charset="0"/>
                          </a:rPr>
                          <m:t>3</m:t>
                        </m:r>
                      </m:sub>
                    </m:sSub>
                  </m:oMath>
                </a14:m>
                <a:r>
                  <a:rPr lang="es-ES" sz="2000" dirty="0" err="1"/>
                  <a:t>depends</a:t>
                </a:r>
                <a:r>
                  <a:rPr lang="es-ES" sz="2000" dirty="0"/>
                  <a:t> </a:t>
                </a:r>
                <a:r>
                  <a:rPr lang="es-ES" sz="2000" dirty="0" err="1"/>
                  <a:t>on</a:t>
                </a:r>
                <a:r>
                  <a:rPr lang="es-ES" sz="2000" dirty="0"/>
                  <a:t>:</a:t>
                </a:r>
              </a:p>
              <a:p>
                <a:pPr marL="0" indent="0">
                  <a:buNone/>
                </a:pPr>
                <a14:m>
                  <m:oMathPara xmlns:m="http://schemas.openxmlformats.org/officeDocument/2006/math">
                    <m:oMathParaPr>
                      <m:jc m:val="centerGroup"/>
                    </m:oMathParaPr>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h</m:t>
                          </m:r>
                        </m:e>
                        <m:sub>
                          <m:r>
                            <a:rPr lang="ar-AE" sz="2000">
                              <a:latin typeface="Cambria Math" panose="02040503050406030204" pitchFamily="18" charset="0"/>
                            </a:rPr>
                            <m:t>2</m:t>
                          </m:r>
                        </m:sub>
                      </m:sSub>
                    </m:oMath>
                  </m:oMathPara>
                </a14:m>
                <a:endParaRPr lang="ar-AE" sz="2000" dirty="0"/>
              </a:p>
              <a:p>
                <a:endParaRPr lang="es-ES" sz="2000" dirty="0"/>
              </a:p>
              <a:p>
                <a:pPr marL="0" indent="0">
                  <a:buNone/>
                </a:pPr>
                <a:r>
                  <a:rPr lang="en-US" sz="2000" dirty="0"/>
                  <a:t> And so on</a:t>
                </a:r>
              </a:p>
              <a:p>
                <a:pPr marL="0" indent="0">
                  <a:buNone/>
                </a:pPr>
                <a:endParaRPr lang="en-US" sz="2000" dirty="0"/>
              </a:p>
              <a:p>
                <a:pPr marL="0" indent="0">
                  <a:buNone/>
                </a:pPr>
                <a:r>
                  <a:rPr lang="en-US" sz="2000" dirty="0"/>
                  <a:t>Therefore: </a:t>
                </a:r>
              </a:p>
              <a:p>
                <a:pPr marL="0" indent="0">
                  <a:buNone/>
                </a:pPr>
                <a:r>
                  <a:rPr lang="en-US" sz="2000" dirty="0"/>
                  <a:t>The error flows backwards step by step.</a:t>
                </a:r>
                <a:endParaRPr lang="es-ES" sz="2000" dirty="0"/>
              </a:p>
              <a:p>
                <a:pPr marL="0" indent="0">
                  <a:buNone/>
                </a:pPr>
                <a:endParaRPr lang="es-ES" sz="2000" dirty="0"/>
              </a:p>
              <a:p>
                <a:pPr lvl="1"/>
                <a:endParaRPr lang="es-ES" dirty="0"/>
              </a:p>
            </p:txBody>
          </p:sp>
        </mc:Choice>
        <mc:Fallback>
          <p:sp>
            <p:nvSpPr>
              <p:cNvPr id="3" name="Content Placeholder 2">
                <a:extLst>
                  <a:ext uri="{FF2B5EF4-FFF2-40B4-BE49-F238E27FC236}">
                    <a16:creationId xmlns:a16="http://schemas.microsoft.com/office/drawing/2014/main" id="{A6403773-9B8F-0A46-C75F-B015397FDA28}"/>
                  </a:ext>
                </a:extLst>
              </p:cNvPr>
              <p:cNvSpPr>
                <a:spLocks noGrp="1" noRot="1" noChangeAspect="1" noMove="1" noResize="1" noEditPoints="1" noAdjustHandles="1" noChangeArrowheads="1" noChangeShapeType="1" noTextEdit="1"/>
              </p:cNvSpPr>
              <p:nvPr>
                <p:ph idx="1"/>
              </p:nvPr>
            </p:nvSpPr>
            <p:spPr>
              <a:xfrm>
                <a:off x="457200" y="1600200"/>
                <a:ext cx="8229600" cy="5145157"/>
              </a:xfrm>
              <a:blipFill>
                <a:blip r:embed="rId3"/>
                <a:stretch>
                  <a:fillRect l="-741" t="-711"/>
                </a:stretch>
              </a:blipFill>
            </p:spPr>
            <p:txBody>
              <a:bodyPr/>
              <a:lstStyle/>
              <a:p>
                <a:r>
                  <a:rPr lang="es-ES">
                    <a:noFill/>
                  </a:rPr>
                  <a:t> </a:t>
                </a:r>
              </a:p>
            </p:txBody>
          </p:sp>
        </mc:Fallback>
      </mc:AlternateContent>
    </p:spTree>
    <p:extLst>
      <p:ext uri="{BB962C8B-B14F-4D97-AF65-F5344CB8AC3E}">
        <p14:creationId xmlns:p14="http://schemas.microsoft.com/office/powerpoint/2010/main" val="2166446578"/>
      </p:ext>
    </p:extLst>
  </p:cSld>
  <p:clrMapOvr>
    <a:masterClrMapping/>
  </p:clrMapOvr>
  <p:transition>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FCDAA4-54B1-940F-77A5-5C5E7F061F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238476-45E2-249D-0BDD-FDED175AE66B}"/>
              </a:ext>
            </a:extLst>
          </p:cNvPr>
          <p:cNvSpPr>
            <a:spLocks noGrp="1"/>
          </p:cNvSpPr>
          <p:nvPr>
            <p:ph type="title"/>
          </p:nvPr>
        </p:nvSpPr>
        <p:spPr/>
        <p:txBody>
          <a:bodyPr/>
          <a:lstStyle/>
          <a:p>
            <a:r>
              <a:t>Backpropagation Through Time</a:t>
            </a:r>
          </a:p>
        </p:txBody>
      </p:sp>
      <p:sp>
        <p:nvSpPr>
          <p:cNvPr id="3" name="Content Placeholder 2">
            <a:extLst>
              <a:ext uri="{FF2B5EF4-FFF2-40B4-BE49-F238E27FC236}">
                <a16:creationId xmlns:a16="http://schemas.microsoft.com/office/drawing/2014/main" id="{B928407A-3151-E334-860C-0E2AE89245EC}"/>
              </a:ext>
            </a:extLst>
          </p:cNvPr>
          <p:cNvSpPr>
            <a:spLocks noGrp="1"/>
          </p:cNvSpPr>
          <p:nvPr>
            <p:ph idx="1"/>
          </p:nvPr>
        </p:nvSpPr>
        <p:spPr>
          <a:xfrm>
            <a:off x="457200" y="1600200"/>
            <a:ext cx="8229600" cy="5145157"/>
          </a:xfrm>
        </p:spPr>
        <p:txBody>
          <a:bodyPr>
            <a:noAutofit/>
          </a:bodyPr>
          <a:lstStyle/>
          <a:p>
            <a:pPr marL="0" indent="0">
              <a:buNone/>
            </a:pPr>
            <a:r>
              <a:rPr lang="es-ES" sz="2000" b="1" dirty="0"/>
              <a:t> Step 2 – </a:t>
            </a:r>
            <a:r>
              <a:rPr lang="es-ES" sz="2000" b="1" dirty="0" err="1"/>
              <a:t>What</a:t>
            </a:r>
            <a:r>
              <a:rPr lang="es-ES" sz="2000" b="1" dirty="0"/>
              <a:t> </a:t>
            </a:r>
            <a:r>
              <a:rPr lang="es-ES" sz="2000" b="1" dirty="0" err="1"/>
              <a:t>does</a:t>
            </a:r>
            <a:r>
              <a:rPr lang="es-ES" sz="2000" b="1" dirty="0"/>
              <a:t> “</a:t>
            </a:r>
            <a:r>
              <a:rPr lang="es-ES" sz="2000" b="1" dirty="0" err="1"/>
              <a:t>backpropagation</a:t>
            </a:r>
            <a:r>
              <a:rPr lang="es-ES" sz="2000" b="1" dirty="0"/>
              <a:t> </a:t>
            </a:r>
            <a:r>
              <a:rPr lang="es-ES" sz="2000" b="1" dirty="0" err="1"/>
              <a:t>through</a:t>
            </a:r>
            <a:r>
              <a:rPr lang="es-ES" sz="2000" b="1" dirty="0"/>
              <a:t> time”</a:t>
            </a:r>
          </a:p>
          <a:p>
            <a:pPr marL="0" indent="0">
              <a:buNone/>
            </a:pPr>
            <a:endParaRPr lang="es-ES" sz="2000" b="1" dirty="0"/>
          </a:p>
          <a:p>
            <a:r>
              <a:rPr lang="en-US" sz="2000" dirty="0"/>
              <a:t>A normal deep network: </a:t>
            </a:r>
          </a:p>
          <a:p>
            <a:pPr lvl="1"/>
            <a:r>
              <a:rPr lang="en-US" sz="1800" dirty="0"/>
              <a:t>Error propagates backwards layer by layer. </a:t>
            </a:r>
          </a:p>
          <a:p>
            <a:endParaRPr lang="en-US" sz="2000" dirty="0"/>
          </a:p>
          <a:p>
            <a:r>
              <a:rPr lang="en-US" sz="2000" dirty="0"/>
              <a:t>An RNN: </a:t>
            </a:r>
          </a:p>
          <a:p>
            <a:pPr lvl="1"/>
            <a:r>
              <a:rPr lang="en-US" sz="1800" dirty="0"/>
              <a:t>Error propagates backwards time step by time step. </a:t>
            </a:r>
          </a:p>
          <a:p>
            <a:endParaRPr lang="en-US" sz="2000" dirty="0"/>
          </a:p>
          <a:p>
            <a:r>
              <a:rPr lang="en-US" sz="2000" dirty="0"/>
              <a:t>Exactly the same, but instead of spatial layers, they are layers in time.</a:t>
            </a:r>
            <a:endParaRPr lang="es-ES" sz="2000" dirty="0"/>
          </a:p>
          <a:p>
            <a:pPr marL="0" indent="0">
              <a:buNone/>
            </a:pPr>
            <a:r>
              <a:rPr lang="es-ES" sz="2000" b="1" dirty="0"/>
              <a:t> </a:t>
            </a:r>
            <a:endParaRPr lang="es-ES" sz="2000" dirty="0"/>
          </a:p>
        </p:txBody>
      </p:sp>
    </p:spTree>
    <p:extLst>
      <p:ext uri="{BB962C8B-B14F-4D97-AF65-F5344CB8AC3E}">
        <p14:creationId xmlns:p14="http://schemas.microsoft.com/office/powerpoint/2010/main" val="3066454560"/>
      </p:ext>
    </p:extLst>
  </p:cSld>
  <p:clrMapOvr>
    <a:masterClrMapping/>
  </p:clrMapOvr>
  <p:transition>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31DAE-D349-3280-59DB-52AC872A6A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0A4C92-E506-0A52-1AB3-EC54DA24D275}"/>
              </a:ext>
            </a:extLst>
          </p:cNvPr>
          <p:cNvSpPr>
            <a:spLocks noGrp="1"/>
          </p:cNvSpPr>
          <p:nvPr>
            <p:ph type="title"/>
          </p:nvPr>
        </p:nvSpPr>
        <p:spPr/>
        <p:txBody>
          <a:bodyPr/>
          <a:lstStyle/>
          <a:p>
            <a:r>
              <a:t>Backpropagation Through Time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C2764E3-E880-50CF-C456-68CF184AFD96}"/>
                  </a:ext>
                </a:extLst>
              </p:cNvPr>
              <p:cNvSpPr>
                <a:spLocks noGrp="1"/>
              </p:cNvSpPr>
              <p:nvPr>
                <p:ph idx="1"/>
              </p:nvPr>
            </p:nvSpPr>
            <p:spPr>
              <a:xfrm>
                <a:off x="457200" y="1600200"/>
                <a:ext cx="8229600" cy="5145157"/>
              </a:xfrm>
            </p:spPr>
            <p:txBody>
              <a:bodyPr>
                <a:noAutofit/>
              </a:bodyPr>
              <a:lstStyle/>
              <a:p>
                <a:pPr marL="0" indent="0">
                  <a:buNone/>
                </a:pPr>
                <a:r>
                  <a:rPr lang="es-ES" sz="2000" b="1" dirty="0"/>
                  <a:t> Step 3 – </a:t>
                </a:r>
                <a:r>
                  <a:rPr lang="es-ES" sz="2000" b="1" dirty="0" err="1"/>
                  <a:t>What</a:t>
                </a:r>
                <a:r>
                  <a:rPr lang="es-ES" sz="2000" b="1" dirty="0"/>
                  <a:t> </a:t>
                </a:r>
                <a:r>
                  <a:rPr lang="es-ES" sz="2000" b="1" dirty="0" err="1"/>
                  <a:t>does</a:t>
                </a:r>
                <a:r>
                  <a:rPr lang="es-ES" sz="2000" b="1" dirty="0"/>
                  <a:t> “</a:t>
                </a:r>
                <a:r>
                  <a:rPr lang="es-ES" sz="2000" b="1" dirty="0" err="1"/>
                  <a:t>backpropagation</a:t>
                </a:r>
                <a:r>
                  <a:rPr lang="es-ES" sz="2000" b="1" dirty="0"/>
                  <a:t> </a:t>
                </a:r>
                <a:r>
                  <a:rPr lang="es-ES" sz="2000" b="1" dirty="0" err="1"/>
                  <a:t>through</a:t>
                </a:r>
                <a:r>
                  <a:rPr lang="es-ES" sz="2000" b="1" dirty="0"/>
                  <a:t> time”</a:t>
                </a:r>
              </a:p>
              <a:p>
                <a:endParaRPr lang="en-US" sz="2000" dirty="0"/>
              </a:p>
              <a:p>
                <a:r>
                  <a:rPr lang="en-US" sz="2000" dirty="0"/>
                  <a:t>Each time the error goes back one step in time: </a:t>
                </a:r>
              </a:p>
              <a:p>
                <a:pPr lvl="1"/>
                <a:r>
                  <a:rPr lang="en-US" sz="1800" dirty="0"/>
                  <a:t>It is multiplied by something (derived from the transition).</a:t>
                </a:r>
              </a:p>
              <a:p>
                <a:r>
                  <a:rPr lang="en-US" sz="2000" dirty="0"/>
                  <a:t>Then: </a:t>
                </a:r>
              </a:p>
              <a:p>
                <a:pPr lvl="1"/>
                <a:r>
                  <a:rPr lang="en-US" sz="1800" dirty="0"/>
                  <a:t>To go from</a:t>
                </a:r>
                <a:r>
                  <a:rPr lang="es-ES" sz="1800" dirty="0"/>
                  <a:t> </a:t>
                </a:r>
                <a14:m>
                  <m:oMath xmlns:m="http://schemas.openxmlformats.org/officeDocument/2006/math">
                    <m:sSub>
                      <m:sSubPr>
                        <m:ctrlPr>
                          <a:rPr lang="es-ES" sz="1800" i="1">
                            <a:latin typeface="Cambria Math" panose="02040503050406030204" pitchFamily="18" charset="0"/>
                          </a:rPr>
                        </m:ctrlPr>
                      </m:sSubPr>
                      <m:e>
                        <m:r>
                          <a:rPr lang="es-ES" sz="1800" i="1">
                            <a:latin typeface="Cambria Math" panose="02040503050406030204" pitchFamily="18" charset="0"/>
                          </a:rPr>
                          <m:t>h</m:t>
                        </m:r>
                      </m:e>
                      <m:sub>
                        <m:r>
                          <a:rPr lang="es-ES" sz="1800" i="1">
                            <a:latin typeface="Cambria Math" panose="02040503050406030204" pitchFamily="18" charset="0"/>
                          </a:rPr>
                          <m:t>4</m:t>
                        </m:r>
                      </m:sub>
                    </m:sSub>
                    <m:r>
                      <m:rPr>
                        <m:sty m:val="p"/>
                      </m:rPr>
                      <a:rPr lang="es-ES" sz="1800" b="0" i="0" smtClean="0">
                        <a:latin typeface="Cambria Math" panose="02040503050406030204" pitchFamily="18" charset="0"/>
                      </a:rPr>
                      <m:t>to</m:t>
                    </m:r>
                  </m:oMath>
                </a14:m>
                <a:r>
                  <a:rPr lang="es-ES" sz="1800" dirty="0"/>
                  <a:t> </a:t>
                </a:r>
                <a14:m>
                  <m:oMath xmlns:m="http://schemas.openxmlformats.org/officeDocument/2006/math">
                    <m:sSub>
                      <m:sSubPr>
                        <m:ctrlPr>
                          <a:rPr lang="es-ES" sz="1800" i="1">
                            <a:latin typeface="Cambria Math" panose="02040503050406030204" pitchFamily="18" charset="0"/>
                          </a:rPr>
                        </m:ctrlPr>
                      </m:sSubPr>
                      <m:e>
                        <m:r>
                          <a:rPr lang="es-ES" sz="1800" i="1">
                            <a:latin typeface="Cambria Math" panose="02040503050406030204" pitchFamily="18" charset="0"/>
                          </a:rPr>
                          <m:t>h</m:t>
                        </m:r>
                      </m:e>
                      <m:sub>
                        <m:r>
                          <a:rPr lang="es-ES" sz="1800" i="1">
                            <a:latin typeface="Cambria Math" panose="02040503050406030204" pitchFamily="18" charset="0"/>
                          </a:rPr>
                          <m:t>3</m:t>
                        </m:r>
                      </m:sub>
                    </m:sSub>
                  </m:oMath>
                </a14:m>
                <a:r>
                  <a:rPr lang="en-US" sz="1800" dirty="0"/>
                  <a:t>→ multiply once</a:t>
                </a:r>
              </a:p>
              <a:p>
                <a:pPr lvl="1"/>
                <a:r>
                  <a:rPr lang="en-US" sz="1800" dirty="0"/>
                  <a:t>To go from </a:t>
                </a:r>
                <a14:m>
                  <m:oMath xmlns:m="http://schemas.openxmlformats.org/officeDocument/2006/math">
                    <m:sSub>
                      <m:sSubPr>
                        <m:ctrlPr>
                          <a:rPr lang="es-ES" sz="1800" i="1">
                            <a:latin typeface="Cambria Math" panose="02040503050406030204" pitchFamily="18" charset="0"/>
                          </a:rPr>
                        </m:ctrlPr>
                      </m:sSubPr>
                      <m:e>
                        <m:r>
                          <a:rPr lang="es-ES" sz="1800" i="1">
                            <a:latin typeface="Cambria Math" panose="02040503050406030204" pitchFamily="18" charset="0"/>
                          </a:rPr>
                          <m:t>h</m:t>
                        </m:r>
                      </m:e>
                      <m:sub>
                        <m:r>
                          <a:rPr lang="es-ES" sz="1800" i="1">
                            <a:latin typeface="Cambria Math" panose="02040503050406030204" pitchFamily="18" charset="0"/>
                          </a:rPr>
                          <m:t>4</m:t>
                        </m:r>
                      </m:sub>
                    </m:sSub>
                    <m:r>
                      <m:rPr>
                        <m:sty m:val="p"/>
                      </m:rPr>
                      <a:rPr lang="es-ES" sz="1800">
                        <a:latin typeface="Cambria Math" panose="02040503050406030204" pitchFamily="18" charset="0"/>
                      </a:rPr>
                      <m:t>to</m:t>
                    </m:r>
                  </m:oMath>
                </a14:m>
                <a:r>
                  <a:rPr lang="es-ES" sz="1800" dirty="0"/>
                  <a:t> </a:t>
                </a:r>
                <a14:m>
                  <m:oMath xmlns:m="http://schemas.openxmlformats.org/officeDocument/2006/math">
                    <m:sSub>
                      <m:sSubPr>
                        <m:ctrlPr>
                          <a:rPr lang="es-ES" sz="1800" i="1">
                            <a:latin typeface="Cambria Math" panose="02040503050406030204" pitchFamily="18" charset="0"/>
                          </a:rPr>
                        </m:ctrlPr>
                      </m:sSubPr>
                      <m:e>
                        <m:r>
                          <a:rPr lang="es-ES" sz="1800" i="1">
                            <a:latin typeface="Cambria Math" panose="02040503050406030204" pitchFamily="18" charset="0"/>
                          </a:rPr>
                          <m:t>h</m:t>
                        </m:r>
                      </m:e>
                      <m:sub>
                        <m:r>
                          <a:rPr lang="es-ES" sz="1800" b="0" i="1" smtClean="0">
                            <a:latin typeface="Cambria Math" panose="02040503050406030204" pitchFamily="18" charset="0"/>
                          </a:rPr>
                          <m:t>2</m:t>
                        </m:r>
                      </m:sub>
                    </m:sSub>
                    <m:r>
                      <a:rPr lang="es-ES" sz="1800" i="1">
                        <a:latin typeface="Cambria Math" panose="02040503050406030204" pitchFamily="18" charset="0"/>
                      </a:rPr>
                      <m:t> </m:t>
                    </m:r>
                  </m:oMath>
                </a14:m>
                <a:r>
                  <a:rPr lang="en-US" sz="1800" dirty="0"/>
                  <a:t>→ multiply twice</a:t>
                </a:r>
              </a:p>
              <a:p>
                <a:pPr lvl="1"/>
                <a:r>
                  <a:rPr lang="en-US" sz="1800" dirty="0"/>
                  <a:t>To go from </a:t>
                </a:r>
                <a14:m>
                  <m:oMath xmlns:m="http://schemas.openxmlformats.org/officeDocument/2006/math">
                    <m:sSub>
                      <m:sSubPr>
                        <m:ctrlPr>
                          <a:rPr lang="es-ES" sz="1800" i="1">
                            <a:latin typeface="Cambria Math" panose="02040503050406030204" pitchFamily="18" charset="0"/>
                          </a:rPr>
                        </m:ctrlPr>
                      </m:sSubPr>
                      <m:e>
                        <m:r>
                          <a:rPr lang="es-ES" sz="1800" i="1">
                            <a:latin typeface="Cambria Math" panose="02040503050406030204" pitchFamily="18" charset="0"/>
                          </a:rPr>
                          <m:t>h</m:t>
                        </m:r>
                      </m:e>
                      <m:sub>
                        <m:r>
                          <a:rPr lang="es-ES" sz="1800" i="1">
                            <a:latin typeface="Cambria Math" panose="02040503050406030204" pitchFamily="18" charset="0"/>
                          </a:rPr>
                          <m:t>4</m:t>
                        </m:r>
                      </m:sub>
                    </m:sSub>
                    <m:r>
                      <m:rPr>
                        <m:sty m:val="p"/>
                      </m:rPr>
                      <a:rPr lang="es-ES" sz="1800">
                        <a:latin typeface="Cambria Math" panose="02040503050406030204" pitchFamily="18" charset="0"/>
                      </a:rPr>
                      <m:t>to</m:t>
                    </m:r>
                  </m:oMath>
                </a14:m>
                <a:r>
                  <a:rPr lang="es-ES" sz="1800" dirty="0"/>
                  <a:t> </a:t>
                </a:r>
                <a14:m>
                  <m:oMath xmlns:m="http://schemas.openxmlformats.org/officeDocument/2006/math">
                    <m:sSub>
                      <m:sSubPr>
                        <m:ctrlPr>
                          <a:rPr lang="es-ES" sz="1800" i="1">
                            <a:latin typeface="Cambria Math" panose="02040503050406030204" pitchFamily="18" charset="0"/>
                          </a:rPr>
                        </m:ctrlPr>
                      </m:sSubPr>
                      <m:e>
                        <m:r>
                          <a:rPr lang="es-ES" sz="1800" i="1">
                            <a:latin typeface="Cambria Math" panose="02040503050406030204" pitchFamily="18" charset="0"/>
                          </a:rPr>
                          <m:t>h</m:t>
                        </m:r>
                      </m:e>
                      <m:sub>
                        <m:r>
                          <a:rPr lang="es-ES" sz="1800" b="0" i="1" smtClean="0">
                            <a:latin typeface="Cambria Math" panose="02040503050406030204" pitchFamily="18" charset="0"/>
                          </a:rPr>
                          <m:t>1</m:t>
                        </m:r>
                      </m:sub>
                    </m:sSub>
                    <m:r>
                      <a:rPr lang="es-ES" sz="1800" i="1">
                        <a:latin typeface="Cambria Math" panose="02040503050406030204" pitchFamily="18" charset="0"/>
                      </a:rPr>
                      <m:t> </m:t>
                    </m:r>
                  </m:oMath>
                </a14:m>
                <a:r>
                  <a:rPr lang="en-US" sz="1800" dirty="0"/>
                  <a:t>→ multiply three times</a:t>
                </a:r>
              </a:p>
              <a:p>
                <a:pPr lvl="1"/>
                <a:endParaRPr lang="en-US" sz="1800" dirty="0"/>
              </a:p>
              <a:p>
                <a:pPr marL="57150" indent="0">
                  <a:buNone/>
                </a:pPr>
                <a:r>
                  <a:rPr lang="en-US" sz="2000" dirty="0"/>
                  <a:t>It is like applying the same filter many times in a row</a:t>
                </a:r>
                <a:endParaRPr lang="es-ES" sz="1800" dirty="0"/>
              </a:p>
            </p:txBody>
          </p:sp>
        </mc:Choice>
        <mc:Fallback xmlns="">
          <p:sp>
            <p:nvSpPr>
              <p:cNvPr id="3" name="Content Placeholder 2">
                <a:extLst>
                  <a:ext uri="{FF2B5EF4-FFF2-40B4-BE49-F238E27FC236}">
                    <a16:creationId xmlns:a16="http://schemas.microsoft.com/office/drawing/2014/main" id="{9C2764E3-E880-50CF-C456-68CF184AFD96}"/>
                  </a:ext>
                </a:extLst>
              </p:cNvPr>
              <p:cNvSpPr>
                <a:spLocks noGrp="1" noRot="1" noChangeAspect="1" noMove="1" noResize="1" noEditPoints="1" noAdjustHandles="1" noChangeArrowheads="1" noChangeShapeType="1" noTextEdit="1"/>
              </p:cNvSpPr>
              <p:nvPr>
                <p:ph idx="1"/>
              </p:nvPr>
            </p:nvSpPr>
            <p:spPr>
              <a:xfrm>
                <a:off x="457200" y="1600200"/>
                <a:ext cx="8229600" cy="5145157"/>
              </a:xfrm>
              <a:blipFill>
                <a:blip r:embed="rId3"/>
                <a:stretch>
                  <a:fillRect l="-815" t="-711"/>
                </a:stretch>
              </a:blipFill>
            </p:spPr>
            <p:txBody>
              <a:bodyPr/>
              <a:lstStyle/>
              <a:p>
                <a:r>
                  <a:rPr lang="es-ES">
                    <a:noFill/>
                  </a:rPr>
                  <a:t> </a:t>
                </a:r>
              </a:p>
            </p:txBody>
          </p:sp>
        </mc:Fallback>
      </mc:AlternateContent>
    </p:spTree>
    <p:extLst>
      <p:ext uri="{BB962C8B-B14F-4D97-AF65-F5344CB8AC3E}">
        <p14:creationId xmlns:p14="http://schemas.microsoft.com/office/powerpoint/2010/main" val="2525082173"/>
      </p:ext>
    </p:extLst>
  </p:cSld>
  <p:clrMapOvr>
    <a:masterClrMapping/>
  </p:clrMapOvr>
  <p:transition>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D2DAB-F991-392C-503B-1B64DDE6AA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A60E75-1322-F080-F59E-F51B1D74A1A3}"/>
              </a:ext>
            </a:extLst>
          </p:cNvPr>
          <p:cNvSpPr>
            <a:spLocks noGrp="1"/>
          </p:cNvSpPr>
          <p:nvPr>
            <p:ph type="title"/>
          </p:nvPr>
        </p:nvSpPr>
        <p:spPr/>
        <p:txBody>
          <a:bodyPr/>
          <a:lstStyle/>
          <a:p>
            <a:r>
              <a:t>Backpropagation Through Time</a:t>
            </a:r>
          </a:p>
        </p:txBody>
      </p:sp>
      <p:sp>
        <p:nvSpPr>
          <p:cNvPr id="3" name="Content Placeholder 2">
            <a:extLst>
              <a:ext uri="{FF2B5EF4-FFF2-40B4-BE49-F238E27FC236}">
                <a16:creationId xmlns:a16="http://schemas.microsoft.com/office/drawing/2014/main" id="{CB16DD75-98DA-85C2-C7E4-D4515F71CC43}"/>
              </a:ext>
            </a:extLst>
          </p:cNvPr>
          <p:cNvSpPr>
            <a:spLocks noGrp="1"/>
          </p:cNvSpPr>
          <p:nvPr>
            <p:ph idx="1"/>
          </p:nvPr>
        </p:nvSpPr>
        <p:spPr>
          <a:xfrm>
            <a:off x="457200" y="1600200"/>
            <a:ext cx="8229600" cy="5145157"/>
          </a:xfrm>
        </p:spPr>
        <p:txBody>
          <a:bodyPr>
            <a:noAutofit/>
          </a:bodyPr>
          <a:lstStyle/>
          <a:p>
            <a:pPr marL="0" indent="0">
              <a:buNone/>
            </a:pPr>
            <a:r>
              <a:rPr lang="es-ES" sz="2000" b="1" dirty="0"/>
              <a:t> Step 4 – </a:t>
            </a:r>
            <a:r>
              <a:rPr lang="es-ES" sz="2000" b="1" dirty="0" err="1"/>
              <a:t>Intuition</a:t>
            </a:r>
            <a:r>
              <a:rPr lang="es-ES" sz="2000" b="1" dirty="0"/>
              <a:t> </a:t>
            </a:r>
            <a:r>
              <a:rPr lang="es-ES" sz="2000" b="1" dirty="0" err="1"/>
              <a:t>of</a:t>
            </a:r>
            <a:r>
              <a:rPr lang="es-ES" sz="2000" b="1" dirty="0"/>
              <a:t> </a:t>
            </a:r>
            <a:r>
              <a:rPr lang="es-ES" sz="2000" b="1" dirty="0" err="1"/>
              <a:t>the</a:t>
            </a:r>
            <a:r>
              <a:rPr lang="es-ES" sz="2000" b="1" dirty="0"/>
              <a:t> </a:t>
            </a:r>
            <a:r>
              <a:rPr lang="es-ES" sz="2000" b="1" dirty="0" err="1"/>
              <a:t>problem</a:t>
            </a:r>
            <a:endParaRPr lang="es-ES" sz="2000" b="1" dirty="0"/>
          </a:p>
          <a:p>
            <a:pPr marL="0" indent="0">
              <a:buNone/>
            </a:pPr>
            <a:endParaRPr lang="en-US" sz="2000" dirty="0"/>
          </a:p>
          <a:p>
            <a:pPr marL="0" indent="0">
              <a:buNone/>
            </a:pPr>
            <a:r>
              <a:rPr lang="en-US" sz="2000" dirty="0"/>
              <a:t>Imagine that each multiplication reduces the magnitude a little.</a:t>
            </a:r>
          </a:p>
          <a:p>
            <a:pPr marL="0" indent="0">
              <a:buNone/>
            </a:pPr>
            <a:r>
              <a:rPr lang="en-US" sz="2000" dirty="0"/>
              <a:t>Simple example:</a:t>
            </a:r>
          </a:p>
          <a:p>
            <a:r>
              <a:rPr lang="en-US" sz="2000" dirty="0"/>
              <a:t>Each step multiplies by 0.5</a:t>
            </a:r>
          </a:p>
          <a:p>
            <a:pPr marL="0" indent="0">
              <a:buNone/>
            </a:pPr>
            <a:r>
              <a:rPr lang="en-US" sz="2000" dirty="0"/>
              <a:t>So:</a:t>
            </a:r>
          </a:p>
          <a:p>
            <a:pPr lvl="1">
              <a:buFont typeface="Arial" panose="020B0604020202020204" pitchFamily="34" charset="0"/>
              <a:buChar char="•"/>
            </a:pPr>
            <a:r>
              <a:rPr lang="en-US" dirty="0"/>
              <a:t>1 step back → 0.5</a:t>
            </a:r>
          </a:p>
          <a:p>
            <a:pPr lvl="1">
              <a:buFont typeface="Arial" panose="020B0604020202020204" pitchFamily="34" charset="0"/>
              <a:buChar char="•"/>
            </a:pPr>
            <a:r>
              <a:rPr lang="en-US" dirty="0"/>
              <a:t>2 steps back → 0.25</a:t>
            </a:r>
          </a:p>
          <a:p>
            <a:pPr lvl="1">
              <a:buFont typeface="Arial" panose="020B0604020202020204" pitchFamily="34" charset="0"/>
              <a:buChar char="•"/>
            </a:pPr>
            <a:r>
              <a:rPr lang="en-US" dirty="0"/>
              <a:t>3 steps back → 0.125</a:t>
            </a:r>
          </a:p>
          <a:p>
            <a:pPr lvl="1">
              <a:buFont typeface="Arial" panose="020B0604020202020204" pitchFamily="34" charset="0"/>
              <a:buChar char="•"/>
            </a:pPr>
            <a:r>
              <a:rPr lang="en-US" dirty="0"/>
              <a:t>…</a:t>
            </a:r>
          </a:p>
          <a:p>
            <a:pPr lvl="1">
              <a:buFont typeface="Arial" panose="020B0604020202020204" pitchFamily="34" charset="0"/>
              <a:buChar char="•"/>
            </a:pPr>
            <a:r>
              <a:rPr lang="en-US" dirty="0"/>
              <a:t>10 steps back → almost 0</a:t>
            </a:r>
          </a:p>
          <a:p>
            <a:pPr marL="0" indent="0">
              <a:buNone/>
            </a:pPr>
            <a:r>
              <a:rPr lang="en-US" sz="2000" dirty="0"/>
              <a:t>The gradient disappears </a:t>
            </a:r>
            <a:r>
              <a:rPr lang="en-US" sz="2000" dirty="0">
                <a:sym typeface="Wingdings" panose="05000000000000000000" pitchFamily="2" charset="2"/>
              </a:rPr>
              <a:t> </a:t>
            </a:r>
            <a:r>
              <a:rPr lang="en-US" sz="2000" dirty="0"/>
              <a:t>That is the vanishing gradient.</a:t>
            </a:r>
            <a:endParaRPr lang="es-ES" sz="2000" dirty="0"/>
          </a:p>
        </p:txBody>
      </p:sp>
    </p:spTree>
    <p:extLst>
      <p:ext uri="{BB962C8B-B14F-4D97-AF65-F5344CB8AC3E}">
        <p14:creationId xmlns:p14="http://schemas.microsoft.com/office/powerpoint/2010/main" val="697853727"/>
      </p:ext>
    </p:extLst>
  </p:cSld>
  <p:clrMapOvr>
    <a:masterClrMapping/>
  </p:clrMapOvr>
  <p:transition>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CC8CE-EB2F-967C-4B5E-2E80ADD4C1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56108A-99E7-1A48-4F2A-638D26F008EC}"/>
              </a:ext>
            </a:extLst>
          </p:cNvPr>
          <p:cNvSpPr>
            <a:spLocks noGrp="1"/>
          </p:cNvSpPr>
          <p:nvPr>
            <p:ph type="title"/>
          </p:nvPr>
        </p:nvSpPr>
        <p:spPr/>
        <p:txBody>
          <a:bodyPr/>
          <a:lstStyle/>
          <a:p>
            <a:r>
              <a:rPr dirty="0"/>
              <a:t>Backpropagation Through Time</a:t>
            </a:r>
          </a:p>
        </p:txBody>
      </p:sp>
      <p:sp>
        <p:nvSpPr>
          <p:cNvPr id="3" name="Content Placeholder 2">
            <a:extLst>
              <a:ext uri="{FF2B5EF4-FFF2-40B4-BE49-F238E27FC236}">
                <a16:creationId xmlns:a16="http://schemas.microsoft.com/office/drawing/2014/main" id="{754DF4C3-694B-A5D2-4661-FB5E18DF36D0}"/>
              </a:ext>
            </a:extLst>
          </p:cNvPr>
          <p:cNvSpPr>
            <a:spLocks noGrp="1"/>
          </p:cNvSpPr>
          <p:nvPr>
            <p:ph idx="1"/>
          </p:nvPr>
        </p:nvSpPr>
        <p:spPr>
          <a:xfrm>
            <a:off x="457200" y="1600200"/>
            <a:ext cx="8229600" cy="5257800"/>
          </a:xfrm>
        </p:spPr>
        <p:txBody>
          <a:bodyPr>
            <a:noAutofit/>
          </a:bodyPr>
          <a:lstStyle/>
          <a:p>
            <a:pPr marL="0" indent="0">
              <a:buNone/>
            </a:pPr>
            <a:r>
              <a:rPr lang="es-ES" sz="2000" b="1" dirty="0"/>
              <a:t> Step 5 – </a:t>
            </a:r>
            <a:r>
              <a:rPr lang="es-ES" sz="2000" b="1" dirty="0" err="1"/>
              <a:t>Or</a:t>
            </a:r>
            <a:r>
              <a:rPr lang="es-ES" sz="2000" b="1" dirty="0"/>
              <a:t> vice versa</a:t>
            </a:r>
          </a:p>
          <a:p>
            <a:pPr marL="0" indent="0">
              <a:buNone/>
            </a:pPr>
            <a:endParaRPr lang="en-US" sz="2000" dirty="0"/>
          </a:p>
          <a:p>
            <a:pPr marL="0" indent="0">
              <a:buNone/>
            </a:pPr>
            <a:r>
              <a:rPr lang="en-US" sz="2000" dirty="0"/>
              <a:t>If each step multiplies by 1.5:</a:t>
            </a:r>
          </a:p>
          <a:p>
            <a:pPr lvl="1">
              <a:buFont typeface="Arial" panose="020B0604020202020204" pitchFamily="34" charset="0"/>
              <a:buChar char="•"/>
            </a:pPr>
            <a:r>
              <a:rPr lang="en-US" dirty="0"/>
              <a:t>1 step → 1.5</a:t>
            </a:r>
          </a:p>
          <a:p>
            <a:pPr lvl="1">
              <a:buFont typeface="Arial" panose="020B0604020202020204" pitchFamily="34" charset="0"/>
              <a:buChar char="•"/>
            </a:pPr>
            <a:r>
              <a:rPr lang="en-US" dirty="0"/>
              <a:t>2 steps → 2.25</a:t>
            </a:r>
          </a:p>
          <a:p>
            <a:pPr lvl="1">
              <a:buFont typeface="Arial" panose="020B0604020202020204" pitchFamily="34" charset="0"/>
              <a:buChar char="•"/>
            </a:pPr>
            <a:r>
              <a:rPr lang="en-US" dirty="0"/>
              <a:t>3 steps → 3.37</a:t>
            </a:r>
          </a:p>
          <a:p>
            <a:pPr lvl="1">
              <a:buFont typeface="Arial" panose="020B0604020202020204" pitchFamily="34" charset="0"/>
              <a:buChar char="•"/>
            </a:pPr>
            <a:r>
              <a:rPr lang="en-US" dirty="0"/>
              <a:t>10 steps → enormous</a:t>
            </a:r>
          </a:p>
          <a:p>
            <a:pPr marL="0" indent="0">
              <a:buNone/>
            </a:pPr>
            <a:endParaRPr lang="en-US" sz="2000" dirty="0"/>
          </a:p>
          <a:p>
            <a:pPr marL="0" indent="0">
              <a:buNone/>
            </a:pPr>
            <a:r>
              <a:rPr lang="en-US" sz="2000" dirty="0"/>
              <a:t>That is the exploding gradient.</a:t>
            </a:r>
          </a:p>
          <a:p>
            <a:pPr marL="0" indent="0">
              <a:buNone/>
            </a:pPr>
            <a:r>
              <a:rPr lang="en-US" sz="2000" dirty="0"/>
              <a:t>  </a:t>
            </a:r>
          </a:p>
          <a:p>
            <a:endParaRPr lang="es-ES" sz="2000" dirty="0"/>
          </a:p>
          <a:p>
            <a:endParaRPr lang="es-ES" sz="2000" dirty="0"/>
          </a:p>
          <a:p>
            <a:endParaRPr lang="es-ES" sz="2000" dirty="0"/>
          </a:p>
          <a:p>
            <a:endParaRPr lang="es-ES" sz="2000" dirty="0"/>
          </a:p>
          <a:p>
            <a:endParaRPr lang="es-ES" sz="2000" dirty="0"/>
          </a:p>
          <a:p>
            <a:endParaRPr lang="es-ES" sz="2000" dirty="0"/>
          </a:p>
          <a:p>
            <a:pPr marL="0" indent="0">
              <a:buNone/>
            </a:pPr>
            <a:r>
              <a:rPr lang="es-ES" sz="2000" dirty="0" err="1"/>
              <a:t>Every</a:t>
            </a:r>
            <a:r>
              <a:rPr lang="es-ES" sz="2000" dirty="0"/>
              <a:t> time </a:t>
            </a:r>
            <a:r>
              <a:rPr lang="es-ES" sz="2000" dirty="0" err="1"/>
              <a:t>we</a:t>
            </a:r>
            <a:r>
              <a:rPr lang="es-ES" sz="2000" dirty="0"/>
              <a:t> </a:t>
            </a:r>
            <a:r>
              <a:rPr lang="es-ES" sz="2000" dirty="0" err="1"/>
              <a:t>move</a:t>
            </a:r>
            <a:r>
              <a:rPr lang="es-ES" sz="2000" dirty="0"/>
              <a:t> </a:t>
            </a:r>
            <a:r>
              <a:rPr lang="es-ES" sz="2000" dirty="0" err="1"/>
              <a:t>one</a:t>
            </a:r>
            <a:r>
              <a:rPr lang="es-ES" sz="2000" dirty="0"/>
              <a:t> step </a:t>
            </a:r>
            <a:r>
              <a:rPr lang="es-ES" sz="2000" dirty="0" err="1"/>
              <a:t>backward</a:t>
            </a:r>
            <a:r>
              <a:rPr lang="es-ES" sz="2000" dirty="0"/>
              <a:t> in time, </a:t>
            </a:r>
            <a:r>
              <a:rPr lang="es-ES" sz="2000" dirty="0" err="1"/>
              <a:t>we</a:t>
            </a:r>
            <a:r>
              <a:rPr lang="es-ES" sz="2000" dirty="0"/>
              <a:t> </a:t>
            </a:r>
            <a:r>
              <a:rPr lang="es-ES" sz="2000" dirty="0" err="1"/>
              <a:t>multiply</a:t>
            </a:r>
            <a:r>
              <a:rPr lang="es-ES" sz="2000" dirty="0"/>
              <a:t> </a:t>
            </a:r>
            <a:r>
              <a:rPr lang="es-ES" sz="2000" dirty="0" err="1"/>
              <a:t>by</a:t>
            </a:r>
            <a:r>
              <a:rPr lang="es-ES" sz="2000" dirty="0"/>
              <a:t> </a:t>
            </a:r>
            <a:r>
              <a:rPr lang="es-ES" sz="2000" dirty="0" err="1"/>
              <a:t>the</a:t>
            </a:r>
            <a:r>
              <a:rPr lang="es-ES" sz="2000" dirty="0"/>
              <a:t> </a:t>
            </a:r>
            <a:r>
              <a:rPr lang="es-ES" sz="2000" dirty="0" err="1"/>
              <a:t>same</a:t>
            </a:r>
            <a:r>
              <a:rPr lang="es-ES" sz="2000" dirty="0"/>
              <a:t> </a:t>
            </a:r>
            <a:r>
              <a:rPr lang="es-ES" sz="2000" dirty="0" err="1"/>
              <a:t>recurrent</a:t>
            </a:r>
            <a:r>
              <a:rPr lang="es-ES" sz="2000" dirty="0"/>
              <a:t> </a:t>
            </a:r>
            <a:r>
              <a:rPr lang="es-ES" sz="2000" dirty="0" err="1"/>
              <a:t>transformation</a:t>
            </a:r>
            <a:r>
              <a:rPr lang="es-ES" sz="2000" dirty="0"/>
              <a:t>.</a:t>
            </a:r>
          </a:p>
          <a:p>
            <a:pPr marL="0" indent="0">
              <a:buNone/>
            </a:pPr>
            <a:r>
              <a:rPr lang="es-ES" sz="2000" dirty="0" err="1"/>
              <a:t>If</a:t>
            </a:r>
            <a:r>
              <a:rPr lang="es-ES" sz="2000" dirty="0"/>
              <a:t> </a:t>
            </a:r>
            <a:r>
              <a:rPr lang="es-ES" sz="2000" dirty="0" err="1"/>
              <a:t>that</a:t>
            </a:r>
            <a:r>
              <a:rPr lang="es-ES" sz="2000" dirty="0"/>
              <a:t> </a:t>
            </a:r>
            <a:r>
              <a:rPr lang="es-ES" sz="2000" dirty="0" err="1"/>
              <a:t>transformation</a:t>
            </a:r>
            <a:r>
              <a:rPr lang="es-ES" sz="2000" dirty="0"/>
              <a:t> </a:t>
            </a:r>
            <a:r>
              <a:rPr lang="es-ES" sz="2000" dirty="0" err="1"/>
              <a:t>shrinks</a:t>
            </a:r>
            <a:r>
              <a:rPr lang="es-ES" sz="2000" dirty="0"/>
              <a:t> </a:t>
            </a:r>
            <a:r>
              <a:rPr lang="es-ES" sz="2000" dirty="0" err="1"/>
              <a:t>values</a:t>
            </a:r>
            <a:r>
              <a:rPr lang="es-ES" sz="2000" dirty="0"/>
              <a:t>, </a:t>
            </a:r>
            <a:r>
              <a:rPr lang="es-ES" sz="2000" dirty="0" err="1"/>
              <a:t>gradients</a:t>
            </a:r>
            <a:r>
              <a:rPr lang="es-ES" sz="2000" dirty="0"/>
              <a:t> </a:t>
            </a:r>
            <a:r>
              <a:rPr lang="es-ES" sz="2000" dirty="0" err="1"/>
              <a:t>vanish</a:t>
            </a:r>
            <a:r>
              <a:rPr lang="es-ES" sz="2000" dirty="0"/>
              <a:t>.</a:t>
            </a:r>
            <a:br>
              <a:rPr lang="es-ES" sz="2000" dirty="0"/>
            </a:br>
            <a:r>
              <a:rPr lang="es-ES" sz="2000" dirty="0" err="1"/>
              <a:t>If</a:t>
            </a:r>
            <a:r>
              <a:rPr lang="es-ES" sz="2000" dirty="0"/>
              <a:t> </a:t>
            </a:r>
            <a:r>
              <a:rPr lang="es-ES" sz="2000" dirty="0" err="1"/>
              <a:t>it</a:t>
            </a:r>
            <a:r>
              <a:rPr lang="es-ES" sz="2000" dirty="0"/>
              <a:t> </a:t>
            </a:r>
            <a:r>
              <a:rPr lang="es-ES" sz="2000" dirty="0" err="1"/>
              <a:t>amplifies</a:t>
            </a:r>
            <a:r>
              <a:rPr lang="es-ES" sz="2000" dirty="0"/>
              <a:t> </a:t>
            </a:r>
            <a:r>
              <a:rPr lang="es-ES" sz="2000" dirty="0" err="1"/>
              <a:t>values</a:t>
            </a:r>
            <a:r>
              <a:rPr lang="es-ES" sz="2000" dirty="0"/>
              <a:t>, </a:t>
            </a:r>
            <a:r>
              <a:rPr lang="es-ES" sz="2000" dirty="0" err="1"/>
              <a:t>gradients</a:t>
            </a:r>
            <a:r>
              <a:rPr lang="es-ES" sz="2000" dirty="0"/>
              <a:t> </a:t>
            </a:r>
            <a:r>
              <a:rPr lang="es-ES" sz="2000" dirty="0" err="1"/>
              <a:t>explode</a:t>
            </a:r>
            <a:r>
              <a:rPr lang="es-ES" sz="2000" dirty="0"/>
              <a:t>.</a:t>
            </a:r>
          </a:p>
          <a:p>
            <a:endParaRPr lang="es-ES" sz="2000" dirty="0"/>
          </a:p>
        </p:txBody>
      </p:sp>
    </p:spTree>
    <p:extLst>
      <p:ext uri="{BB962C8B-B14F-4D97-AF65-F5344CB8AC3E}">
        <p14:creationId xmlns:p14="http://schemas.microsoft.com/office/powerpoint/2010/main" val="1581276405"/>
      </p:ext>
    </p:extLst>
  </p:cSld>
  <p:clrMapOvr>
    <a:masterClrMapping/>
  </p:clrMapOvr>
  <p:transition>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Vanishing and Exploding Gradients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Autofit/>
              </a:bodyPr>
              <a:lstStyle/>
              <a:p>
                <a:r>
                  <a:rPr lang="en-GB" sz="2000" noProof="0" dirty="0"/>
                  <a:t>If </a:t>
                </a:r>
                <a14:m>
                  <m:oMath xmlns:m="http://schemas.openxmlformats.org/officeDocument/2006/math">
                    <m:r>
                      <a:rPr lang="es-ES" sz="2000">
                        <a:latin typeface="Cambria Math" panose="02040503050406030204" pitchFamily="18" charset="0"/>
                      </a:rPr>
                      <m:t>∥</m:t>
                    </m:r>
                    <m:sSub>
                      <m:sSubPr>
                        <m:ctrlPr>
                          <a:rPr lang="ar-AE" sz="2000" i="1">
                            <a:latin typeface="Cambria Math" panose="02040503050406030204" pitchFamily="18" charset="0"/>
                          </a:rPr>
                        </m:ctrlPr>
                      </m:sSubPr>
                      <m:e>
                        <m:r>
                          <a:rPr lang="ar-AE" sz="2000" i="1">
                            <a:latin typeface="Cambria Math" panose="02040503050406030204" pitchFamily="18" charset="0"/>
                          </a:rPr>
                          <m:t>𝑊</m:t>
                        </m:r>
                      </m:e>
                      <m:sub>
                        <m:r>
                          <a:rPr lang="ar-AE" sz="2000" i="1">
                            <a:latin typeface="Cambria Math" panose="02040503050406030204" pitchFamily="18" charset="0"/>
                          </a:rPr>
                          <m:t>h</m:t>
                        </m:r>
                      </m:sub>
                    </m:sSub>
                    <m:r>
                      <a:rPr lang="ar-AE" sz="2000">
                        <a:latin typeface="Cambria Math" panose="02040503050406030204" pitchFamily="18" charset="0"/>
                      </a:rPr>
                      <m:t>∥&lt;</m:t>
                    </m:r>
                    <m:r>
                      <a:rPr lang="ar-AE" sz="2000">
                        <a:latin typeface="Cambria Math" panose="02040503050406030204" pitchFamily="18" charset="0"/>
                      </a:rPr>
                      <m:t>1</m:t>
                    </m:r>
                  </m:oMath>
                </a14:m>
                <a:r>
                  <a:rPr lang="ar-AE" sz="2000" dirty="0"/>
                  <a:t>→ </a:t>
                </a:r>
                <a:r>
                  <a:rPr lang="en-GB" sz="2000" noProof="0" dirty="0"/>
                  <a:t>gradients vanish</a:t>
                </a:r>
              </a:p>
              <a:p>
                <a:r>
                  <a:rPr lang="es-ES" sz="2000" dirty="0" err="1"/>
                  <a:t>If</a:t>
                </a:r>
                <a:r>
                  <a:rPr lang="es-ES" sz="2000" dirty="0"/>
                  <a:t> </a:t>
                </a:r>
                <a14:m>
                  <m:oMath xmlns:m="http://schemas.openxmlformats.org/officeDocument/2006/math">
                    <m:r>
                      <a:rPr lang="es-ES" sz="2000">
                        <a:latin typeface="Cambria Math" panose="02040503050406030204" pitchFamily="18" charset="0"/>
                      </a:rPr>
                      <m:t>∥</m:t>
                    </m:r>
                    <m:sSub>
                      <m:sSubPr>
                        <m:ctrlPr>
                          <a:rPr lang="ar-AE" sz="2000" i="1">
                            <a:latin typeface="Cambria Math" panose="02040503050406030204" pitchFamily="18" charset="0"/>
                          </a:rPr>
                        </m:ctrlPr>
                      </m:sSubPr>
                      <m:e>
                        <m:r>
                          <a:rPr lang="ar-AE" sz="2000" i="1">
                            <a:latin typeface="Cambria Math" panose="02040503050406030204" pitchFamily="18" charset="0"/>
                          </a:rPr>
                          <m:t>𝑊</m:t>
                        </m:r>
                      </m:e>
                      <m:sub>
                        <m:r>
                          <a:rPr lang="ar-AE" sz="2000" i="1">
                            <a:latin typeface="Cambria Math" panose="02040503050406030204" pitchFamily="18" charset="0"/>
                          </a:rPr>
                          <m:t>h</m:t>
                        </m:r>
                      </m:sub>
                    </m:sSub>
                    <m:r>
                      <a:rPr lang="ar-AE" sz="2000">
                        <a:latin typeface="Cambria Math" panose="02040503050406030204" pitchFamily="18" charset="0"/>
                      </a:rPr>
                      <m:t>∥&gt;</m:t>
                    </m:r>
                    <m:r>
                      <a:rPr lang="ar-AE" sz="2000">
                        <a:latin typeface="Cambria Math" panose="02040503050406030204" pitchFamily="18" charset="0"/>
                      </a:rPr>
                      <m:t>1</m:t>
                    </m:r>
                  </m:oMath>
                </a14:m>
                <a:r>
                  <a:rPr lang="ar-AE" sz="2000" dirty="0"/>
                  <a:t>→ </a:t>
                </a:r>
                <a:r>
                  <a:rPr lang="en-GB" sz="2000" noProof="0" dirty="0"/>
                  <a:t>gradients explode</a:t>
                </a:r>
              </a:p>
              <a:p>
                <a:pPr marL="0" indent="0">
                  <a:buNone/>
                </a:pPr>
                <a:endParaRPr lang="en-GB" sz="2000" noProof="0" dirty="0"/>
              </a:p>
              <a:p>
                <a:pPr marL="0" indent="0">
                  <a:buNone/>
                </a:pPr>
                <a:r>
                  <a:rPr lang="en-GB" sz="2000" noProof="0" dirty="0"/>
                  <a:t>Explains why simple RNNs fail for long-term dependencies.</a:t>
                </a:r>
              </a:p>
              <a:p>
                <a:pPr marL="0" indent="0">
                  <a:buNone/>
                </a:pPr>
                <a:endParaRPr lang="en-GB" sz="2000" dirty="0"/>
              </a:p>
              <a:p>
                <a:pPr marL="0" indent="0">
                  <a:buNone/>
                </a:pPr>
                <a:r>
                  <a:rPr lang="en-US" sz="2000" dirty="0"/>
                  <a:t>Vanishing and exploding gradients arise from repeated multiplication when propagating errors through time.</a:t>
                </a:r>
              </a:p>
              <a:p>
                <a:pPr marL="0" indent="0">
                  <a:buNone/>
                </a:pPr>
                <a:endParaRPr lang="en-US" sz="2000" dirty="0"/>
              </a:p>
              <a:p>
                <a:pPr marL="0" indent="0">
                  <a:buNone/>
                </a:pPr>
                <a:r>
                  <a:rPr lang="en-US" sz="2000" dirty="0"/>
                  <a:t>The gradient tells us in which direction to move the parameters to reduce the error</a:t>
                </a:r>
              </a:p>
              <a:p>
                <a:pPr marL="0" indent="0">
                  <a:buNone/>
                </a:pPr>
                <a:endParaRPr lang="en-GB" sz="2000" noProof="0" dirty="0"/>
              </a:p>
              <a:p>
                <a:endParaRPr sz="2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815" t="-943"/>
                </a:stretch>
              </a:blipFill>
            </p:spPr>
            <p:txBody>
              <a:bodyPr/>
              <a:lstStyle/>
              <a:p>
                <a:r>
                  <a:rPr lang="es-ES">
                    <a:noFill/>
                  </a:rPr>
                  <a:t> </a:t>
                </a:r>
              </a:p>
            </p:txBody>
          </p:sp>
        </mc:Fallback>
      </mc:AlternateContent>
    </p:spTree>
  </p:cSld>
  <p:clrMapOvr>
    <a:masterClrMapping/>
  </p:clrMapOvr>
  <p:transition>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46011-FFC1-6935-D8B1-EF8AD6BC03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BFBB3D-2F37-2026-7AEF-439D7C94BE33}"/>
              </a:ext>
            </a:extLst>
          </p:cNvPr>
          <p:cNvSpPr>
            <a:spLocks noGrp="1"/>
          </p:cNvSpPr>
          <p:nvPr>
            <p:ph type="title"/>
          </p:nvPr>
        </p:nvSpPr>
        <p:spPr/>
        <p:txBody>
          <a:bodyPr/>
          <a:lstStyle/>
          <a:p>
            <a:r>
              <a:rPr dirty="0"/>
              <a:t>Vanishing and Exploding Gradients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D990214-EE6E-8A5D-16D5-A7DBB69CAE1F}"/>
                  </a:ext>
                </a:extLst>
              </p:cNvPr>
              <p:cNvSpPr>
                <a:spLocks noGrp="1"/>
              </p:cNvSpPr>
              <p:nvPr>
                <p:ph idx="1"/>
              </p:nvPr>
            </p:nvSpPr>
            <p:spPr/>
            <p:txBody>
              <a:bodyPr>
                <a:noAutofit/>
              </a:bodyPr>
              <a:lstStyle/>
              <a:p>
                <a:pPr marL="0" indent="0">
                  <a:buNone/>
                </a:pPr>
                <a14:m>
                  <m:oMathPara xmlns:m="http://schemas.openxmlformats.org/officeDocument/2006/math">
                    <m:oMathParaPr>
                      <m:jc m:val="centerGroup"/>
                    </m:oMathParaPr>
                    <m:oMath xmlns:m="http://schemas.openxmlformats.org/officeDocument/2006/math">
                      <m:r>
                        <m:rPr>
                          <m:nor/>
                        </m:rPr>
                        <a:rPr lang="es-ES" b="0"/>
                        <m:t>gradient</m:t>
                      </m:r>
                      <m:r>
                        <a:rPr lang="es-ES">
                          <a:latin typeface="Cambria Math" panose="02040503050406030204" pitchFamily="18" charset="0"/>
                        </a:rPr>
                        <m:t>=</m:t>
                      </m:r>
                      <m:f>
                        <m:fPr>
                          <m:ctrlPr>
                            <a:rPr lang="ar-AE" i="1">
                              <a:latin typeface="Cambria Math" panose="02040503050406030204" pitchFamily="18" charset="0"/>
                            </a:rPr>
                          </m:ctrlPr>
                        </m:fPr>
                        <m:num>
                          <m:r>
                            <a:rPr lang="ar-AE">
                              <a:latin typeface="Cambria Math" panose="02040503050406030204" pitchFamily="18" charset="0"/>
                            </a:rPr>
                            <m:t>𝜕</m:t>
                          </m:r>
                          <m:r>
                            <a:rPr lang="ar-AE">
                              <a:latin typeface="Cambria Math" panose="02040503050406030204" pitchFamily="18" charset="0"/>
                            </a:rPr>
                            <m:t>ℒ</m:t>
                          </m:r>
                        </m:num>
                        <m:den>
                          <m:r>
                            <a:rPr lang="ar-AE">
                              <a:latin typeface="Cambria Math" panose="02040503050406030204" pitchFamily="18" charset="0"/>
                            </a:rPr>
                            <m:t>𝜕</m:t>
                          </m:r>
                          <m:r>
                            <a:rPr lang="ar-AE" i="1">
                              <a:latin typeface="Cambria Math" panose="02040503050406030204" pitchFamily="18" charset="0"/>
                            </a:rPr>
                            <m:t>𝑊</m:t>
                          </m:r>
                        </m:den>
                      </m:f>
                    </m:oMath>
                  </m:oMathPara>
                </a14:m>
                <a:endParaRPr lang="ar-AE" b="0" dirty="0"/>
              </a:p>
              <a:p>
                <a:endParaRPr lang="en-GB" sz="2000" noProof="0" dirty="0"/>
              </a:p>
              <a:p>
                <a:r>
                  <a:rPr lang="en-GB" sz="2000" noProof="0" dirty="0"/>
                  <a:t>Large slope → big update</a:t>
                </a:r>
              </a:p>
              <a:p>
                <a:r>
                  <a:rPr lang="en-GB" sz="2000" noProof="0" dirty="0"/>
                  <a:t>Small slope → tiny update</a:t>
                </a:r>
              </a:p>
              <a:p>
                <a:pPr marL="0" indent="0">
                  <a:buNone/>
                </a:pPr>
                <a:endParaRPr lang="en-GB" sz="2000" noProof="0" dirty="0"/>
              </a:p>
              <a:p>
                <a:pPr marL="0" indent="0">
                  <a:buNone/>
                </a:pPr>
                <a:r>
                  <a:rPr lang="en-GB" sz="2000" noProof="0" dirty="0"/>
                  <a:t>If slope ≈ 0 → almost no learning.</a:t>
                </a:r>
              </a:p>
              <a:p>
                <a:endParaRPr sz="2000" dirty="0"/>
              </a:p>
            </p:txBody>
          </p:sp>
        </mc:Choice>
        <mc:Fallback xmlns="">
          <p:sp>
            <p:nvSpPr>
              <p:cNvPr id="3" name="Content Placeholder 2">
                <a:extLst>
                  <a:ext uri="{FF2B5EF4-FFF2-40B4-BE49-F238E27FC236}">
                    <a16:creationId xmlns:a16="http://schemas.microsoft.com/office/drawing/2014/main" id="{1D990214-EE6E-8A5D-16D5-A7DBB69CAE1F}"/>
                  </a:ext>
                </a:extLst>
              </p:cNvPr>
              <p:cNvSpPr>
                <a:spLocks noGrp="1" noRot="1" noChangeAspect="1" noMove="1" noResize="1" noEditPoints="1" noAdjustHandles="1" noChangeArrowheads="1" noChangeShapeType="1" noTextEdit="1"/>
              </p:cNvSpPr>
              <p:nvPr>
                <p:ph idx="1"/>
              </p:nvPr>
            </p:nvSpPr>
            <p:spPr>
              <a:blipFill>
                <a:blip r:embed="rId3"/>
                <a:stretch>
                  <a:fillRect l="-815"/>
                </a:stretch>
              </a:blipFill>
            </p:spPr>
            <p:txBody>
              <a:bodyPr/>
              <a:lstStyle/>
              <a:p>
                <a:r>
                  <a:rPr lang="es-ES">
                    <a:noFill/>
                  </a:rPr>
                  <a:t> </a:t>
                </a:r>
              </a:p>
            </p:txBody>
          </p:sp>
        </mc:Fallback>
      </mc:AlternateContent>
    </p:spTree>
    <p:extLst>
      <p:ext uri="{BB962C8B-B14F-4D97-AF65-F5344CB8AC3E}">
        <p14:creationId xmlns:p14="http://schemas.microsoft.com/office/powerpoint/2010/main" val="2248899199"/>
      </p:ext>
    </p:extLst>
  </p:cSld>
  <p:clrMapOvr>
    <a:masterClrMapping/>
  </p:clrMapOvr>
  <p:transition>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843A5-1B7B-3BF1-07C4-3B527DF9CF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40FC74-6856-DD5A-D41C-34218BBCA739}"/>
              </a:ext>
            </a:extLst>
          </p:cNvPr>
          <p:cNvSpPr>
            <a:spLocks noGrp="1"/>
          </p:cNvSpPr>
          <p:nvPr>
            <p:ph type="title"/>
          </p:nvPr>
        </p:nvSpPr>
        <p:spPr/>
        <p:txBody>
          <a:bodyPr/>
          <a:lstStyle/>
          <a:p>
            <a:r>
              <a:rPr dirty="0"/>
              <a:t>Vanishing and Exploding Gradients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FADDC99-4681-AEB3-F52A-91D99AE11B48}"/>
                  </a:ext>
                </a:extLst>
              </p:cNvPr>
              <p:cNvSpPr>
                <a:spLocks noGrp="1"/>
              </p:cNvSpPr>
              <p:nvPr>
                <p:ph idx="1"/>
              </p:nvPr>
            </p:nvSpPr>
            <p:spPr>
              <a:xfrm>
                <a:off x="457200" y="1459524"/>
                <a:ext cx="8229600" cy="5527431"/>
              </a:xfrm>
            </p:spPr>
            <p:txBody>
              <a:bodyPr>
                <a:noAutofit/>
              </a:bodyPr>
              <a:lstStyle/>
              <a:p>
                <a:pPr marL="0" indent="0">
                  <a:buNone/>
                </a:pPr>
                <a:r>
                  <a:rPr lang="es-ES" b="1" dirty="0"/>
                  <a:t>Example: </a:t>
                </a:r>
                <a:r>
                  <a:rPr lang="en-GB" b="1" noProof="0" dirty="0"/>
                  <a:t>Vanishing Gradient</a:t>
                </a:r>
                <a:endParaRPr lang="es-ES" b="1" dirty="0"/>
              </a:p>
              <a:p>
                <a:r>
                  <a:rPr lang="en-GB" sz="2000" noProof="0" dirty="0"/>
                  <a:t>Assume Each backward step multiplies the gradient by </a:t>
                </a:r>
                <a:r>
                  <a:rPr lang="en-GB" sz="2000" b="1" noProof="0" dirty="0"/>
                  <a:t>0.8</a:t>
                </a:r>
                <a:endParaRPr lang="en-GB" sz="2000" noProof="0" dirty="0"/>
              </a:p>
              <a:p>
                <a:pPr marL="0" indent="0">
                  <a:buNone/>
                </a:pPr>
                <a:r>
                  <a:rPr lang="en-GB" sz="1800" noProof="0" dirty="0"/>
                  <a:t>Start with gradient at final step:</a:t>
                </a:r>
              </a:p>
              <a:p>
                <a:pPr marL="0" indent="0">
                  <a:buNone/>
                </a:pPr>
                <a14:m>
                  <m:oMathPara xmlns:m="http://schemas.openxmlformats.org/officeDocument/2006/math">
                    <m:oMathParaPr>
                      <m:jc m:val="centerGroup"/>
                    </m:oMathParaPr>
                    <m:oMath xmlns:m="http://schemas.openxmlformats.org/officeDocument/2006/math">
                      <m:r>
                        <a:rPr lang="en-GB" sz="1800" noProof="0" smtClean="0">
                          <a:latin typeface="Cambria Math" panose="02040503050406030204" pitchFamily="18" charset="0"/>
                        </a:rPr>
                        <m:t>1</m:t>
                      </m:r>
                      <m:r>
                        <a:rPr lang="en-GB" sz="1800" noProof="0" smtClean="0">
                          <a:latin typeface="Cambria Math" panose="02040503050406030204" pitchFamily="18" charset="0"/>
                        </a:rPr>
                        <m:t>.</m:t>
                      </m:r>
                      <m:r>
                        <a:rPr lang="en-GB" sz="1800" noProof="0" smtClean="0">
                          <a:latin typeface="Cambria Math" panose="02040503050406030204" pitchFamily="18" charset="0"/>
                        </a:rPr>
                        <m:t>0</m:t>
                      </m:r>
                    </m:oMath>
                  </m:oMathPara>
                </a14:m>
                <a:endParaRPr lang="en-GB" sz="1800" noProof="0" dirty="0"/>
              </a:p>
              <a:p>
                <a:pPr marL="0" indent="0">
                  <a:buNone/>
                </a:pPr>
                <a:r>
                  <a:rPr lang="en-GB" sz="1800" noProof="0" dirty="0"/>
                  <a:t>Step back once:</a:t>
                </a:r>
              </a:p>
              <a:p>
                <a:pPr marL="0" indent="0">
                  <a:buNone/>
                </a:pPr>
                <a14:m>
                  <m:oMathPara xmlns:m="http://schemas.openxmlformats.org/officeDocument/2006/math">
                    <m:oMathParaPr>
                      <m:jc m:val="centerGroup"/>
                    </m:oMathParaPr>
                    <m:oMath xmlns:m="http://schemas.openxmlformats.org/officeDocument/2006/math">
                      <m:r>
                        <a:rPr lang="en-GB" sz="1800" noProof="0" smtClean="0">
                          <a:latin typeface="Cambria Math" panose="02040503050406030204" pitchFamily="18" charset="0"/>
                        </a:rPr>
                        <m:t>1</m:t>
                      </m:r>
                      <m:r>
                        <a:rPr lang="en-GB" sz="1800" noProof="0" smtClean="0">
                          <a:latin typeface="Cambria Math" panose="02040503050406030204" pitchFamily="18" charset="0"/>
                        </a:rPr>
                        <m:t>.</m:t>
                      </m:r>
                      <m:r>
                        <a:rPr lang="en-GB" sz="1800" noProof="0" smtClean="0">
                          <a:latin typeface="Cambria Math" panose="02040503050406030204" pitchFamily="18" charset="0"/>
                        </a:rPr>
                        <m:t>0</m:t>
                      </m:r>
                      <m:r>
                        <a:rPr lang="en-GB" sz="1800" noProof="0" smtClean="0">
                          <a:latin typeface="Cambria Math" panose="02040503050406030204" pitchFamily="18" charset="0"/>
                        </a:rPr>
                        <m:t>×</m:t>
                      </m:r>
                      <m:r>
                        <a:rPr lang="en-GB" sz="1800" noProof="0" smtClean="0">
                          <a:latin typeface="Cambria Math" panose="02040503050406030204" pitchFamily="18" charset="0"/>
                        </a:rPr>
                        <m:t>0</m:t>
                      </m:r>
                      <m:r>
                        <a:rPr lang="en-GB" sz="1800" noProof="0" smtClean="0">
                          <a:latin typeface="Cambria Math" panose="02040503050406030204" pitchFamily="18" charset="0"/>
                        </a:rPr>
                        <m:t>.</m:t>
                      </m:r>
                      <m:r>
                        <a:rPr lang="en-GB" sz="1800" noProof="0" smtClean="0">
                          <a:latin typeface="Cambria Math" panose="02040503050406030204" pitchFamily="18" charset="0"/>
                        </a:rPr>
                        <m:t>8</m:t>
                      </m:r>
                      <m:r>
                        <a:rPr lang="en-GB" sz="1800" noProof="0" smtClean="0">
                          <a:latin typeface="Cambria Math" panose="02040503050406030204" pitchFamily="18" charset="0"/>
                        </a:rPr>
                        <m:t>=</m:t>
                      </m:r>
                      <m:r>
                        <a:rPr lang="en-GB" sz="1800" noProof="0" smtClean="0">
                          <a:latin typeface="Cambria Math" panose="02040503050406030204" pitchFamily="18" charset="0"/>
                        </a:rPr>
                        <m:t>0</m:t>
                      </m:r>
                      <m:r>
                        <a:rPr lang="en-GB" sz="1800" noProof="0" smtClean="0">
                          <a:latin typeface="Cambria Math" panose="02040503050406030204" pitchFamily="18" charset="0"/>
                        </a:rPr>
                        <m:t>.</m:t>
                      </m:r>
                      <m:r>
                        <a:rPr lang="en-GB" sz="1800" noProof="0" smtClean="0">
                          <a:latin typeface="Cambria Math" panose="02040503050406030204" pitchFamily="18" charset="0"/>
                        </a:rPr>
                        <m:t>8</m:t>
                      </m:r>
                    </m:oMath>
                  </m:oMathPara>
                </a14:m>
                <a:endParaRPr lang="en-GB" sz="1800" noProof="0" dirty="0"/>
              </a:p>
              <a:p>
                <a:pPr marL="0" indent="0">
                  <a:buNone/>
                </a:pPr>
                <a:r>
                  <a:rPr lang="en-GB" sz="1800" noProof="0" dirty="0"/>
                  <a:t>Two steps:</a:t>
                </a:r>
              </a:p>
              <a:p>
                <a:pPr marL="0" indent="0">
                  <a:buNone/>
                </a:pPr>
                <a14:m>
                  <m:oMathPara xmlns:m="http://schemas.openxmlformats.org/officeDocument/2006/math">
                    <m:oMathParaPr>
                      <m:jc m:val="centerGroup"/>
                    </m:oMathParaPr>
                    <m:oMath xmlns:m="http://schemas.openxmlformats.org/officeDocument/2006/math">
                      <m:r>
                        <a:rPr lang="en-GB" sz="1800" noProof="0" smtClean="0">
                          <a:latin typeface="Cambria Math" panose="02040503050406030204" pitchFamily="18" charset="0"/>
                        </a:rPr>
                        <m:t>0</m:t>
                      </m:r>
                      <m:r>
                        <a:rPr lang="en-GB" sz="1800" noProof="0" smtClean="0">
                          <a:latin typeface="Cambria Math" panose="02040503050406030204" pitchFamily="18" charset="0"/>
                        </a:rPr>
                        <m:t>.</m:t>
                      </m:r>
                      <m:r>
                        <a:rPr lang="en-GB" sz="1800" noProof="0" smtClean="0">
                          <a:latin typeface="Cambria Math" panose="02040503050406030204" pitchFamily="18" charset="0"/>
                        </a:rPr>
                        <m:t>8</m:t>
                      </m:r>
                      <m:r>
                        <a:rPr lang="en-GB" sz="1800" noProof="0" smtClean="0">
                          <a:latin typeface="Cambria Math" panose="02040503050406030204" pitchFamily="18" charset="0"/>
                        </a:rPr>
                        <m:t>×</m:t>
                      </m:r>
                      <m:r>
                        <a:rPr lang="en-GB" sz="1800" noProof="0" smtClean="0">
                          <a:latin typeface="Cambria Math" panose="02040503050406030204" pitchFamily="18" charset="0"/>
                        </a:rPr>
                        <m:t>0</m:t>
                      </m:r>
                      <m:r>
                        <a:rPr lang="en-GB" sz="1800" noProof="0" smtClean="0">
                          <a:latin typeface="Cambria Math" panose="02040503050406030204" pitchFamily="18" charset="0"/>
                        </a:rPr>
                        <m:t>.</m:t>
                      </m:r>
                      <m:r>
                        <a:rPr lang="en-GB" sz="1800" noProof="0" smtClean="0">
                          <a:latin typeface="Cambria Math" panose="02040503050406030204" pitchFamily="18" charset="0"/>
                        </a:rPr>
                        <m:t>8</m:t>
                      </m:r>
                      <m:r>
                        <a:rPr lang="en-GB" sz="1800" noProof="0" smtClean="0">
                          <a:latin typeface="Cambria Math" panose="02040503050406030204" pitchFamily="18" charset="0"/>
                        </a:rPr>
                        <m:t>=</m:t>
                      </m:r>
                      <m:r>
                        <a:rPr lang="en-GB" sz="1800" noProof="0" smtClean="0">
                          <a:latin typeface="Cambria Math" panose="02040503050406030204" pitchFamily="18" charset="0"/>
                        </a:rPr>
                        <m:t>0</m:t>
                      </m:r>
                      <m:r>
                        <a:rPr lang="en-GB" sz="1800" noProof="0" smtClean="0">
                          <a:latin typeface="Cambria Math" panose="02040503050406030204" pitchFamily="18" charset="0"/>
                        </a:rPr>
                        <m:t>.</m:t>
                      </m:r>
                      <m:r>
                        <a:rPr lang="en-GB" sz="1800" noProof="0" smtClean="0">
                          <a:latin typeface="Cambria Math" panose="02040503050406030204" pitchFamily="18" charset="0"/>
                        </a:rPr>
                        <m:t>64</m:t>
                      </m:r>
                    </m:oMath>
                  </m:oMathPara>
                </a14:m>
                <a:endParaRPr lang="en-GB" sz="1800" noProof="0" dirty="0"/>
              </a:p>
              <a:p>
                <a:pPr marL="0" indent="0">
                  <a:buNone/>
                </a:pPr>
                <a:r>
                  <a:rPr lang="en-GB" sz="1800" noProof="0" dirty="0"/>
                  <a:t>Five steps:</a:t>
                </a:r>
                <a:endParaRPr lang="es-ES" sz="1800" dirty="0"/>
              </a:p>
              <a:p>
                <a:pPr marL="0" indent="0">
                  <a:buNone/>
                </a:pPr>
                <a14:m>
                  <m:oMathPara xmlns:m="http://schemas.openxmlformats.org/officeDocument/2006/math">
                    <m:oMathParaPr>
                      <m:jc m:val="centerGroup"/>
                    </m:oMathParaPr>
                    <m:oMath xmlns:m="http://schemas.openxmlformats.org/officeDocument/2006/math">
                      <m:sSup>
                        <m:sSupPr>
                          <m:ctrlPr>
                            <a:rPr lang="ar-AE" sz="1800" i="1">
                              <a:latin typeface="Cambria Math" panose="02040503050406030204" pitchFamily="18" charset="0"/>
                            </a:rPr>
                          </m:ctrlPr>
                        </m:sSupPr>
                        <m:e>
                          <m:r>
                            <a:rPr lang="ar-AE" sz="1800">
                              <a:latin typeface="Cambria Math" panose="02040503050406030204" pitchFamily="18" charset="0"/>
                            </a:rPr>
                            <m:t>0</m:t>
                          </m:r>
                          <m:r>
                            <a:rPr lang="ar-AE" sz="1800">
                              <a:latin typeface="Cambria Math" panose="02040503050406030204" pitchFamily="18" charset="0"/>
                            </a:rPr>
                            <m:t>.</m:t>
                          </m:r>
                          <m:r>
                            <a:rPr lang="ar-AE" sz="1800">
                              <a:latin typeface="Cambria Math" panose="02040503050406030204" pitchFamily="18" charset="0"/>
                            </a:rPr>
                            <m:t>8</m:t>
                          </m:r>
                        </m:e>
                        <m:sup>
                          <m:r>
                            <a:rPr lang="ar-AE" sz="1800">
                              <a:latin typeface="Cambria Math" panose="02040503050406030204" pitchFamily="18" charset="0"/>
                            </a:rPr>
                            <m:t>5</m:t>
                          </m:r>
                        </m:sup>
                      </m:sSup>
                      <m:r>
                        <a:rPr lang="ar-AE" sz="1800">
                          <a:latin typeface="Cambria Math" panose="02040503050406030204" pitchFamily="18" charset="0"/>
                        </a:rPr>
                        <m:t>=</m:t>
                      </m:r>
                      <m:r>
                        <a:rPr lang="ar-AE" sz="1800">
                          <a:latin typeface="Cambria Math" panose="02040503050406030204" pitchFamily="18" charset="0"/>
                        </a:rPr>
                        <m:t>0</m:t>
                      </m:r>
                      <m:r>
                        <a:rPr lang="ar-AE" sz="1800">
                          <a:latin typeface="Cambria Math" panose="02040503050406030204" pitchFamily="18" charset="0"/>
                        </a:rPr>
                        <m:t>.</m:t>
                      </m:r>
                      <m:r>
                        <a:rPr lang="ar-AE" sz="1800">
                          <a:latin typeface="Cambria Math" panose="02040503050406030204" pitchFamily="18" charset="0"/>
                        </a:rPr>
                        <m:t>327</m:t>
                      </m:r>
                    </m:oMath>
                  </m:oMathPara>
                </a14:m>
                <a:endParaRPr lang="ar-AE" sz="1800" dirty="0"/>
              </a:p>
              <a:p>
                <a:pPr marL="0" indent="0">
                  <a:buNone/>
                </a:pPr>
                <a:r>
                  <a:rPr lang="en-GB" sz="1800" noProof="0" dirty="0"/>
                  <a:t>Ten steps:</a:t>
                </a:r>
              </a:p>
              <a:p>
                <a:pPr marL="0" indent="0">
                  <a:buNone/>
                </a:pPr>
                <a14:m>
                  <m:oMathPara xmlns:m="http://schemas.openxmlformats.org/officeDocument/2006/math">
                    <m:oMathParaPr>
                      <m:jc m:val="centerGroup"/>
                    </m:oMathParaPr>
                    <m:oMath xmlns:m="http://schemas.openxmlformats.org/officeDocument/2006/math">
                      <m:sSup>
                        <m:sSupPr>
                          <m:ctrlPr>
                            <a:rPr lang="ar-AE" sz="1800" i="1">
                              <a:latin typeface="Cambria Math" panose="02040503050406030204" pitchFamily="18" charset="0"/>
                            </a:rPr>
                          </m:ctrlPr>
                        </m:sSupPr>
                        <m:e>
                          <m:r>
                            <a:rPr lang="ar-AE" sz="1800">
                              <a:latin typeface="Cambria Math" panose="02040503050406030204" pitchFamily="18" charset="0"/>
                            </a:rPr>
                            <m:t>0</m:t>
                          </m:r>
                          <m:r>
                            <a:rPr lang="ar-AE" sz="1800">
                              <a:latin typeface="Cambria Math" panose="02040503050406030204" pitchFamily="18" charset="0"/>
                            </a:rPr>
                            <m:t>.</m:t>
                          </m:r>
                          <m:r>
                            <a:rPr lang="ar-AE" sz="1800">
                              <a:latin typeface="Cambria Math" panose="02040503050406030204" pitchFamily="18" charset="0"/>
                            </a:rPr>
                            <m:t>8</m:t>
                          </m:r>
                        </m:e>
                        <m:sup>
                          <m:r>
                            <a:rPr lang="ar-AE" sz="1800">
                              <a:latin typeface="Cambria Math" panose="02040503050406030204" pitchFamily="18" charset="0"/>
                            </a:rPr>
                            <m:t>10</m:t>
                          </m:r>
                        </m:sup>
                      </m:sSup>
                      <m:r>
                        <a:rPr lang="ar-AE" sz="1800">
                          <a:latin typeface="Cambria Math" panose="02040503050406030204" pitchFamily="18" charset="0"/>
                        </a:rPr>
                        <m:t>=</m:t>
                      </m:r>
                      <m:r>
                        <a:rPr lang="ar-AE" sz="1800">
                          <a:latin typeface="Cambria Math" panose="02040503050406030204" pitchFamily="18" charset="0"/>
                        </a:rPr>
                        <m:t>0</m:t>
                      </m:r>
                      <m:r>
                        <a:rPr lang="ar-AE" sz="1800">
                          <a:latin typeface="Cambria Math" panose="02040503050406030204" pitchFamily="18" charset="0"/>
                        </a:rPr>
                        <m:t>.</m:t>
                      </m:r>
                      <m:r>
                        <a:rPr lang="ar-AE" sz="1800">
                          <a:latin typeface="Cambria Math" panose="02040503050406030204" pitchFamily="18" charset="0"/>
                        </a:rPr>
                        <m:t>107</m:t>
                      </m:r>
                    </m:oMath>
                  </m:oMathPara>
                </a14:m>
                <a:endParaRPr lang="ar-AE" sz="1800" dirty="0"/>
              </a:p>
              <a:p>
                <a:pPr marL="0" indent="0">
                  <a:buNone/>
                </a:pPr>
                <a:r>
                  <a:rPr lang="en-GB" sz="1800" noProof="0" dirty="0"/>
                  <a:t>Twenty steps:</a:t>
                </a:r>
              </a:p>
              <a:p>
                <a:pPr marL="0" indent="0">
                  <a:buNone/>
                </a:pPr>
                <a14:m>
                  <m:oMathPara xmlns:m="http://schemas.openxmlformats.org/officeDocument/2006/math">
                    <m:oMathParaPr>
                      <m:jc m:val="centerGroup"/>
                    </m:oMathParaPr>
                    <m:oMath xmlns:m="http://schemas.openxmlformats.org/officeDocument/2006/math">
                      <m:sSup>
                        <m:sSupPr>
                          <m:ctrlPr>
                            <a:rPr lang="ar-AE" sz="1800" i="1">
                              <a:latin typeface="Cambria Math" panose="02040503050406030204" pitchFamily="18" charset="0"/>
                            </a:rPr>
                          </m:ctrlPr>
                        </m:sSupPr>
                        <m:e>
                          <m:r>
                            <a:rPr lang="ar-AE" sz="1800">
                              <a:latin typeface="Cambria Math" panose="02040503050406030204" pitchFamily="18" charset="0"/>
                            </a:rPr>
                            <m:t>0</m:t>
                          </m:r>
                          <m:r>
                            <a:rPr lang="ar-AE" sz="1800">
                              <a:latin typeface="Cambria Math" panose="02040503050406030204" pitchFamily="18" charset="0"/>
                            </a:rPr>
                            <m:t>.</m:t>
                          </m:r>
                          <m:r>
                            <a:rPr lang="ar-AE" sz="1800">
                              <a:latin typeface="Cambria Math" panose="02040503050406030204" pitchFamily="18" charset="0"/>
                            </a:rPr>
                            <m:t>8</m:t>
                          </m:r>
                        </m:e>
                        <m:sup>
                          <m:r>
                            <a:rPr lang="ar-AE" sz="1800">
                              <a:latin typeface="Cambria Math" panose="02040503050406030204" pitchFamily="18" charset="0"/>
                            </a:rPr>
                            <m:t>20</m:t>
                          </m:r>
                        </m:sup>
                      </m:sSup>
                      <m:r>
                        <a:rPr lang="ar-AE" sz="1800">
                          <a:latin typeface="Cambria Math" panose="02040503050406030204" pitchFamily="18" charset="0"/>
                        </a:rPr>
                        <m:t>≈</m:t>
                      </m:r>
                      <m:r>
                        <a:rPr lang="ar-AE" sz="1800">
                          <a:latin typeface="Cambria Math" panose="02040503050406030204" pitchFamily="18" charset="0"/>
                        </a:rPr>
                        <m:t>0</m:t>
                      </m:r>
                      <m:r>
                        <a:rPr lang="ar-AE" sz="1800">
                          <a:latin typeface="Cambria Math" panose="02040503050406030204" pitchFamily="18" charset="0"/>
                        </a:rPr>
                        <m:t>.</m:t>
                      </m:r>
                      <m:r>
                        <a:rPr lang="ar-AE" sz="1800">
                          <a:latin typeface="Cambria Math" panose="02040503050406030204" pitchFamily="18" charset="0"/>
                        </a:rPr>
                        <m:t>011</m:t>
                      </m:r>
                    </m:oMath>
                  </m:oMathPara>
                </a14:m>
                <a:endParaRPr lang="ar-AE" sz="1800" dirty="0"/>
              </a:p>
              <a:p>
                <a:pPr marL="0" indent="0">
                  <a:buNone/>
                </a:pPr>
                <a:r>
                  <a:rPr lang="en-GB" sz="1800" noProof="0" dirty="0"/>
                  <a:t>Almost zero				</a:t>
                </a:r>
                <a:r>
                  <a:rPr lang="en-US" sz="1800" dirty="0"/>
                  <a:t>The signal disappears. That is 								</a:t>
                </a:r>
                <a:r>
                  <a:rPr lang="en-US" sz="1800" b="1" dirty="0"/>
                  <a:t>vanishing gradient</a:t>
                </a:r>
                <a:endParaRPr lang="en-US" sz="1800" dirty="0"/>
              </a:p>
              <a:p>
                <a:pPr marL="0" indent="0">
                  <a:buNone/>
                </a:pPr>
                <a:endParaRPr lang="en-GB" sz="1800" noProof="0" dirty="0"/>
              </a:p>
            </p:txBody>
          </p:sp>
        </mc:Choice>
        <mc:Fallback>
          <p:sp>
            <p:nvSpPr>
              <p:cNvPr id="3" name="Content Placeholder 2">
                <a:extLst>
                  <a:ext uri="{FF2B5EF4-FFF2-40B4-BE49-F238E27FC236}">
                    <a16:creationId xmlns:a16="http://schemas.microsoft.com/office/drawing/2014/main" id="{EFADDC99-4681-AEB3-F52A-91D99AE11B48}"/>
                  </a:ext>
                </a:extLst>
              </p:cNvPr>
              <p:cNvSpPr>
                <a:spLocks noGrp="1" noRot="1" noChangeAspect="1" noMove="1" noResize="1" noEditPoints="1" noAdjustHandles="1" noChangeArrowheads="1" noChangeShapeType="1" noTextEdit="1"/>
              </p:cNvSpPr>
              <p:nvPr>
                <p:ph idx="1"/>
              </p:nvPr>
            </p:nvSpPr>
            <p:spPr>
              <a:xfrm>
                <a:off x="457200" y="1459524"/>
                <a:ext cx="8229600" cy="5527431"/>
              </a:xfrm>
              <a:blipFill>
                <a:blip r:embed="rId3"/>
                <a:stretch>
                  <a:fillRect l="-1111" t="-882"/>
                </a:stretch>
              </a:blipFill>
            </p:spPr>
            <p:txBody>
              <a:bodyPr/>
              <a:lstStyle/>
              <a:p>
                <a:r>
                  <a:rPr lang="es-ES">
                    <a:noFill/>
                  </a:rPr>
                  <a:t> </a:t>
                </a:r>
              </a:p>
            </p:txBody>
          </p:sp>
        </mc:Fallback>
      </mc:AlternateContent>
      <p:graphicFrame>
        <p:nvGraphicFramePr>
          <p:cNvPr id="4" name="Tabla 3">
            <a:extLst>
              <a:ext uri="{FF2B5EF4-FFF2-40B4-BE49-F238E27FC236}">
                <a16:creationId xmlns:a16="http://schemas.microsoft.com/office/drawing/2014/main" id="{2C050775-F79D-1DFF-D023-1F9D0403F23E}"/>
              </a:ext>
            </a:extLst>
          </p:cNvPr>
          <p:cNvGraphicFramePr>
            <a:graphicFrameLocks noGrp="1"/>
          </p:cNvGraphicFramePr>
          <p:nvPr>
            <p:extLst>
              <p:ext uri="{D42A27DB-BD31-4B8C-83A1-F6EECF244321}">
                <p14:modId xmlns:p14="http://schemas.microsoft.com/office/powerpoint/2010/main" val="4205630118"/>
              </p:ext>
            </p:extLst>
          </p:nvPr>
        </p:nvGraphicFramePr>
        <p:xfrm>
          <a:off x="6096000" y="3390741"/>
          <a:ext cx="3048000" cy="1950720"/>
        </p:xfrm>
        <a:graphic>
          <a:graphicData uri="http://schemas.openxmlformats.org/drawingml/2006/table">
            <a:tbl>
              <a:tblPr/>
              <a:tblGrid>
                <a:gridCol w="1524000">
                  <a:extLst>
                    <a:ext uri="{9D8B030D-6E8A-4147-A177-3AD203B41FA5}">
                      <a16:colId xmlns:a16="http://schemas.microsoft.com/office/drawing/2014/main" val="1300060880"/>
                    </a:ext>
                  </a:extLst>
                </a:gridCol>
                <a:gridCol w="1524000">
                  <a:extLst>
                    <a:ext uri="{9D8B030D-6E8A-4147-A177-3AD203B41FA5}">
                      <a16:colId xmlns:a16="http://schemas.microsoft.com/office/drawing/2014/main" val="3405526801"/>
                    </a:ext>
                  </a:extLst>
                </a:gridCol>
              </a:tblGrid>
              <a:tr h="0">
                <a:tc>
                  <a:txBody>
                    <a:bodyPr/>
                    <a:lstStyle/>
                    <a:p>
                      <a:pPr>
                        <a:buNone/>
                      </a:pPr>
                      <a:r>
                        <a:rPr lang="en-GB" sz="1700" b="1" noProof="0" dirty="0"/>
                        <a:t>Steps back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buNone/>
                      </a:pPr>
                      <a:r>
                        <a:rPr lang="en-GB" sz="1700" b="1" noProof="0" dirty="0"/>
                        <a:t>Gradient 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977519699"/>
                  </a:ext>
                </a:extLst>
              </a:tr>
              <a:tr h="0">
                <a:tc>
                  <a:txBody>
                    <a:bodyPr/>
                    <a:lstStyle/>
                    <a:p>
                      <a:pPr>
                        <a:buNone/>
                      </a:pPr>
                      <a:r>
                        <a:rPr lang="es-ES" sz="160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ES" sz="1600"/>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92469591"/>
                  </a:ext>
                </a:extLst>
              </a:tr>
              <a:tr h="0">
                <a:tc>
                  <a:txBody>
                    <a:bodyPr/>
                    <a:lstStyle/>
                    <a:p>
                      <a:pPr>
                        <a:buNone/>
                      </a:pPr>
                      <a:r>
                        <a:rPr lang="es-ES" sz="160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ES" sz="1600"/>
                        <a:t>0.33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68174799"/>
                  </a:ext>
                </a:extLst>
              </a:tr>
              <a:tr h="0">
                <a:tc>
                  <a:txBody>
                    <a:bodyPr/>
                    <a:lstStyle/>
                    <a:p>
                      <a:pPr>
                        <a:buNone/>
                      </a:pPr>
                      <a:r>
                        <a:rPr lang="es-ES" sz="1600"/>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ES" sz="1600"/>
                        <a:t>0.11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8065775"/>
                  </a:ext>
                </a:extLst>
              </a:tr>
              <a:tr h="0">
                <a:tc>
                  <a:txBody>
                    <a:bodyPr/>
                    <a:lstStyle/>
                    <a:p>
                      <a:pPr>
                        <a:buNone/>
                      </a:pPr>
                      <a:r>
                        <a:rPr lang="es-ES" sz="1600" dirty="0"/>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ES" sz="1600" dirty="0"/>
                        <a:t>0.01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1468876"/>
                  </a:ext>
                </a:extLst>
              </a:tr>
            </a:tbl>
          </a:graphicData>
        </a:graphic>
      </p:graphicFrame>
    </p:spTree>
    <p:extLst>
      <p:ext uri="{BB962C8B-B14F-4D97-AF65-F5344CB8AC3E}">
        <p14:creationId xmlns:p14="http://schemas.microsoft.com/office/powerpoint/2010/main" val="2555016815"/>
      </p:ext>
    </p:extLst>
  </p:cSld>
  <p:clrMapOvr>
    <a:masterClrMapping/>
  </p:clrMapOvr>
  <p:transition>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B1D0F-49D5-A357-F66C-DB4F23D75E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B78192-E7AB-24BF-7A26-C3C59DA898E0}"/>
              </a:ext>
            </a:extLst>
          </p:cNvPr>
          <p:cNvSpPr>
            <a:spLocks noGrp="1"/>
          </p:cNvSpPr>
          <p:nvPr>
            <p:ph type="title"/>
          </p:nvPr>
        </p:nvSpPr>
        <p:spPr/>
        <p:txBody>
          <a:bodyPr/>
          <a:lstStyle/>
          <a:p>
            <a:r>
              <a:rPr dirty="0"/>
              <a:t>Vanishing and Exploding Gradients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5A926B9-A116-4FF6-64F7-BB46F7409335}"/>
                  </a:ext>
                </a:extLst>
              </p:cNvPr>
              <p:cNvSpPr>
                <a:spLocks noGrp="1"/>
              </p:cNvSpPr>
              <p:nvPr>
                <p:ph idx="1"/>
              </p:nvPr>
            </p:nvSpPr>
            <p:spPr>
              <a:xfrm>
                <a:off x="457200" y="1459524"/>
                <a:ext cx="8229600" cy="5527431"/>
              </a:xfrm>
            </p:spPr>
            <p:txBody>
              <a:bodyPr>
                <a:noAutofit/>
              </a:bodyPr>
              <a:lstStyle/>
              <a:p>
                <a:pPr marL="0" indent="0">
                  <a:buNone/>
                </a:pPr>
                <a:r>
                  <a:rPr lang="en-GB" b="1" noProof="0" dirty="0"/>
                  <a:t>Example: Exploding Gradient</a:t>
                </a:r>
              </a:p>
              <a:p>
                <a:r>
                  <a:rPr lang="en-US" sz="2000" dirty="0"/>
                  <a:t>Now suppose each step multiplies by </a:t>
                </a:r>
                <a:r>
                  <a:rPr lang="en-US" sz="2000" b="1" dirty="0"/>
                  <a:t>1.2</a:t>
                </a:r>
                <a:endParaRPr lang="en-US" sz="2000" dirty="0"/>
              </a:p>
              <a:p>
                <a:pPr marL="0" indent="0">
                  <a:buNone/>
                </a:pPr>
                <a:r>
                  <a:rPr lang="en-GB" sz="1800" noProof="0" dirty="0"/>
                  <a:t>Start:</a:t>
                </a:r>
              </a:p>
              <a:p>
                <a:pPr marL="0" indent="0">
                  <a:buNone/>
                </a:pPr>
                <a14:m>
                  <m:oMathPara xmlns:m="http://schemas.openxmlformats.org/officeDocument/2006/math">
                    <m:oMathParaPr>
                      <m:jc m:val="centerGroup"/>
                    </m:oMathParaPr>
                    <m:oMath xmlns:m="http://schemas.openxmlformats.org/officeDocument/2006/math">
                      <m:r>
                        <a:rPr lang="es-ES" sz="1800">
                          <a:latin typeface="Cambria Math" panose="02040503050406030204" pitchFamily="18" charset="0"/>
                        </a:rPr>
                        <m:t>1</m:t>
                      </m:r>
                      <m:r>
                        <a:rPr lang="es-ES" sz="1800">
                          <a:latin typeface="Cambria Math" panose="02040503050406030204" pitchFamily="18" charset="0"/>
                        </a:rPr>
                        <m:t>.</m:t>
                      </m:r>
                      <m:r>
                        <a:rPr lang="es-ES" sz="1800">
                          <a:latin typeface="Cambria Math" panose="02040503050406030204" pitchFamily="18" charset="0"/>
                        </a:rPr>
                        <m:t>0</m:t>
                      </m:r>
                    </m:oMath>
                  </m:oMathPara>
                </a14:m>
                <a:endParaRPr lang="en-GB" sz="1800" noProof="0" dirty="0"/>
              </a:p>
              <a:p>
                <a:pPr marL="0" indent="0">
                  <a:buNone/>
                </a:pPr>
                <a:r>
                  <a:rPr lang="es-ES" sz="1800" dirty="0"/>
                  <a:t>5 </a:t>
                </a:r>
                <a:r>
                  <a:rPr lang="es-ES" sz="1800" dirty="0" err="1"/>
                  <a:t>steps</a:t>
                </a:r>
                <a:r>
                  <a:rPr lang="es-ES" sz="1800" dirty="0"/>
                  <a:t>:</a:t>
                </a:r>
              </a:p>
              <a:p>
                <a:pPr marL="0" indent="0">
                  <a:buNone/>
                </a:pPr>
                <a14:m>
                  <m:oMathPara xmlns:m="http://schemas.openxmlformats.org/officeDocument/2006/math">
                    <m:oMathParaPr>
                      <m:jc m:val="centerGroup"/>
                    </m:oMathParaPr>
                    <m:oMath xmlns:m="http://schemas.openxmlformats.org/officeDocument/2006/math">
                      <m:sSup>
                        <m:sSupPr>
                          <m:ctrlPr>
                            <a:rPr lang="ar-AE" sz="1800" i="1">
                              <a:latin typeface="Cambria Math" panose="02040503050406030204" pitchFamily="18" charset="0"/>
                            </a:rPr>
                          </m:ctrlPr>
                        </m:sSupPr>
                        <m:e>
                          <m:r>
                            <a:rPr lang="ar-AE" sz="1800">
                              <a:latin typeface="Cambria Math" panose="02040503050406030204" pitchFamily="18" charset="0"/>
                            </a:rPr>
                            <m:t>1</m:t>
                          </m:r>
                          <m:r>
                            <a:rPr lang="ar-AE" sz="1800">
                              <a:latin typeface="Cambria Math" panose="02040503050406030204" pitchFamily="18" charset="0"/>
                            </a:rPr>
                            <m:t>.</m:t>
                          </m:r>
                          <m:r>
                            <a:rPr lang="ar-AE" sz="1800">
                              <a:latin typeface="Cambria Math" panose="02040503050406030204" pitchFamily="18" charset="0"/>
                            </a:rPr>
                            <m:t>2</m:t>
                          </m:r>
                        </m:e>
                        <m:sup>
                          <m:r>
                            <a:rPr lang="ar-AE" sz="1800">
                              <a:latin typeface="Cambria Math" panose="02040503050406030204" pitchFamily="18" charset="0"/>
                            </a:rPr>
                            <m:t>5</m:t>
                          </m:r>
                        </m:sup>
                      </m:sSup>
                      <m:r>
                        <a:rPr lang="ar-AE" sz="1800">
                          <a:latin typeface="Cambria Math" panose="02040503050406030204" pitchFamily="18" charset="0"/>
                        </a:rPr>
                        <m:t>≈</m:t>
                      </m:r>
                      <m:r>
                        <a:rPr lang="ar-AE" sz="1800">
                          <a:latin typeface="Cambria Math" panose="02040503050406030204" pitchFamily="18" charset="0"/>
                        </a:rPr>
                        <m:t>2</m:t>
                      </m:r>
                      <m:r>
                        <a:rPr lang="ar-AE" sz="1800">
                          <a:latin typeface="Cambria Math" panose="02040503050406030204" pitchFamily="18" charset="0"/>
                        </a:rPr>
                        <m:t>.</m:t>
                      </m:r>
                      <m:r>
                        <a:rPr lang="ar-AE" sz="1800">
                          <a:latin typeface="Cambria Math" panose="02040503050406030204" pitchFamily="18" charset="0"/>
                        </a:rPr>
                        <m:t>49</m:t>
                      </m:r>
                    </m:oMath>
                  </m:oMathPara>
                </a14:m>
                <a:endParaRPr lang="ar-AE" sz="1800" dirty="0"/>
              </a:p>
              <a:p>
                <a:pPr marL="0" indent="0">
                  <a:buNone/>
                </a:pPr>
                <a:r>
                  <a:rPr lang="ar-AE" sz="1800" dirty="0"/>
                  <a:t>10</a:t>
                </a:r>
                <a:r>
                  <a:rPr lang="es-ES" sz="1800" dirty="0"/>
                  <a:t> </a:t>
                </a:r>
                <a:r>
                  <a:rPr lang="ar-AE" sz="1800" dirty="0"/>
                  <a:t> </a:t>
                </a:r>
                <a:r>
                  <a:rPr lang="es-ES" sz="1800" dirty="0" err="1"/>
                  <a:t>steps</a:t>
                </a:r>
                <a:r>
                  <a:rPr lang="es-ES" sz="1800" dirty="0"/>
                  <a:t>:</a:t>
                </a:r>
              </a:p>
              <a:p>
                <a:pPr marL="0" indent="0">
                  <a:buNone/>
                </a:pPr>
                <a14:m>
                  <m:oMathPara xmlns:m="http://schemas.openxmlformats.org/officeDocument/2006/math">
                    <m:oMathParaPr>
                      <m:jc m:val="centerGroup"/>
                    </m:oMathParaPr>
                    <m:oMath xmlns:m="http://schemas.openxmlformats.org/officeDocument/2006/math">
                      <m:sSup>
                        <m:sSupPr>
                          <m:ctrlPr>
                            <a:rPr lang="ar-AE" sz="1800" i="1">
                              <a:latin typeface="Cambria Math" panose="02040503050406030204" pitchFamily="18" charset="0"/>
                            </a:rPr>
                          </m:ctrlPr>
                        </m:sSupPr>
                        <m:e>
                          <m:r>
                            <a:rPr lang="ar-AE" sz="1800">
                              <a:latin typeface="Cambria Math" panose="02040503050406030204" pitchFamily="18" charset="0"/>
                            </a:rPr>
                            <m:t>1</m:t>
                          </m:r>
                          <m:r>
                            <a:rPr lang="ar-AE" sz="1800">
                              <a:latin typeface="Cambria Math" panose="02040503050406030204" pitchFamily="18" charset="0"/>
                            </a:rPr>
                            <m:t>.</m:t>
                          </m:r>
                          <m:r>
                            <a:rPr lang="ar-AE" sz="1800">
                              <a:latin typeface="Cambria Math" panose="02040503050406030204" pitchFamily="18" charset="0"/>
                            </a:rPr>
                            <m:t>2</m:t>
                          </m:r>
                        </m:e>
                        <m:sup>
                          <m:r>
                            <a:rPr lang="ar-AE" sz="1800">
                              <a:latin typeface="Cambria Math" panose="02040503050406030204" pitchFamily="18" charset="0"/>
                            </a:rPr>
                            <m:t>10</m:t>
                          </m:r>
                        </m:sup>
                      </m:sSup>
                      <m:r>
                        <a:rPr lang="ar-AE" sz="1800">
                          <a:latin typeface="Cambria Math" panose="02040503050406030204" pitchFamily="18" charset="0"/>
                        </a:rPr>
                        <m:t>≈</m:t>
                      </m:r>
                      <m:r>
                        <a:rPr lang="ar-AE" sz="1800">
                          <a:latin typeface="Cambria Math" panose="02040503050406030204" pitchFamily="18" charset="0"/>
                        </a:rPr>
                        <m:t>6</m:t>
                      </m:r>
                      <m:r>
                        <a:rPr lang="ar-AE" sz="1800">
                          <a:latin typeface="Cambria Math" panose="02040503050406030204" pitchFamily="18" charset="0"/>
                        </a:rPr>
                        <m:t>.</m:t>
                      </m:r>
                      <m:r>
                        <a:rPr lang="ar-AE" sz="1800">
                          <a:latin typeface="Cambria Math" panose="02040503050406030204" pitchFamily="18" charset="0"/>
                        </a:rPr>
                        <m:t>19</m:t>
                      </m:r>
                    </m:oMath>
                  </m:oMathPara>
                </a14:m>
                <a:endParaRPr lang="ar-AE" sz="1800" dirty="0"/>
              </a:p>
              <a:p>
                <a:pPr marL="0" indent="0">
                  <a:buNone/>
                </a:pPr>
                <a:r>
                  <a:rPr lang="ar-AE" sz="1800" dirty="0"/>
                  <a:t>20 </a:t>
                </a:r>
                <a:r>
                  <a:rPr lang="es-ES" sz="1800" dirty="0"/>
                  <a:t> </a:t>
                </a:r>
                <a:r>
                  <a:rPr lang="es-ES" sz="1800" dirty="0" err="1"/>
                  <a:t>steps</a:t>
                </a:r>
                <a:r>
                  <a:rPr lang="es-ES" sz="1800" dirty="0"/>
                  <a:t>:</a:t>
                </a:r>
              </a:p>
              <a:p>
                <a:pPr marL="0" indent="0">
                  <a:buNone/>
                </a:pPr>
                <a14:m>
                  <m:oMathPara xmlns:m="http://schemas.openxmlformats.org/officeDocument/2006/math">
                    <m:oMathParaPr>
                      <m:jc m:val="centerGroup"/>
                    </m:oMathParaPr>
                    <m:oMath xmlns:m="http://schemas.openxmlformats.org/officeDocument/2006/math">
                      <m:sSup>
                        <m:sSupPr>
                          <m:ctrlPr>
                            <a:rPr lang="ar-AE" sz="1800" i="1">
                              <a:latin typeface="Cambria Math" panose="02040503050406030204" pitchFamily="18" charset="0"/>
                            </a:rPr>
                          </m:ctrlPr>
                        </m:sSupPr>
                        <m:e>
                          <m:r>
                            <a:rPr lang="ar-AE" sz="1800">
                              <a:latin typeface="Cambria Math" panose="02040503050406030204" pitchFamily="18" charset="0"/>
                            </a:rPr>
                            <m:t>1</m:t>
                          </m:r>
                          <m:r>
                            <a:rPr lang="ar-AE" sz="1800">
                              <a:latin typeface="Cambria Math" panose="02040503050406030204" pitchFamily="18" charset="0"/>
                            </a:rPr>
                            <m:t>.</m:t>
                          </m:r>
                          <m:r>
                            <a:rPr lang="ar-AE" sz="1800">
                              <a:latin typeface="Cambria Math" panose="02040503050406030204" pitchFamily="18" charset="0"/>
                            </a:rPr>
                            <m:t>2</m:t>
                          </m:r>
                        </m:e>
                        <m:sup>
                          <m:r>
                            <a:rPr lang="ar-AE" sz="1800">
                              <a:latin typeface="Cambria Math" panose="02040503050406030204" pitchFamily="18" charset="0"/>
                            </a:rPr>
                            <m:t>20</m:t>
                          </m:r>
                        </m:sup>
                      </m:sSup>
                      <m:r>
                        <a:rPr lang="ar-AE" sz="1800">
                          <a:latin typeface="Cambria Math" panose="02040503050406030204" pitchFamily="18" charset="0"/>
                        </a:rPr>
                        <m:t>≈</m:t>
                      </m:r>
                      <m:r>
                        <a:rPr lang="ar-AE" sz="1800">
                          <a:latin typeface="Cambria Math" panose="02040503050406030204" pitchFamily="18" charset="0"/>
                        </a:rPr>
                        <m:t>38</m:t>
                      </m:r>
                      <m:r>
                        <a:rPr lang="ar-AE" sz="1800">
                          <a:latin typeface="Cambria Math" panose="02040503050406030204" pitchFamily="18" charset="0"/>
                        </a:rPr>
                        <m:t>.</m:t>
                      </m:r>
                      <m:r>
                        <a:rPr lang="ar-AE" sz="1800">
                          <a:latin typeface="Cambria Math" panose="02040503050406030204" pitchFamily="18" charset="0"/>
                        </a:rPr>
                        <m:t>3</m:t>
                      </m:r>
                    </m:oMath>
                  </m:oMathPara>
                </a14:m>
                <a:endParaRPr lang="es-ES" sz="1800" dirty="0"/>
              </a:p>
              <a:p>
                <a:pPr marL="0" indent="0">
                  <a:buNone/>
                </a:pPr>
                <a:endParaRPr lang="ar-AE" sz="1800" dirty="0"/>
              </a:p>
              <a:p>
                <a:r>
                  <a:rPr lang="es-ES" sz="1800" dirty="0" err="1"/>
                  <a:t>The</a:t>
                </a:r>
                <a:r>
                  <a:rPr lang="es-ES" sz="1800" dirty="0"/>
                  <a:t> </a:t>
                </a:r>
                <a:r>
                  <a:rPr lang="es-ES" sz="1800" dirty="0" err="1"/>
                  <a:t>gradient</a:t>
                </a:r>
                <a:r>
                  <a:rPr lang="es-ES" sz="1800" dirty="0"/>
                  <a:t> </a:t>
                </a:r>
                <a:r>
                  <a:rPr lang="es-ES" sz="1800" dirty="0" err="1"/>
                  <a:t>becomes</a:t>
                </a:r>
                <a:r>
                  <a:rPr lang="es-ES" sz="1800" dirty="0"/>
                  <a:t> </a:t>
                </a:r>
                <a:r>
                  <a:rPr lang="es-ES" sz="1800" dirty="0" err="1"/>
                  <a:t>huge</a:t>
                </a:r>
                <a:r>
                  <a:rPr lang="es-ES" sz="1800" dirty="0"/>
                  <a:t>.</a:t>
                </a:r>
              </a:p>
              <a:p>
                <a:r>
                  <a:rPr lang="es-ES" sz="1800" dirty="0" err="1"/>
                  <a:t>That</a:t>
                </a:r>
                <a:r>
                  <a:rPr lang="es-ES" sz="1800" dirty="0"/>
                  <a:t> </a:t>
                </a:r>
                <a:r>
                  <a:rPr lang="es-ES" sz="1800" dirty="0" err="1"/>
                  <a:t>is</a:t>
                </a:r>
                <a:r>
                  <a:rPr lang="es-ES" sz="1800" dirty="0"/>
                  <a:t> </a:t>
                </a:r>
                <a:r>
                  <a:rPr lang="es-ES" sz="1800" b="1" dirty="0" err="1"/>
                  <a:t>exploding</a:t>
                </a:r>
                <a:r>
                  <a:rPr lang="es-ES" sz="1800" b="1" dirty="0"/>
                  <a:t> </a:t>
                </a:r>
                <a:r>
                  <a:rPr lang="es-ES" sz="1800" b="1" dirty="0" err="1"/>
                  <a:t>gradient</a:t>
                </a:r>
                <a:r>
                  <a:rPr lang="es-ES" sz="1800" dirty="0"/>
                  <a:t>.</a:t>
                </a:r>
              </a:p>
              <a:p>
                <a:pPr marL="0" indent="0">
                  <a:buNone/>
                </a:pPr>
                <a:endParaRPr lang="en-GB" sz="1800" noProof="0" dirty="0"/>
              </a:p>
            </p:txBody>
          </p:sp>
        </mc:Choice>
        <mc:Fallback xmlns="">
          <p:sp>
            <p:nvSpPr>
              <p:cNvPr id="3" name="Content Placeholder 2">
                <a:extLst>
                  <a:ext uri="{FF2B5EF4-FFF2-40B4-BE49-F238E27FC236}">
                    <a16:creationId xmlns:a16="http://schemas.microsoft.com/office/drawing/2014/main" id="{55A926B9-A116-4FF6-64F7-BB46F7409335}"/>
                  </a:ext>
                </a:extLst>
              </p:cNvPr>
              <p:cNvSpPr>
                <a:spLocks noGrp="1" noRot="1" noChangeAspect="1" noMove="1" noResize="1" noEditPoints="1" noAdjustHandles="1" noChangeArrowheads="1" noChangeShapeType="1" noTextEdit="1"/>
              </p:cNvSpPr>
              <p:nvPr>
                <p:ph idx="1"/>
              </p:nvPr>
            </p:nvSpPr>
            <p:spPr>
              <a:xfrm>
                <a:off x="457200" y="1459524"/>
                <a:ext cx="8229600" cy="5527431"/>
              </a:xfrm>
              <a:blipFill>
                <a:blip r:embed="rId3"/>
                <a:stretch>
                  <a:fillRect l="-1111" t="-882"/>
                </a:stretch>
              </a:blipFill>
            </p:spPr>
            <p:txBody>
              <a:bodyPr/>
              <a:lstStyle/>
              <a:p>
                <a:r>
                  <a:rPr lang="es-ES">
                    <a:noFill/>
                  </a:rPr>
                  <a:t> </a:t>
                </a:r>
              </a:p>
            </p:txBody>
          </p:sp>
        </mc:Fallback>
      </mc:AlternateContent>
      <p:graphicFrame>
        <p:nvGraphicFramePr>
          <p:cNvPr id="4" name="Tabla 3">
            <a:extLst>
              <a:ext uri="{FF2B5EF4-FFF2-40B4-BE49-F238E27FC236}">
                <a16:creationId xmlns:a16="http://schemas.microsoft.com/office/drawing/2014/main" id="{AB3E7C4A-BB86-2FF6-5D55-69923DFBEC42}"/>
              </a:ext>
            </a:extLst>
          </p:cNvPr>
          <p:cNvGraphicFramePr>
            <a:graphicFrameLocks noGrp="1"/>
          </p:cNvGraphicFramePr>
          <p:nvPr>
            <p:extLst>
              <p:ext uri="{D42A27DB-BD31-4B8C-83A1-F6EECF244321}">
                <p14:modId xmlns:p14="http://schemas.microsoft.com/office/powerpoint/2010/main" val="1135051273"/>
              </p:ext>
            </p:extLst>
          </p:nvPr>
        </p:nvGraphicFramePr>
        <p:xfrm>
          <a:off x="6096000" y="3390741"/>
          <a:ext cx="3048000" cy="1950720"/>
        </p:xfrm>
        <a:graphic>
          <a:graphicData uri="http://schemas.openxmlformats.org/drawingml/2006/table">
            <a:tbl>
              <a:tblPr/>
              <a:tblGrid>
                <a:gridCol w="1524000">
                  <a:extLst>
                    <a:ext uri="{9D8B030D-6E8A-4147-A177-3AD203B41FA5}">
                      <a16:colId xmlns:a16="http://schemas.microsoft.com/office/drawing/2014/main" val="1300060880"/>
                    </a:ext>
                  </a:extLst>
                </a:gridCol>
                <a:gridCol w="1524000">
                  <a:extLst>
                    <a:ext uri="{9D8B030D-6E8A-4147-A177-3AD203B41FA5}">
                      <a16:colId xmlns:a16="http://schemas.microsoft.com/office/drawing/2014/main" val="3405526801"/>
                    </a:ext>
                  </a:extLst>
                </a:gridCol>
              </a:tblGrid>
              <a:tr h="0">
                <a:tc>
                  <a:txBody>
                    <a:bodyPr/>
                    <a:lstStyle/>
                    <a:p>
                      <a:pPr>
                        <a:buNone/>
                      </a:pPr>
                      <a:r>
                        <a:rPr lang="en-GB" sz="1700" b="1" noProof="0" dirty="0"/>
                        <a:t>Steps back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buNone/>
                      </a:pPr>
                      <a:r>
                        <a:rPr lang="en-GB" sz="1700" b="1" noProof="0" dirty="0"/>
                        <a:t>Gradient 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977519699"/>
                  </a:ext>
                </a:extLst>
              </a:tr>
              <a:tr h="0">
                <a:tc>
                  <a:txBody>
                    <a:bodyPr/>
                    <a:lstStyle/>
                    <a:p>
                      <a:pPr>
                        <a:buNone/>
                      </a:pPr>
                      <a:r>
                        <a:rPr lang="es-ES" sz="160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ES" sz="1600"/>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92469591"/>
                  </a:ext>
                </a:extLst>
              </a:tr>
              <a:tr h="0">
                <a:tc>
                  <a:txBody>
                    <a:bodyPr/>
                    <a:lstStyle/>
                    <a:p>
                      <a:pPr>
                        <a:buNone/>
                      </a:pPr>
                      <a:r>
                        <a:rPr lang="es-ES" sz="160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ES" sz="1600" dirty="0"/>
                        <a:t>2.49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68174799"/>
                  </a:ext>
                </a:extLst>
              </a:tr>
              <a:tr h="0">
                <a:tc>
                  <a:txBody>
                    <a:bodyPr/>
                    <a:lstStyle/>
                    <a:p>
                      <a:pPr>
                        <a:buNone/>
                      </a:pPr>
                      <a:r>
                        <a:rPr lang="es-ES" sz="1600"/>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ES" sz="1600" dirty="0"/>
                        <a:t>6.19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8065775"/>
                  </a:ext>
                </a:extLst>
              </a:tr>
              <a:tr h="0">
                <a:tc>
                  <a:txBody>
                    <a:bodyPr/>
                    <a:lstStyle/>
                    <a:p>
                      <a:pPr>
                        <a:buNone/>
                      </a:pPr>
                      <a:r>
                        <a:rPr lang="es-ES" sz="1600" dirty="0"/>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ES" sz="1600" dirty="0"/>
                        <a:t>38.3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1468876"/>
                  </a:ext>
                </a:extLst>
              </a:tr>
            </a:tbl>
          </a:graphicData>
        </a:graphic>
      </p:graphicFrame>
    </p:spTree>
    <p:extLst>
      <p:ext uri="{BB962C8B-B14F-4D97-AF65-F5344CB8AC3E}">
        <p14:creationId xmlns:p14="http://schemas.microsoft.com/office/powerpoint/2010/main" val="3554849840"/>
      </p:ext>
    </p:extLst>
  </p:cSld>
  <p:clrMapOvr>
    <a:masterClrMapping/>
  </p:clrMapOvr>
  <p:transition>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A4DF4-5A54-4AF1-8599-7BBFC564E1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0C518D-FCA2-C2F1-1B7C-E6A64BBE2866}"/>
              </a:ext>
            </a:extLst>
          </p:cNvPr>
          <p:cNvSpPr>
            <a:spLocks noGrp="1"/>
          </p:cNvSpPr>
          <p:nvPr>
            <p:ph type="title"/>
          </p:nvPr>
        </p:nvSpPr>
        <p:spPr/>
        <p:txBody>
          <a:bodyPr/>
          <a:lstStyle/>
          <a:p>
            <a:r>
              <a:rPr dirty="0"/>
              <a:t>Vanishing and Exploding Gradients</a:t>
            </a:r>
          </a:p>
        </p:txBody>
      </p:sp>
      <p:sp>
        <p:nvSpPr>
          <p:cNvPr id="3" name="Content Placeholder 2">
            <a:extLst>
              <a:ext uri="{FF2B5EF4-FFF2-40B4-BE49-F238E27FC236}">
                <a16:creationId xmlns:a16="http://schemas.microsoft.com/office/drawing/2014/main" id="{0F73DD8E-9584-8318-7DA6-51D113F8DF12}"/>
              </a:ext>
            </a:extLst>
          </p:cNvPr>
          <p:cNvSpPr>
            <a:spLocks noGrp="1"/>
          </p:cNvSpPr>
          <p:nvPr>
            <p:ph idx="1"/>
          </p:nvPr>
        </p:nvSpPr>
        <p:spPr>
          <a:xfrm>
            <a:off x="457200" y="1459524"/>
            <a:ext cx="8229600" cy="5527431"/>
          </a:xfrm>
        </p:spPr>
        <p:txBody>
          <a:bodyPr>
            <a:noAutofit/>
          </a:bodyPr>
          <a:lstStyle/>
          <a:p>
            <a:r>
              <a:rPr lang="en-US" sz="2000" dirty="0"/>
              <a:t>Forward pass:</a:t>
            </a:r>
          </a:p>
          <a:p>
            <a:pPr marL="0" indent="0">
              <a:buNone/>
            </a:pPr>
            <a:r>
              <a:rPr lang="en-US" sz="2000" dirty="0"/>
              <a:t>Information flows</a:t>
            </a:r>
          </a:p>
          <a:p>
            <a:pPr marL="0" indent="0">
              <a:buNone/>
            </a:pPr>
            <a:endParaRPr lang="en-US" sz="2000" dirty="0"/>
          </a:p>
          <a:p>
            <a:r>
              <a:rPr lang="en-US" sz="2000" dirty="0"/>
              <a:t>Backward pass:</a:t>
            </a:r>
          </a:p>
          <a:p>
            <a:pPr marL="0" indent="0">
              <a:buNone/>
            </a:pPr>
            <a:r>
              <a:rPr lang="en-US" sz="2000" dirty="0"/>
              <a:t>Learning signal may disappear.</a:t>
            </a:r>
          </a:p>
          <a:p>
            <a:pPr marL="0" indent="0">
              <a:buNone/>
            </a:pPr>
            <a:endParaRPr lang="en-US" sz="2000" dirty="0"/>
          </a:p>
          <a:p>
            <a:pPr marL="0" indent="0">
              <a:buNone/>
            </a:pPr>
            <a:r>
              <a:rPr lang="en-US" sz="2000" dirty="0"/>
              <a:t>Memory is not the problem.</a:t>
            </a:r>
            <a:br>
              <a:rPr lang="en-US" sz="2000" dirty="0"/>
            </a:br>
            <a:r>
              <a:rPr lang="en-US" sz="2000" dirty="0"/>
              <a:t>Stable gradient propagation is.</a:t>
            </a:r>
          </a:p>
          <a:p>
            <a:pPr marL="0" indent="0">
              <a:buNone/>
            </a:pPr>
            <a:endParaRPr lang="en-US" sz="2000" dirty="0"/>
          </a:p>
          <a:p>
            <a:pPr marL="0" indent="0">
              <a:buNone/>
            </a:pPr>
            <a:r>
              <a:rPr lang="en-US" sz="2000" dirty="0"/>
              <a:t>Is there an "ideal" case where the gradient neither disappears nor explodes? </a:t>
            </a:r>
          </a:p>
          <a:p>
            <a:pPr marL="0" indent="0">
              <a:buNone/>
            </a:pPr>
            <a:r>
              <a:rPr lang="en-US" sz="2000" dirty="0"/>
              <a:t>What value should the recurrent transformation have?</a:t>
            </a:r>
          </a:p>
          <a:p>
            <a:pPr marL="0" indent="0">
              <a:buNone/>
            </a:pPr>
            <a:endParaRPr lang="en-US" sz="2000" dirty="0"/>
          </a:p>
          <a:p>
            <a:pPr marL="0" indent="0">
              <a:buNone/>
            </a:pPr>
            <a:endParaRPr lang="en-GB" sz="1800" noProof="0" dirty="0"/>
          </a:p>
        </p:txBody>
      </p:sp>
    </p:spTree>
    <p:extLst>
      <p:ext uri="{BB962C8B-B14F-4D97-AF65-F5344CB8AC3E}">
        <p14:creationId xmlns:p14="http://schemas.microsoft.com/office/powerpoint/2010/main" val="3243563086"/>
      </p:ext>
    </p:extLst>
  </p:cSld>
  <p:clrMapOvr>
    <a:masterClrMapping/>
  </p:clrMapOvr>
  <p:transition>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5E860E-39A6-E894-CBA7-90D62CC95C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1499BF-CDB1-42F4-6534-8C19F5BFF4E3}"/>
              </a:ext>
            </a:extLst>
          </p:cNvPr>
          <p:cNvSpPr>
            <a:spLocks noGrp="1"/>
          </p:cNvSpPr>
          <p:nvPr>
            <p:ph type="title"/>
          </p:nvPr>
        </p:nvSpPr>
        <p:spPr/>
        <p:txBody>
          <a:bodyPr/>
          <a:lstStyle/>
          <a:p>
            <a:r>
              <a:rPr dirty="0"/>
              <a:t>Vanishing and Exploding Gradients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B3355E3-716C-65E4-EB15-2323C83412AD}"/>
                  </a:ext>
                </a:extLst>
              </p:cNvPr>
              <p:cNvSpPr>
                <a:spLocks noGrp="1"/>
              </p:cNvSpPr>
              <p:nvPr>
                <p:ph idx="1"/>
              </p:nvPr>
            </p:nvSpPr>
            <p:spPr>
              <a:xfrm>
                <a:off x="457200" y="1459524"/>
                <a:ext cx="8229600" cy="5527431"/>
              </a:xfrm>
            </p:spPr>
            <p:txBody>
              <a:bodyPr>
                <a:noAutofit/>
              </a:bodyPr>
              <a:lstStyle/>
              <a:p>
                <a:r>
                  <a:rPr lang="es-ES" sz="2000" dirty="0"/>
                  <a:t>Durante </a:t>
                </a:r>
                <a:r>
                  <a:rPr lang="es-ES" sz="2000" dirty="0" err="1"/>
                  <a:t>backpropagation</a:t>
                </a:r>
                <a:r>
                  <a:rPr lang="es-ES" sz="2000" dirty="0"/>
                  <a:t>:</a:t>
                </a:r>
              </a:p>
              <a:p>
                <a:pPr marL="0" indent="0">
                  <a:buNone/>
                </a:pPr>
                <a:endParaRPr lang="es-ES" sz="2000" b="0" dirty="0"/>
              </a:p>
              <a:p>
                <a:pPr marL="0" indent="0">
                  <a:buNone/>
                </a:pPr>
                <a:r>
                  <a:rPr lang="es-ES" sz="2000" dirty="0" err="1"/>
                  <a:t>Gradient</a:t>
                </a:r>
                <a14:m>
                  <m:oMath xmlns:m="http://schemas.openxmlformats.org/officeDocument/2006/math">
                    <m:sSub>
                      <m:sSubPr>
                        <m:ctrlPr>
                          <a:rPr lang="ar-AE" sz="2000" i="1">
                            <a:latin typeface="Cambria Math" panose="02040503050406030204" pitchFamily="18" charset="0"/>
                          </a:rPr>
                        </m:ctrlPr>
                      </m:sSubPr>
                      <m:e>
                        <m:r>
                          <a:rPr lang="es-ES" sz="2000" i="1">
                            <a:latin typeface="Cambria Math" panose="02040503050406030204" pitchFamily="18" charset="0"/>
                          </a:rPr>
                          <m:t>(</m:t>
                        </m:r>
                        <m:r>
                          <a:rPr lang="ar-AE" sz="2000" i="1">
                            <a:latin typeface="Cambria Math" panose="02040503050406030204" pitchFamily="18" charset="0"/>
                          </a:rPr>
                          <m:t>𝑊</m:t>
                        </m:r>
                      </m:e>
                      <m:sub>
                        <m:r>
                          <a:rPr lang="ar-AE" sz="2000" i="1">
                            <a:latin typeface="Cambria Math" panose="02040503050406030204" pitchFamily="18" charset="0"/>
                          </a:rPr>
                          <m:t>h</m:t>
                        </m:r>
                      </m:sub>
                    </m:sSub>
                    <m:sSup>
                      <m:sSupPr>
                        <m:ctrlPr>
                          <a:rPr lang="ar-AE" sz="2000" i="1">
                            <a:latin typeface="Cambria Math" panose="02040503050406030204" pitchFamily="18" charset="0"/>
                          </a:rPr>
                        </m:ctrlPr>
                      </m:sSupPr>
                      <m:e>
                        <m:d>
                          <m:dPr>
                            <m:begChr m:val=""/>
                            <m:endChr m:val=""/>
                            <m:ctrlPr>
                              <a:rPr lang="ar-AE" sz="2000" i="1">
                                <a:latin typeface="Cambria Math" panose="02040503050406030204" pitchFamily="18" charset="0"/>
                              </a:rPr>
                            </m:ctrlPr>
                          </m:dPr>
                          <m:e>
                            <m:r>
                              <a:rPr lang="ar-AE" sz="2000">
                                <a:latin typeface="Cambria Math" panose="02040503050406030204" pitchFamily="18" charset="0"/>
                              </a:rPr>
                              <m:t>)</m:t>
                            </m:r>
                          </m:e>
                        </m:d>
                      </m:e>
                      <m:sup>
                        <m:r>
                          <a:rPr lang="ar-AE" sz="2000" i="1">
                            <a:latin typeface="Cambria Math" panose="02040503050406030204" pitchFamily="18" charset="0"/>
                          </a:rPr>
                          <m:t>𝑘</m:t>
                        </m:r>
                      </m:sup>
                    </m:sSup>
                  </m:oMath>
                </a14:m>
                <a:endParaRPr lang="ar-AE" sz="2000" b="0" dirty="0"/>
              </a:p>
              <a:p>
                <a:pPr marL="0" indent="0">
                  <a:buNone/>
                </a:pPr>
                <a:endParaRPr lang="es-ES" sz="2000" dirty="0"/>
              </a:p>
              <a:p>
                <a:pPr marL="0" indent="0">
                  <a:buNone/>
                </a:pPr>
                <a:r>
                  <a:rPr lang="es-ES" sz="2000" dirty="0"/>
                  <a:t>donde:</a:t>
                </a:r>
              </a:p>
              <a:p>
                <a14:m>
                  <m:oMath xmlns:m="http://schemas.openxmlformats.org/officeDocument/2006/math">
                    <m:r>
                      <a:rPr lang="es-ES" sz="2000" i="1">
                        <a:latin typeface="Cambria Math" panose="02040503050406030204" pitchFamily="18" charset="0"/>
                      </a:rPr>
                      <m:t>𝑘</m:t>
                    </m:r>
                  </m:oMath>
                </a14:m>
                <a:r>
                  <a:rPr lang="es-ES" sz="2000" dirty="0"/>
                  <a:t>= número de pasos hacia atrás</a:t>
                </a:r>
              </a:p>
              <a:p>
                <a14:m>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𝑊</m:t>
                        </m:r>
                      </m:e>
                      <m:sub>
                        <m:r>
                          <a:rPr lang="ar-AE" sz="2000" i="1">
                            <a:latin typeface="Cambria Math" panose="02040503050406030204" pitchFamily="18" charset="0"/>
                          </a:rPr>
                          <m:t>h</m:t>
                        </m:r>
                      </m:sub>
                    </m:sSub>
                  </m:oMath>
                </a14:m>
                <a:r>
                  <a:rPr lang="ar-AE" sz="2000" dirty="0"/>
                  <a:t>= </a:t>
                </a:r>
                <a:r>
                  <a:rPr lang="es-ES" sz="2000" dirty="0"/>
                  <a:t>transformación recurrente</a:t>
                </a:r>
              </a:p>
              <a:p>
                <a:endParaRPr lang="es-ES" sz="2000" dirty="0"/>
              </a:p>
              <a:p>
                <a:pPr marL="0" indent="0">
                  <a:buNone/>
                </a:pPr>
                <a:r>
                  <a:rPr lang="es-ES" sz="2000" dirty="0"/>
                  <a:t>En los ejemplos anteriores:</a:t>
                </a:r>
              </a:p>
              <a:p>
                <a:r>
                  <a:rPr lang="es-ES" sz="2000" dirty="0"/>
                  <a:t>Si multiplicábamos por 0.8 → desaparecía</a:t>
                </a:r>
              </a:p>
              <a:p>
                <a:r>
                  <a:rPr lang="es-ES" sz="2000" dirty="0"/>
                  <a:t>Si multiplicábamos por 1.2 → explotaba</a:t>
                </a:r>
              </a:p>
              <a:p>
                <a:pPr marL="0" indent="0">
                  <a:buNone/>
                </a:pPr>
                <a:endParaRPr lang="en-US" sz="2000" dirty="0"/>
              </a:p>
              <a:p>
                <a:pPr marL="0" indent="0">
                  <a:buNone/>
                </a:pPr>
                <a:endParaRPr lang="en-GB" sz="1800" noProof="0" dirty="0"/>
              </a:p>
            </p:txBody>
          </p:sp>
        </mc:Choice>
        <mc:Fallback>
          <p:sp>
            <p:nvSpPr>
              <p:cNvPr id="3" name="Content Placeholder 2">
                <a:extLst>
                  <a:ext uri="{FF2B5EF4-FFF2-40B4-BE49-F238E27FC236}">
                    <a16:creationId xmlns:a16="http://schemas.microsoft.com/office/drawing/2014/main" id="{1B3355E3-716C-65E4-EB15-2323C83412AD}"/>
                  </a:ext>
                </a:extLst>
              </p:cNvPr>
              <p:cNvSpPr>
                <a:spLocks noGrp="1" noRot="1" noChangeAspect="1" noMove="1" noResize="1" noEditPoints="1" noAdjustHandles="1" noChangeArrowheads="1" noChangeShapeType="1" noTextEdit="1"/>
              </p:cNvSpPr>
              <p:nvPr>
                <p:ph idx="1"/>
              </p:nvPr>
            </p:nvSpPr>
            <p:spPr>
              <a:xfrm>
                <a:off x="457200" y="1459524"/>
                <a:ext cx="8229600" cy="5527431"/>
              </a:xfrm>
              <a:blipFill>
                <a:blip r:embed="rId3"/>
                <a:stretch>
                  <a:fillRect l="-815" t="-662"/>
                </a:stretch>
              </a:blipFill>
            </p:spPr>
            <p:txBody>
              <a:bodyPr/>
              <a:lstStyle/>
              <a:p>
                <a:r>
                  <a:rPr lang="es-ES">
                    <a:noFill/>
                  </a:rPr>
                  <a:t> </a:t>
                </a:r>
              </a:p>
            </p:txBody>
          </p:sp>
        </mc:Fallback>
      </mc:AlternateContent>
    </p:spTree>
    <p:extLst>
      <p:ext uri="{BB962C8B-B14F-4D97-AF65-F5344CB8AC3E}">
        <p14:creationId xmlns:p14="http://schemas.microsoft.com/office/powerpoint/2010/main" val="419607232"/>
      </p:ext>
    </p:extLst>
  </p:cSld>
  <p:clrMapOvr>
    <a:masterClrMapping/>
  </p:clrMapOvr>
  <p:transition>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2CBD0-EBE5-9F1B-C6DF-CD248D2693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2BEB0E-ED95-F712-6C83-E5ED54FC1553}"/>
              </a:ext>
            </a:extLst>
          </p:cNvPr>
          <p:cNvSpPr>
            <a:spLocks noGrp="1"/>
          </p:cNvSpPr>
          <p:nvPr>
            <p:ph type="title"/>
          </p:nvPr>
        </p:nvSpPr>
        <p:spPr/>
        <p:txBody>
          <a:bodyPr/>
          <a:lstStyle/>
          <a:p>
            <a:r>
              <a:rPr dirty="0"/>
              <a:t>Vanishing and Exploding Gradients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3BA4B3C7-7E1D-96A5-890C-2A189784FD35}"/>
                  </a:ext>
                </a:extLst>
              </p:cNvPr>
              <p:cNvSpPr>
                <a:spLocks noGrp="1"/>
              </p:cNvSpPr>
              <p:nvPr>
                <p:ph idx="1"/>
              </p:nvPr>
            </p:nvSpPr>
            <p:spPr>
              <a:xfrm>
                <a:off x="457200" y="1459524"/>
                <a:ext cx="8229600" cy="5527431"/>
              </a:xfrm>
            </p:spPr>
            <p:txBody>
              <a:bodyPr>
                <a:noAutofit/>
              </a:bodyPr>
              <a:lstStyle/>
              <a:p>
                <a:pPr marL="0" indent="0">
                  <a:buNone/>
                </a:pPr>
                <a:r>
                  <a:rPr lang="es-ES" sz="2000" b="1" dirty="0"/>
                  <a:t>El caso “perfecto”</a:t>
                </a:r>
              </a:p>
              <a:p>
                <a:pPr marL="0" indent="0">
                  <a:buNone/>
                </a:pPr>
                <a:endParaRPr lang="es-ES" sz="2000" b="1" dirty="0"/>
              </a:p>
              <a:p>
                <a:pPr marL="0" indent="0">
                  <a:buNone/>
                </a:pPr>
                <a:r>
                  <a:rPr lang="es-ES" sz="2000" dirty="0"/>
                  <a:t>Imaginemos que cada paso multiplica exactamente por:</a:t>
                </a:r>
              </a:p>
              <a:p>
                <a14:m>
                  <m:oMath xmlns:m="http://schemas.openxmlformats.org/officeDocument/2006/math">
                    <m:r>
                      <a:rPr lang="es-ES" sz="2000">
                        <a:latin typeface="Cambria Math" panose="02040503050406030204" pitchFamily="18" charset="0"/>
                      </a:rPr>
                      <m:t>1</m:t>
                    </m:r>
                    <m:r>
                      <a:rPr lang="es-ES" sz="2000">
                        <a:latin typeface="Cambria Math" panose="02040503050406030204" pitchFamily="18" charset="0"/>
                      </a:rPr>
                      <m:t>.</m:t>
                    </m:r>
                    <m:r>
                      <a:rPr lang="es-ES" sz="2000">
                        <a:latin typeface="Cambria Math" panose="02040503050406030204" pitchFamily="18" charset="0"/>
                      </a:rPr>
                      <m:t>0</m:t>
                    </m:r>
                  </m:oMath>
                </a14:m>
                <a:endParaRPr lang="es-ES" sz="2000" dirty="0"/>
              </a:p>
              <a:p>
                <a:pPr marL="0" indent="0">
                  <a:buNone/>
                </a:pPr>
                <a:endParaRPr lang="es-ES" sz="2000" dirty="0"/>
              </a:p>
              <a:p>
                <a:pPr marL="0" indent="0">
                  <a:buNone/>
                </a:pPr>
                <a:r>
                  <a:rPr lang="es-ES" sz="2000" dirty="0"/>
                  <a:t>Entonces:</a:t>
                </a:r>
              </a:p>
              <a:p>
                <a14:m>
                  <m:oMath xmlns:m="http://schemas.openxmlformats.org/officeDocument/2006/math">
                    <m:sSup>
                      <m:sSupPr>
                        <m:ctrlPr>
                          <a:rPr lang="ar-AE" sz="2000" i="1">
                            <a:latin typeface="Cambria Math" panose="02040503050406030204" pitchFamily="18" charset="0"/>
                          </a:rPr>
                        </m:ctrlPr>
                      </m:sSupPr>
                      <m:e>
                        <m:r>
                          <a:rPr lang="ar-AE" sz="2000">
                            <a:latin typeface="Cambria Math" panose="02040503050406030204" pitchFamily="18" charset="0"/>
                          </a:rPr>
                          <m:t>1</m:t>
                        </m:r>
                      </m:e>
                      <m:sup>
                        <m:r>
                          <a:rPr lang="ar-AE" sz="2000" i="1">
                            <a:latin typeface="Cambria Math" panose="02040503050406030204" pitchFamily="18" charset="0"/>
                          </a:rPr>
                          <m:t>𝑘</m:t>
                        </m:r>
                      </m:sup>
                    </m:sSup>
                    <m:r>
                      <a:rPr lang="ar-AE" sz="2000">
                        <a:latin typeface="Cambria Math" panose="02040503050406030204" pitchFamily="18" charset="0"/>
                      </a:rPr>
                      <m:t>=</m:t>
                    </m:r>
                    <m:r>
                      <a:rPr lang="ar-AE" sz="2000">
                        <a:latin typeface="Cambria Math" panose="02040503050406030204" pitchFamily="18" charset="0"/>
                      </a:rPr>
                      <m:t>1</m:t>
                    </m:r>
                  </m:oMath>
                </a14:m>
                <a:endParaRPr lang="ar-AE" sz="2000" dirty="0"/>
              </a:p>
              <a:p>
                <a:pPr marL="0" indent="0">
                  <a:buNone/>
                </a:pPr>
                <a:endParaRPr lang="es-ES" sz="2000" dirty="0"/>
              </a:p>
              <a:p>
                <a:pPr marL="0" indent="0">
                  <a:buNone/>
                </a:pPr>
                <a:r>
                  <a:rPr lang="es-ES" sz="2000" dirty="0"/>
                  <a:t>Después de:</a:t>
                </a:r>
              </a:p>
              <a:p>
                <a:r>
                  <a:rPr lang="es-ES" sz="2000" dirty="0"/>
                  <a:t>1 paso → 1</a:t>
                </a:r>
              </a:p>
              <a:p>
                <a:r>
                  <a:rPr lang="es-ES" sz="2000" dirty="0"/>
                  <a:t>10 pasos → 1</a:t>
                </a:r>
              </a:p>
              <a:p>
                <a:r>
                  <a:rPr lang="es-ES" sz="2000" dirty="0"/>
                  <a:t>50 pasos → 1</a:t>
                </a:r>
              </a:p>
              <a:p>
                <a:r>
                  <a:rPr lang="es-ES" sz="2000" dirty="0"/>
                  <a:t>100 pasos → 1</a:t>
                </a:r>
              </a:p>
              <a:p>
                <a:r>
                  <a:rPr lang="es-ES" sz="2000" dirty="0"/>
                  <a:t>El gradiente se mantiene estable. Eso sería el caso ideal.</a:t>
                </a:r>
              </a:p>
              <a:p>
                <a:pPr marL="0" indent="0">
                  <a:buNone/>
                </a:pPr>
                <a:endParaRPr lang="en-US" sz="2000" dirty="0"/>
              </a:p>
              <a:p>
                <a:pPr marL="0" indent="0">
                  <a:buNone/>
                </a:pPr>
                <a:endParaRPr lang="en-GB" sz="1800" noProof="0" dirty="0"/>
              </a:p>
            </p:txBody>
          </p:sp>
        </mc:Choice>
        <mc:Fallback>
          <p:sp>
            <p:nvSpPr>
              <p:cNvPr id="3" name="Content Placeholder 2">
                <a:extLst>
                  <a:ext uri="{FF2B5EF4-FFF2-40B4-BE49-F238E27FC236}">
                    <a16:creationId xmlns:a16="http://schemas.microsoft.com/office/drawing/2014/main" id="{3BA4B3C7-7E1D-96A5-890C-2A189784FD35}"/>
                  </a:ext>
                </a:extLst>
              </p:cNvPr>
              <p:cNvSpPr>
                <a:spLocks noGrp="1" noRot="1" noChangeAspect="1" noMove="1" noResize="1" noEditPoints="1" noAdjustHandles="1" noChangeArrowheads="1" noChangeShapeType="1" noTextEdit="1"/>
              </p:cNvSpPr>
              <p:nvPr>
                <p:ph idx="1"/>
              </p:nvPr>
            </p:nvSpPr>
            <p:spPr>
              <a:xfrm>
                <a:off x="457200" y="1459524"/>
                <a:ext cx="8229600" cy="5527431"/>
              </a:xfrm>
              <a:blipFill>
                <a:blip r:embed="rId3"/>
                <a:stretch>
                  <a:fillRect l="-815" t="-551"/>
                </a:stretch>
              </a:blipFill>
            </p:spPr>
            <p:txBody>
              <a:bodyPr/>
              <a:lstStyle/>
              <a:p>
                <a:r>
                  <a:rPr lang="es-ES">
                    <a:noFill/>
                  </a:rPr>
                  <a:t> </a:t>
                </a:r>
              </a:p>
            </p:txBody>
          </p:sp>
        </mc:Fallback>
      </mc:AlternateContent>
    </p:spTree>
    <p:extLst>
      <p:ext uri="{BB962C8B-B14F-4D97-AF65-F5344CB8AC3E}">
        <p14:creationId xmlns:p14="http://schemas.microsoft.com/office/powerpoint/2010/main" val="1587658996"/>
      </p:ext>
    </p:extLst>
  </p:cSld>
  <p:clrMapOvr>
    <a:masterClrMapping/>
  </p:clrMapOvr>
  <p:transition>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BA0363-AB7D-7E57-04F2-A433FD5FFF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0A1388-D0A5-453C-0F9A-74F10A8D8E77}"/>
              </a:ext>
            </a:extLst>
          </p:cNvPr>
          <p:cNvSpPr>
            <a:spLocks noGrp="1"/>
          </p:cNvSpPr>
          <p:nvPr>
            <p:ph type="title"/>
          </p:nvPr>
        </p:nvSpPr>
        <p:spPr/>
        <p:txBody>
          <a:bodyPr/>
          <a:lstStyle/>
          <a:p>
            <a:r>
              <a:rPr dirty="0"/>
              <a:t>Vanishing and Exploding Gradients</a:t>
            </a:r>
          </a:p>
        </p:txBody>
      </p:sp>
      <p:sp>
        <p:nvSpPr>
          <p:cNvPr id="3" name="Content Placeholder 2">
            <a:extLst>
              <a:ext uri="{FF2B5EF4-FFF2-40B4-BE49-F238E27FC236}">
                <a16:creationId xmlns:a16="http://schemas.microsoft.com/office/drawing/2014/main" id="{D12058ED-20CC-EAFC-62CA-39FC9BFDF97E}"/>
              </a:ext>
            </a:extLst>
          </p:cNvPr>
          <p:cNvSpPr>
            <a:spLocks noGrp="1"/>
          </p:cNvSpPr>
          <p:nvPr>
            <p:ph idx="1"/>
          </p:nvPr>
        </p:nvSpPr>
        <p:spPr>
          <a:xfrm>
            <a:off x="457200" y="1459524"/>
            <a:ext cx="8229600" cy="5527431"/>
          </a:xfrm>
        </p:spPr>
        <p:txBody>
          <a:bodyPr>
            <a:noAutofit/>
          </a:bodyPr>
          <a:lstStyle/>
          <a:p>
            <a:r>
              <a:rPr lang="en-US" sz="2000" dirty="0"/>
              <a:t>The ideal situation for long-term learning is when the recurrent transformation has magnitude exactly equal to one.</a:t>
            </a:r>
          </a:p>
          <a:p>
            <a:pPr marL="0" indent="0">
              <a:buNone/>
            </a:pPr>
            <a:r>
              <a:rPr lang="en-US" sz="2000" dirty="0"/>
              <a:t>Y luego:</a:t>
            </a:r>
          </a:p>
          <a:p>
            <a:r>
              <a:rPr lang="en-US" sz="2000" dirty="0"/>
              <a:t>In practice, maintaining that condition is extremely unstable.</a:t>
            </a:r>
            <a:endParaRPr lang="es-ES" sz="2000" dirty="0"/>
          </a:p>
          <a:p>
            <a:endParaRPr lang="es-ES" sz="2000" dirty="0"/>
          </a:p>
          <a:p>
            <a:pPr marL="0" indent="0">
              <a:buNone/>
            </a:pPr>
            <a:r>
              <a:rPr lang="es-ES" sz="2000" dirty="0"/>
              <a:t>En la práctica:</a:t>
            </a:r>
          </a:p>
          <a:p>
            <a:r>
              <a:rPr lang="es-ES" sz="1800" dirty="0"/>
              <a:t>Es extremadamente difícil mantener exactamente 1. Porque:</a:t>
            </a:r>
          </a:p>
          <a:p>
            <a:r>
              <a:rPr lang="es-ES" sz="1800" dirty="0"/>
              <a:t>Hay activación (</a:t>
            </a:r>
            <a:r>
              <a:rPr lang="es-ES" sz="1800" dirty="0" err="1"/>
              <a:t>tanh</a:t>
            </a:r>
            <a:r>
              <a:rPr lang="es-ES" sz="1800" dirty="0"/>
              <a:t>, </a:t>
            </a:r>
            <a:r>
              <a:rPr lang="es-ES" sz="1800" dirty="0" err="1"/>
              <a:t>ReLU</a:t>
            </a:r>
            <a:r>
              <a:rPr lang="es-ES" sz="1800" dirty="0"/>
              <a:t>, etc.)</a:t>
            </a:r>
          </a:p>
          <a:p>
            <a:r>
              <a:rPr lang="es-ES" sz="1800" dirty="0"/>
              <a:t>Hay ruido</a:t>
            </a:r>
          </a:p>
          <a:p>
            <a:r>
              <a:rPr lang="es-ES" sz="1800" dirty="0"/>
              <a:t>Hay actualización de pesos</a:t>
            </a:r>
          </a:p>
          <a:p>
            <a:r>
              <a:rPr lang="es-ES" sz="1800" dirty="0"/>
              <a:t>Hay múltiples dimensiones</a:t>
            </a:r>
          </a:p>
          <a:p>
            <a:r>
              <a:rPr lang="es-ES" sz="1800" dirty="0"/>
              <a:t>Basta que sea: 0.99 → se desvanece lentamente</a:t>
            </a:r>
          </a:p>
          <a:p>
            <a:r>
              <a:rPr lang="es-ES" sz="1800" dirty="0"/>
              <a:t>1.01 → explota lentamente</a:t>
            </a:r>
          </a:p>
          <a:p>
            <a:r>
              <a:rPr lang="es-ES" sz="1800" dirty="0"/>
              <a:t>Y tras muchos pasos, el efecto se vuelve grande.</a:t>
            </a:r>
          </a:p>
          <a:p>
            <a:pPr marL="0" indent="0">
              <a:buNone/>
            </a:pPr>
            <a:endParaRPr lang="en-GB" sz="1800" noProof="0" dirty="0"/>
          </a:p>
        </p:txBody>
      </p:sp>
    </p:spTree>
    <p:extLst>
      <p:ext uri="{BB962C8B-B14F-4D97-AF65-F5344CB8AC3E}">
        <p14:creationId xmlns:p14="http://schemas.microsoft.com/office/powerpoint/2010/main" val="1332411650"/>
      </p:ext>
    </p:extLst>
  </p:cSld>
  <p:clrMapOvr>
    <a:masterClrMapping/>
  </p:clrMapOvr>
  <p:transition>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Understanding LSTM and its diagrams | by Shi Yan | ML Review">
            <a:extLst>
              <a:ext uri="{FF2B5EF4-FFF2-40B4-BE49-F238E27FC236}">
                <a16:creationId xmlns:a16="http://schemas.microsoft.com/office/drawing/2014/main" id="{1C0069D3-D2DB-1AA3-A373-5AC7538005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9775" y="2121430"/>
            <a:ext cx="5284450" cy="469053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t>Long Short-Term Memory (LSTM)</a:t>
            </a:r>
          </a:p>
        </p:txBody>
      </p:sp>
      <p:sp>
        <p:nvSpPr>
          <p:cNvPr id="3" name="Content Placeholder 2"/>
          <p:cNvSpPr>
            <a:spLocks noGrp="1"/>
          </p:cNvSpPr>
          <p:nvPr>
            <p:ph idx="1"/>
          </p:nvPr>
        </p:nvSpPr>
        <p:spPr>
          <a:xfrm>
            <a:off x="576469" y="1143000"/>
            <a:ext cx="8229600" cy="4525963"/>
          </a:xfrm>
        </p:spPr>
        <p:txBody>
          <a:bodyPr/>
          <a:lstStyle/>
          <a:p>
            <a:r>
              <a:rPr sz="2000" dirty="0"/>
              <a:t>Designed to mitigate vanishing gradients</a:t>
            </a:r>
          </a:p>
          <a:p>
            <a:pPr lvl="1"/>
            <a:r>
              <a:rPr sz="1800" dirty="0"/>
              <a:t>Introduces an explicit memory cell </a:t>
            </a:r>
            <a:r>
              <a:rPr sz="1800" dirty="0" err="1"/>
              <a:t>c_t</a:t>
            </a:r>
            <a:endParaRPr sz="1800" dirty="0"/>
          </a:p>
          <a:p>
            <a:pPr lvl="1"/>
            <a:r>
              <a:rPr sz="1800" dirty="0"/>
              <a:t>Controls information flow using gates</a:t>
            </a:r>
          </a:p>
          <a:p>
            <a:pPr lvl="1"/>
            <a:r>
              <a:rPr sz="1800" dirty="0"/>
              <a:t>Allows stable gradient flow across time</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
                                            <p:txEl>
                                              <p:pRg st="0" end="0"/>
                                            </p:txEl>
                                          </p:spTgt>
                                        </p:tgtEl>
                                      </p:cBhvr>
                                    </p:animEffect>
                                    <p:set>
                                      <p:cBhvr>
                                        <p:cTn id="7" dur="1" fill="hold">
                                          <p:stCondLst>
                                            <p:cond delay="499"/>
                                          </p:stCondLst>
                                        </p:cTn>
                                        <p:tgtEl>
                                          <p:spTgt spid="3">
                                            <p:txEl>
                                              <p:pRg st="0" end="0"/>
                                            </p:txEl>
                                          </p:spTgt>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500"/>
                                        <p:tgtEl>
                                          <p:spTgt spid="3">
                                            <p:txEl>
                                              <p:pRg st="1" end="1"/>
                                            </p:txEl>
                                          </p:spTgt>
                                        </p:tgtEl>
                                      </p:cBhvr>
                                    </p:animEffect>
                                    <p:set>
                                      <p:cBhvr>
                                        <p:cTn id="10" dur="1" fill="hold">
                                          <p:stCondLst>
                                            <p:cond delay="499"/>
                                          </p:stCondLst>
                                        </p:cTn>
                                        <p:tgtEl>
                                          <p:spTgt spid="3">
                                            <p:txEl>
                                              <p:pRg st="1" end="1"/>
                                            </p:txEl>
                                          </p:spTgt>
                                        </p:tgtEl>
                                        <p:attrNameLst>
                                          <p:attrName>style.visibility</p:attrName>
                                        </p:attrNameLst>
                                      </p:cBhvr>
                                      <p:to>
                                        <p:strVal val="hidden"/>
                                      </p:to>
                                    </p:set>
                                  </p:childTnLst>
                                </p:cTn>
                              </p:par>
                              <p:par>
                                <p:cTn id="11" presetID="10" presetClass="exit" presetSubtype="0" fill="hold" grpId="0" nodeType="withEffect">
                                  <p:stCondLst>
                                    <p:cond delay="0"/>
                                  </p:stCondLst>
                                  <p:childTnLst>
                                    <p:animEffect transition="out" filter="fade">
                                      <p:cBhvr>
                                        <p:cTn id="12" dur="500"/>
                                        <p:tgtEl>
                                          <p:spTgt spid="3">
                                            <p:txEl>
                                              <p:pRg st="2" end="2"/>
                                            </p:txEl>
                                          </p:spTgt>
                                        </p:tgtEl>
                                      </p:cBhvr>
                                    </p:animEffect>
                                    <p:set>
                                      <p:cBhvr>
                                        <p:cTn id="13" dur="1" fill="hold">
                                          <p:stCondLst>
                                            <p:cond delay="499"/>
                                          </p:stCondLst>
                                        </p:cTn>
                                        <p:tgtEl>
                                          <p:spTgt spid="3">
                                            <p:txEl>
                                              <p:pRg st="2" end="2"/>
                                            </p:txEl>
                                          </p:spTgt>
                                        </p:tgtEl>
                                        <p:attrNameLst>
                                          <p:attrName>style.visibility</p:attrName>
                                        </p:attrNameLst>
                                      </p:cBhvr>
                                      <p:to>
                                        <p:strVal val="hidden"/>
                                      </p:to>
                                    </p:set>
                                  </p:childTnLst>
                                </p:cTn>
                              </p:par>
                              <p:par>
                                <p:cTn id="14" presetID="10" presetClass="exit" presetSubtype="0" fill="hold" grpId="0" nodeType="withEffect">
                                  <p:stCondLst>
                                    <p:cond delay="0"/>
                                  </p:stCondLst>
                                  <p:childTnLst>
                                    <p:animEffect transition="out" filter="fade">
                                      <p:cBhvr>
                                        <p:cTn id="15" dur="500"/>
                                        <p:tgtEl>
                                          <p:spTgt spid="3">
                                            <p:txEl>
                                              <p:pRg st="3" end="3"/>
                                            </p:txEl>
                                          </p:spTgt>
                                        </p:tgtEl>
                                      </p:cBhvr>
                                    </p:animEffect>
                                    <p:set>
                                      <p:cBhvr>
                                        <p:cTn id="16" dur="1" fill="hold">
                                          <p:stCondLst>
                                            <p:cond delay="499"/>
                                          </p:stCondLst>
                                        </p:cTn>
                                        <p:tgtEl>
                                          <p:spTgt spid="3">
                                            <p:txEl>
                                              <p:pRg st="3" end="3"/>
                                            </p:txEl>
                                          </p:spTgt>
                                        </p:tgtEl>
                                        <p:attrNameLst>
                                          <p:attrName>style.visibility</p:attrName>
                                        </p:attrNameLst>
                                      </p:cBhvr>
                                      <p:to>
                                        <p:strVal val="hidden"/>
                                      </p:to>
                                    </p:set>
                                  </p:childTnLst>
                                </p:cTn>
                              </p:par>
                              <p:par>
                                <p:cTn id="17" presetID="10" presetClass="entr" presetSubtype="0" fill="hold" nodeType="withEffect">
                                  <p:stCondLst>
                                    <p:cond delay="0"/>
                                  </p:stCondLst>
                                  <p:childTnLst>
                                    <p:set>
                                      <p:cBhvr>
                                        <p:cTn id="18" dur="1" fill="hold">
                                          <p:stCondLst>
                                            <p:cond delay="0"/>
                                          </p:stCondLst>
                                        </p:cTn>
                                        <p:tgtEl>
                                          <p:spTgt spid="2050"/>
                                        </p:tgtEl>
                                        <p:attrNameLst>
                                          <p:attrName>style.visibility</p:attrName>
                                        </p:attrNameLst>
                                      </p:cBhvr>
                                      <p:to>
                                        <p:strVal val="visible"/>
                                      </p:to>
                                    </p:set>
                                    <p:animEffect transition="in" filter="fade">
                                      <p:cBhvr>
                                        <p:cTn id="19" dur="5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PlantillaPD">
  <a:themeElements>
    <a:clrScheme name="PlantillaPD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PlantillaPD">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a:noFill/>
        </a:ln>
        <a:effectLst/>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90000"/>
          </a:lnSpc>
          <a:spcBef>
            <a:spcPts val="600"/>
          </a:spcBef>
          <a:spcAft>
            <a:spcPts val="600"/>
          </a:spcAft>
          <a:buClrTx/>
          <a:buSzTx/>
          <a:buFont typeface="Symbol" pitchFamily="18" charset="2"/>
          <a:buNone/>
          <a:tabLst/>
          <a:defRPr kumimoji="0" lang="es-ES_tradnl" sz="1800" b="1" i="0" u="none" strike="noStrike" cap="none" normalizeH="0" baseline="0" smtClean="0">
            <a:ln>
              <a:noFill/>
            </a:ln>
            <a:solidFill>
              <a:srgbClr val="66FFCC"/>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a:noFill/>
        </a:ln>
        <a:effectLst/>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90000"/>
          </a:lnSpc>
          <a:spcBef>
            <a:spcPts val="600"/>
          </a:spcBef>
          <a:spcAft>
            <a:spcPts val="600"/>
          </a:spcAft>
          <a:buClrTx/>
          <a:buSzTx/>
          <a:buFont typeface="Symbol" pitchFamily="18" charset="2"/>
          <a:buNone/>
          <a:tabLst/>
          <a:defRPr kumimoji="0" lang="es-ES_tradnl" sz="1800" b="1" i="0" u="none" strike="noStrike" cap="none" normalizeH="0" baseline="0" smtClean="0">
            <a:ln>
              <a:noFill/>
            </a:ln>
            <a:solidFill>
              <a:srgbClr val="66FFCC"/>
            </a:solidFill>
            <a:effectLst/>
            <a:latin typeface="Times New Roman" pitchFamily="18" charset="0"/>
          </a:defRPr>
        </a:defPPr>
      </a:lstStyle>
    </a:lnDef>
  </a:objectDefaults>
  <a:extraClrSchemeLst>
    <a:extraClrScheme>
      <a:clrScheme name="PlantillaPD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PlantillaPD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PlantillaPD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PlantillaPD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PlantillaPD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PlantillaPD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PlantillaPD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RNAP Presentación 25-26</Template>
  <TotalTime>4816</TotalTime>
  <Words>5125</Words>
  <Application>Microsoft Office PowerPoint</Application>
  <PresentationFormat>Presentación en pantalla (4:3)</PresentationFormat>
  <Paragraphs>838</Paragraphs>
  <Slides>37</Slides>
  <Notes>37</Notes>
  <HiddenSlides>0</HiddenSlides>
  <MMClips>0</MMClips>
  <ScaleCrop>false</ScaleCrop>
  <HeadingPairs>
    <vt:vector size="8" baseType="variant">
      <vt:variant>
        <vt:lpstr>Fuentes usadas</vt:lpstr>
      </vt:variant>
      <vt:variant>
        <vt:i4>10</vt:i4>
      </vt:variant>
      <vt:variant>
        <vt:lpstr>Tema</vt:lpstr>
      </vt:variant>
      <vt:variant>
        <vt:i4>1</vt:i4>
      </vt:variant>
      <vt:variant>
        <vt:lpstr>Servidores OLE incrustados</vt:lpstr>
      </vt:variant>
      <vt:variant>
        <vt:i4>1</vt:i4>
      </vt:variant>
      <vt:variant>
        <vt:lpstr>Títulos de diapositiva</vt:lpstr>
      </vt:variant>
      <vt:variant>
        <vt:i4>37</vt:i4>
      </vt:variant>
    </vt:vector>
  </HeadingPairs>
  <TitlesOfParts>
    <vt:vector size="49" baseType="lpstr">
      <vt:lpstr>Aptos</vt:lpstr>
      <vt:lpstr>Arial</vt:lpstr>
      <vt:lpstr>Cambria</vt:lpstr>
      <vt:lpstr>Cambria Math</vt:lpstr>
      <vt:lpstr>Nunito Semi Bold</vt:lpstr>
      <vt:lpstr>PT Sans</vt:lpstr>
      <vt:lpstr>Symbol</vt:lpstr>
      <vt:lpstr>Times New Roman</vt:lpstr>
      <vt:lpstr>Verdana</vt:lpstr>
      <vt:lpstr>Wingdings</vt:lpstr>
      <vt:lpstr>PlantillaPD</vt:lpstr>
      <vt:lpstr>Foto de Photo Editor</vt:lpstr>
      <vt:lpstr>Redes Neuronales y Aprendizaje Profundo</vt:lpstr>
      <vt:lpstr>Redes Neuronales y Aprendizaje Profundo</vt:lpstr>
      <vt:lpstr>Objectives</vt:lpstr>
      <vt:lpstr>Sequence Modeling</vt:lpstr>
      <vt:lpstr>Sequence Modeling</vt:lpstr>
      <vt:lpstr>Sequence Modeling</vt:lpstr>
      <vt:lpstr>Sequence Modeling</vt:lpstr>
      <vt:lpstr>Sequence Modeling</vt:lpstr>
      <vt:lpstr>Sequence Modeling</vt:lpstr>
      <vt:lpstr>The Chain Rule and why it leads to RNNs</vt:lpstr>
      <vt:lpstr>Introduction to the hidden state The Idea Behind RNN</vt:lpstr>
      <vt:lpstr>Introduction to the hidden state The Idea Behind RNN</vt:lpstr>
      <vt:lpstr>Introduction to the hidden state The Idea Behind RNN</vt:lpstr>
      <vt:lpstr>Introduction to the hidden state The Idea Behind RNN</vt:lpstr>
      <vt:lpstr>Introduction to the hidden state The Idea Behind RNN</vt:lpstr>
      <vt:lpstr>RNN ejemplo</vt:lpstr>
      <vt:lpstr>RNN ejemplo</vt:lpstr>
      <vt:lpstr>RNN ejemplo</vt:lpstr>
      <vt:lpstr>RNN ejemplo</vt:lpstr>
      <vt:lpstr>RNN ejemplo</vt:lpstr>
      <vt:lpstr>Other architectures</vt:lpstr>
      <vt:lpstr>Backpropagation Through Time</vt:lpstr>
      <vt:lpstr>Backpropagation Through Time</vt:lpstr>
      <vt:lpstr>Backpropagation Through Time</vt:lpstr>
      <vt:lpstr>Backpropagation Through Time</vt:lpstr>
      <vt:lpstr>Backpropagation Through Time</vt:lpstr>
      <vt:lpstr>Backpropagation Through Time</vt:lpstr>
      <vt:lpstr>Backpropagation Through Time</vt:lpstr>
      <vt:lpstr>Vanishing and Exploding Gradients</vt:lpstr>
      <vt:lpstr>Vanishing and Exploding Gradients</vt:lpstr>
      <vt:lpstr>Vanishing and Exploding Gradients</vt:lpstr>
      <vt:lpstr>Vanishing and Exploding Gradients</vt:lpstr>
      <vt:lpstr>Vanishing and Exploding Gradients</vt:lpstr>
      <vt:lpstr>Vanishing and Exploding Gradients</vt:lpstr>
      <vt:lpstr>Vanishing and Exploding Gradients</vt:lpstr>
      <vt:lpstr>Vanishing and Exploding Gradients</vt:lpstr>
      <vt:lpstr>Long Short-Term Memory (LSTM)</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Emma</cp:lastModifiedBy>
  <cp:revision>55</cp:revision>
  <dcterms:created xsi:type="dcterms:W3CDTF">2013-01-27T09:14:16Z</dcterms:created>
  <dcterms:modified xsi:type="dcterms:W3CDTF">2026-03-04T23:49:26Z</dcterms:modified>
  <cp:category/>
</cp:coreProperties>
</file>